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7" r:id="rId4"/>
    <p:sldId id="258" r:id="rId5"/>
    <p:sldId id="260" r:id="rId6"/>
  </p:sldIdLst>
  <p:sldSz cx="16256000" cy="9144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78" autoAdjust="0"/>
  </p:normalViewPr>
  <p:slideViewPr>
    <p:cSldViewPr snapToGrid="0">
      <p:cViewPr varScale="1">
        <p:scale>
          <a:sx n="77" d="100"/>
          <a:sy n="77" d="100"/>
        </p:scale>
        <p:origin x="298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f Almaliki" userId="459dc03a-00de-4c31-8c3c-3cd29d7e61e7" providerId="ADAL" clId="{3C03BB20-4A43-4F40-897B-1CA998867A35}"/>
    <pc:docChg chg="undo custSel modSld sldOrd">
      <pc:chgData name="Saif Almaliki" userId="459dc03a-00de-4c31-8c3c-3cd29d7e61e7" providerId="ADAL" clId="{3C03BB20-4A43-4F40-897B-1CA998867A35}" dt="2026-10-18T11:06:14.873" v="100" actId="20577"/>
      <pc:docMkLst>
        <pc:docMk/>
      </pc:docMkLst>
      <pc:sldChg chg="delSp modSp mod">
        <pc:chgData name="Saif Almaliki" userId="459dc03a-00de-4c31-8c3c-3cd29d7e61e7" providerId="ADAL" clId="{3C03BB20-4A43-4F40-897B-1CA998867A35}" dt="2026-10-18T11:06:14.873" v="100" actId="20577"/>
        <pc:sldMkLst>
          <pc:docMk/>
          <pc:sldMk cId="3457314743" sldId="256"/>
        </pc:sldMkLst>
        <pc:spChg chg="del mod">
          <ac:chgData name="Saif Almaliki" userId="459dc03a-00de-4c31-8c3c-3cd29d7e61e7" providerId="ADAL" clId="{3C03BB20-4A43-4F40-897B-1CA998867A35}" dt="2026-10-18T11:05:51.894" v="84" actId="478"/>
          <ac:spMkLst>
            <pc:docMk/>
            <pc:sldMk cId="3457314743" sldId="256"/>
            <ac:spMk id="31" creationId="{0C3A3108-8E04-0484-4E44-6B948AC5CFE1}"/>
          </ac:spMkLst>
        </pc:spChg>
        <pc:spChg chg="mod">
          <ac:chgData name="Saif Almaliki" userId="459dc03a-00de-4c31-8c3c-3cd29d7e61e7" providerId="ADAL" clId="{3C03BB20-4A43-4F40-897B-1CA998867A35}" dt="2026-10-18T11:06:14.873" v="100" actId="20577"/>
          <ac:spMkLst>
            <pc:docMk/>
            <pc:sldMk cId="3457314743" sldId="256"/>
            <ac:spMk id="34" creationId="{4C1BE316-7843-C7B1-3960-C536A05C8326}"/>
          </ac:spMkLst>
        </pc:spChg>
      </pc:sldChg>
      <pc:sldChg chg="modSp mod">
        <pc:chgData name="Saif Almaliki" userId="459dc03a-00de-4c31-8c3c-3cd29d7e61e7" providerId="ADAL" clId="{3C03BB20-4A43-4F40-897B-1CA998867A35}" dt="2026-10-17T10:24:53.384" v="0" actId="20577"/>
        <pc:sldMkLst>
          <pc:docMk/>
          <pc:sldMk cId="1092293146" sldId="257"/>
        </pc:sldMkLst>
        <pc:spChg chg="mod">
          <ac:chgData name="Saif Almaliki" userId="459dc03a-00de-4c31-8c3c-3cd29d7e61e7" providerId="ADAL" clId="{3C03BB20-4A43-4F40-897B-1CA998867A35}" dt="2026-10-17T10:24:53.384" v="0" actId="20577"/>
          <ac:spMkLst>
            <pc:docMk/>
            <pc:sldMk cId="1092293146" sldId="257"/>
            <ac:spMk id="61" creationId="{E3A55D9B-B004-DB3E-816A-D4CA9F07F303}"/>
          </ac:spMkLst>
        </pc:spChg>
      </pc:sldChg>
      <pc:sldChg chg="modSp mod modNotesTx">
        <pc:chgData name="Saif Almaliki" userId="459dc03a-00de-4c31-8c3c-3cd29d7e61e7" providerId="ADAL" clId="{3C03BB20-4A43-4F40-897B-1CA998867A35}" dt="2026-10-17T17:00:44.099" v="28" actId="20577"/>
        <pc:sldMkLst>
          <pc:docMk/>
          <pc:sldMk cId="1932054848" sldId="258"/>
        </pc:sldMkLst>
        <pc:spChg chg="mod">
          <ac:chgData name="Saif Almaliki" userId="459dc03a-00de-4c31-8c3c-3cd29d7e61e7" providerId="ADAL" clId="{3C03BB20-4A43-4F40-897B-1CA998867A35}" dt="2026-10-17T17:00:44.099" v="28" actId="20577"/>
          <ac:spMkLst>
            <pc:docMk/>
            <pc:sldMk cId="1932054848" sldId="258"/>
            <ac:spMk id="10" creationId="{D84CD903-79E4-8B3D-44B2-F65859D5C61E}"/>
          </ac:spMkLst>
        </pc:spChg>
      </pc:sldChg>
      <pc:sldChg chg="addSp delSp modSp mod ord modNotesTx">
        <pc:chgData name="Saif Almaliki" userId="459dc03a-00de-4c31-8c3c-3cd29d7e61e7" providerId="ADAL" clId="{3C03BB20-4A43-4F40-897B-1CA998867A35}" dt="2026-10-18T11:03:37.688" v="82"/>
        <pc:sldMkLst>
          <pc:docMk/>
          <pc:sldMk cId="2073658182" sldId="259"/>
        </pc:sldMkLst>
        <pc:picChg chg="add mod modCrop">
          <ac:chgData name="Saif Almaliki" userId="459dc03a-00de-4c31-8c3c-3cd29d7e61e7" providerId="ADAL" clId="{3C03BB20-4A43-4F40-897B-1CA998867A35}" dt="2026-10-18T11:03:22.036" v="80" actId="1036"/>
          <ac:picMkLst>
            <pc:docMk/>
            <pc:sldMk cId="2073658182" sldId="259"/>
            <ac:picMk id="54" creationId="{506A04E5-CBFC-28D3-F339-E8D002AB094E}"/>
          </ac:picMkLst>
        </pc:picChg>
        <pc:picChg chg="add mod">
          <ac:chgData name="Saif Almaliki" userId="459dc03a-00de-4c31-8c3c-3cd29d7e61e7" providerId="ADAL" clId="{3C03BB20-4A43-4F40-897B-1CA998867A35}" dt="2026-10-18T11:01:54.905" v="58" actId="14100"/>
          <ac:picMkLst>
            <pc:docMk/>
            <pc:sldMk cId="2073658182" sldId="259"/>
            <ac:picMk id="55" creationId="{87CE34D3-7F22-32CF-119E-512F1420436B}"/>
          </ac:picMkLst>
        </pc:picChg>
        <pc:picChg chg="add mod">
          <ac:chgData name="Saif Almaliki" userId="459dc03a-00de-4c31-8c3c-3cd29d7e61e7" providerId="ADAL" clId="{3C03BB20-4A43-4F40-897B-1CA998867A35}" dt="2026-10-18T11:01:47.266" v="51" actId="1076"/>
          <ac:picMkLst>
            <pc:docMk/>
            <pc:sldMk cId="2073658182" sldId="259"/>
            <ac:picMk id="57" creationId="{9392DE02-B43F-0B92-1D71-AEE399116964}"/>
          </ac:picMkLst>
        </pc:picChg>
        <pc:picChg chg="add del mod">
          <ac:chgData name="Saif Almaliki" userId="459dc03a-00de-4c31-8c3c-3cd29d7e61e7" providerId="ADAL" clId="{3C03BB20-4A43-4F40-897B-1CA998867A35}" dt="2026-10-18T11:02:25.397" v="63" actId="478"/>
          <ac:picMkLst>
            <pc:docMk/>
            <pc:sldMk cId="2073658182" sldId="259"/>
            <ac:picMk id="58" creationId="{B552FC33-34C3-695F-6C8B-2147014433BB}"/>
          </ac:picMkLst>
        </pc:picChg>
        <pc:picChg chg="add del">
          <ac:chgData name="Saif Almaliki" userId="459dc03a-00de-4c31-8c3c-3cd29d7e61e7" providerId="ADAL" clId="{3C03BB20-4A43-4F40-897B-1CA998867A35}" dt="2026-10-18T11:02:29.268" v="65" actId="478"/>
          <ac:picMkLst>
            <pc:docMk/>
            <pc:sldMk cId="2073658182" sldId="259"/>
            <ac:picMk id="60" creationId="{4DFCDB02-04B9-1902-DB56-86C711AC69EA}"/>
          </ac:picMkLst>
        </pc:picChg>
        <pc:picChg chg="add mod modCrop">
          <ac:chgData name="Saif Almaliki" userId="459dc03a-00de-4c31-8c3c-3cd29d7e61e7" providerId="ADAL" clId="{3C03BB20-4A43-4F40-897B-1CA998867A35}" dt="2026-10-18T11:02:52.343" v="71" actId="1076"/>
          <ac:picMkLst>
            <pc:docMk/>
            <pc:sldMk cId="2073658182" sldId="259"/>
            <ac:picMk id="61" creationId="{3127E37A-1C88-048F-D332-72E8BAD72206}"/>
          </ac:picMkLst>
        </pc:picChg>
        <pc:picChg chg="add mod">
          <ac:chgData name="Saif Almaliki" userId="459dc03a-00de-4c31-8c3c-3cd29d7e61e7" providerId="ADAL" clId="{3C03BB20-4A43-4F40-897B-1CA998867A35}" dt="2026-10-18T11:03:17.118" v="77" actId="1076"/>
          <ac:picMkLst>
            <pc:docMk/>
            <pc:sldMk cId="2073658182" sldId="259"/>
            <ac:picMk id="62" creationId="{8B73909A-F995-29A3-0921-81A34420CA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9C4F4-E49F-4E4D-B6EB-5EE019541C46}" type="datetimeFigureOut">
              <a:rPr lang="en-DE" smtClean="0"/>
              <a:t>18/10/2026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3FA7A-AF96-4820-925D-1C569E0B67E1}" type="slidenum">
              <a:rPr lang="en-DE" smtClean="0"/>
              <a:t>‹#›</a:t>
            </a:fld>
            <a:endParaRPr lang="en-DE"/>
          </a:p>
        </p:txBody>
      </p:sp>
    </p:spTree>
    <p:extLst>
      <p:ext uri="{BB962C8B-B14F-4D97-AF65-F5344CB8AC3E}">
        <p14:creationId xmlns:p14="http://schemas.microsoft.com/office/powerpoint/2010/main" val="203391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 brief for Agentic AI Challenge Iraq, Topic 06. Design brief due 22 October 2026; MVP due 8 November 2026. Five slides maximum. The design brief is not scored.
Primary user: wallet-support employee or team lead. Motivation is Saif Almaliki's IT/software-support and wallet-customer experience. No completed wallet-support interviews or measured savings are claimed.
This deck follows the October repository's Jev/Gemini cascade, superseding the September three-model (Gemini/Opus/Sonnet) proposal. The public README reports successful five-fixture live smoke runs on 7 October. These are connectivity and basic processing checks, not independent verification or held-out accuracy evidence.
Code inspection confirms the support workspace and APIs exist. Factory uses NullDrafter; /api/health declares drafting, rag_indexing and evaluation false. Document uploads are awaiting_indexing. Planned capabilities are labeled throughout.
Sources: repository README, backend/app/main.py, backend/app/pipeline/factory.py, backend/app/api/workspace.py, backend/app/api/knowledge.py. https://github.com/SaifAlmaliki/zaincash-customer-support-agent</a:t>
            </a:r>
            <a:endParaRPr lang="en-DE"/>
          </a:p>
        </p:txBody>
      </p:sp>
      <p:sp>
        <p:nvSpPr>
          <p:cNvPr id="4" name="Slide Number Placeholder 3"/>
          <p:cNvSpPr>
            <a:spLocks noGrp="1"/>
          </p:cNvSpPr>
          <p:nvPr>
            <p:ph type="sldNum" sz="quarter" idx="5"/>
          </p:nvPr>
        </p:nvSpPr>
        <p:spPr/>
        <p:txBody>
          <a:bodyPr/>
          <a:lstStyle/>
          <a:p>
            <a:fld id="{EE93FA7A-AF96-4820-925D-1C569E0B67E1}" type="slidenum">
              <a:rPr lang="en-DE" smtClean="0"/>
              <a:t>1</a:t>
            </a:fld>
            <a:endParaRPr lang="en-DE"/>
          </a:p>
        </p:txBody>
      </p:sp>
    </p:spTree>
    <p:extLst>
      <p:ext uri="{BB962C8B-B14F-4D97-AF65-F5344CB8AC3E}">
        <p14:creationId xmlns:p14="http://schemas.microsoft.com/office/powerpoint/2010/main" val="1471174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technical architecture replaces the evaluation slide at the user's request. It adapts the supplied HTML/SVG reference to editable PowerPoint shapes and connectors, using repository implementation rather than presenting every reference annotation literally. Source snapshot: d687fc2580d06157404c52c1b8ab807b9fe6aebd.
The dashed local-runtime boundary contains the React review workspace, the Python API and CLI, a shared in-process </a:t>
            </a:r>
            <a:r>
              <a:rPr lang="en-US" dirty="0" err="1"/>
              <a:t>LangGraph</a:t>
            </a:r>
            <a:r>
              <a:rPr lang="en-US" dirty="0"/>
              <a:t> workflow, Postgres in Docker, and the review surface. External </a:t>
            </a:r>
            <a:r>
              <a:rPr lang="en-US" dirty="0" err="1"/>
              <a:t>TypeSafe</a:t>
            </a:r>
            <a:r>
              <a:rPr lang="en-US" dirty="0"/>
              <a:t>/</a:t>
            </a:r>
            <a:r>
              <a:rPr lang="en-US" dirty="0" err="1"/>
              <a:t>OpenRouter</a:t>
            </a:r>
            <a:r>
              <a:rPr lang="en-US" dirty="0"/>
              <a:t> model services are outside that boundary. The planned RAG card is a roadmap capability, not another deployed service. Model traffic originates from backend client adapters. The default cascade path is shown; stage nodes are Python functions, not individually deployed services or ports.
The React 19 / TypeScript / Vite frontend accepts pasted tickets or CSV/JSON uploads and displays runs, results, evidence, knowledge uploads and review actions. Vite serves port 5173 and proxies /</a:t>
            </a:r>
            <a:r>
              <a:rPr lang="en-US" dirty="0" err="1"/>
              <a:t>api</a:t>
            </a:r>
            <a:r>
              <a:rPr lang="en-US" dirty="0"/>
              <a:t> to </a:t>
            </a:r>
            <a:r>
              <a:rPr lang="en-US" dirty="0" err="1"/>
              <a:t>FastAPI</a:t>
            </a:r>
            <a:r>
              <a:rPr lang="en-US" dirty="0"/>
              <a:t>/</a:t>
            </a:r>
            <a:r>
              <a:rPr lang="en-US" dirty="0" err="1"/>
              <a:t>Uvicorn</a:t>
            </a:r>
            <a:r>
              <a:rPr lang="en-US" dirty="0"/>
              <a:t> on 8000. </a:t>
            </a:r>
            <a:r>
              <a:rPr lang="en-US" dirty="0" err="1"/>
              <a:t>FastAPI</a:t>
            </a:r>
            <a:r>
              <a:rPr lang="en-US" dirty="0"/>
              <a:t> provides /</a:t>
            </a:r>
            <a:r>
              <a:rPr lang="en-US" dirty="0" err="1"/>
              <a:t>api</a:t>
            </a:r>
            <a:r>
              <a:rPr lang="en-US" dirty="0"/>
              <a:t>/runs, /</a:t>
            </a:r>
            <a:r>
              <a:rPr lang="en-US" dirty="0" err="1"/>
              <a:t>api</a:t>
            </a:r>
            <a:r>
              <a:rPr lang="en-US" dirty="0"/>
              <a:t>/results and review endpoints, plus workspace/insights, knowledge and health. The CLI uses Typer and </a:t>
            </a:r>
            <a:r>
              <a:rPr lang="en-US" dirty="0" err="1"/>
              <a:t>uv</a:t>
            </a:r>
            <a:r>
              <a:rPr lang="en-US" dirty="0"/>
              <a:t> and accepts JSONL, JSON and CSV. It calls the same graph factory directly and does not need to traverse the browser or REST API. Runtime modes are </a:t>
            </a:r>
            <a:r>
              <a:rPr lang="en-US" dirty="0" err="1"/>
              <a:t>jev</a:t>
            </a:r>
            <a:r>
              <a:rPr lang="en-US" dirty="0"/>
              <a:t>, </a:t>
            </a:r>
            <a:r>
              <a:rPr lang="en-US" dirty="0" err="1"/>
              <a:t>gemini</a:t>
            </a:r>
            <a:r>
              <a:rPr lang="en-US" dirty="0"/>
              <a:t> and cascade; </a:t>
            </a:r>
            <a:r>
              <a:rPr lang="en-US" dirty="0" err="1"/>
              <a:t>pydantic</a:t>
            </a:r>
            <a:r>
              <a:rPr lang="en-US" dirty="0"/>
              <a:t>-settings reads environment configuration.
Pipeline implementation: prepare normalizes text, masks card numbers and finds candidates. In default cascade mode, </a:t>
            </a:r>
            <a:r>
              <a:rPr lang="en-US" dirty="0" err="1"/>
              <a:t>jev_classify</a:t>
            </a:r>
            <a:r>
              <a:rPr lang="en-US" dirty="0"/>
              <a:t> calls </a:t>
            </a:r>
            <a:r>
              <a:rPr lang="en-US" dirty="0" err="1"/>
              <a:t>TypeSafe</a:t>
            </a:r>
            <a:r>
              <a:rPr lang="en-US" dirty="0"/>
              <a:t> </a:t>
            </a:r>
            <a:r>
              <a:rPr lang="en-US" dirty="0" err="1"/>
              <a:t>Jev</a:t>
            </a:r>
            <a:r>
              <a:rPr lang="en-US" dirty="0"/>
              <a:t> 1.13.0 for category, priority, flags and candidate selections, with an additional reversed-option category check. A confident </a:t>
            </a:r>
            <a:r>
              <a:rPr lang="en-US" dirty="0" err="1"/>
              <a:t>Jev</a:t>
            </a:r>
            <a:r>
              <a:rPr lang="en-US" dirty="0"/>
              <a:t> result proceeds to extract. Uncertainty or a </a:t>
            </a:r>
            <a:r>
              <a:rPr lang="en-US" dirty="0" err="1"/>
              <a:t>Jev</a:t>
            </a:r>
            <a:r>
              <a:rPr lang="en-US" dirty="0"/>
              <a:t> provider failure invokes </a:t>
            </a:r>
            <a:r>
              <a:rPr lang="en-US" dirty="0" err="1"/>
              <a:t>gemini_classify</a:t>
            </a:r>
            <a:r>
              <a:rPr lang="en-US" dirty="0"/>
              <a:t>; Gemini uses three structured samples, with the configured 0.66 threshold allowing two agreeing samples. In </a:t>
            </a:r>
            <a:r>
              <a:rPr lang="en-US" dirty="0" err="1"/>
              <a:t>gemini</a:t>
            </a:r>
            <a:r>
              <a:rPr lang="en-US" dirty="0"/>
              <a:t>-only mode, prepare goes directly to </a:t>
            </a:r>
            <a:r>
              <a:rPr lang="en-US" dirty="0" err="1"/>
              <a:t>gemini_classify</a:t>
            </a:r>
            <a:r>
              <a:rPr lang="en-US" dirty="0"/>
              <a:t>. Qualifying </a:t>
            </a:r>
            <a:r>
              <a:rPr lang="en-US" dirty="0" err="1"/>
              <a:t>Jev</a:t>
            </a:r>
            <a:r>
              <a:rPr lang="en-US" dirty="0"/>
              <a:t>/Gemini disagreement and remaining uncertainty remain escalation reasons; the fallback-to-extract arrow is not a guarantee of agreement or resolution.
Extract validates field selections against source spans and normalizes values. Optional Gemini extraction fills weak required-field gaps when a Gemini client is configured, including in </a:t>
            </a:r>
            <a:r>
              <a:rPr lang="en-US" dirty="0" err="1"/>
              <a:t>jev</a:t>
            </a:r>
            <a:r>
              <a:rPr lang="en-US" dirty="0"/>
              <a:t> mode. Therefore </a:t>
            </a:r>
            <a:r>
              <a:rPr lang="en-US" dirty="0" err="1"/>
              <a:t>OpenRouter</a:t>
            </a:r>
            <a:r>
              <a:rPr lang="en-US" dirty="0"/>
              <a:t> is not limited to uncertain </a:t>
            </a:r>
            <a:r>
              <a:rPr lang="en-US" dirty="0" err="1"/>
              <a:t>Jev</a:t>
            </a:r>
            <a:r>
              <a:rPr lang="en-US" dirty="0"/>
              <a:t> classifications. The external </a:t>
            </a:r>
            <a:r>
              <a:rPr lang="en-US" dirty="0" err="1"/>
              <a:t>OpenRouter</a:t>
            </a:r>
            <a:r>
              <a:rPr lang="en-US" dirty="0"/>
              <a:t> client is configured for google/gemini-3.8-flash; this is a configured model ID, not a new model-availability claim or invocation in this session. </a:t>
            </a:r>
            <a:r>
              <a:rPr lang="en-US" dirty="0" err="1"/>
              <a:t>Jev</a:t>
            </a:r>
            <a:r>
              <a:rPr lang="en-US" dirty="0"/>
              <a:t> chooses category labels from the taxonomy; it does not copy those labels from the ticket. Extracted field selections, rather than category labels, are anchored to ticket text.
Lookup performs exact-reference matching or phone/amount/date searches for categories requiring a transaction. </a:t>
            </a:r>
            <a:r>
              <a:rPr lang="en-US" dirty="0" err="1"/>
              <a:t>SQLAlchemy</a:t>
            </a:r>
            <a:r>
              <a:rPr lang="en-US" dirty="0"/>
              <a:t> and </a:t>
            </a:r>
            <a:r>
              <a:rPr lang="en-US" dirty="0" err="1"/>
              <a:t>psycopg</a:t>
            </a:r>
            <a:r>
              <a:rPr lang="en-US" dirty="0"/>
              <a:t> access Postgres. Decide applies taxonomy team mappings, category minimum priorities, fraud/money-loss overrides and escalation reasons. Draft currently calls </a:t>
            </a:r>
            <a:r>
              <a:rPr lang="en-US" dirty="0" err="1"/>
              <a:t>NullDrafter</a:t>
            </a:r>
            <a:r>
              <a:rPr lang="en-US" dirty="0"/>
              <a:t> and generates no reply. API/CLI orchestration then persists results; the save-result connection summarizes persistence after graph completion, not an internal SQL write by the draft node. </a:t>
            </a:r>
            <a:r>
              <a:rPr lang="en-US" dirty="0" err="1"/>
              <a:t>SQLAlchemy</a:t>
            </a:r>
            <a:r>
              <a:rPr lang="en-US" dirty="0"/>
              <a:t>/</a:t>
            </a:r>
            <a:r>
              <a:rPr lang="en-US" dirty="0" err="1"/>
              <a:t>psycopg</a:t>
            </a:r>
            <a:r>
              <a:rPr lang="en-US" dirty="0"/>
              <a:t> are also used by the API for tickets, runs, review actions and document records. The database is named support; the diagram does not assert that the schema is named support. Docker maps host port 5433 to container port 5432 and persists a </a:t>
            </a:r>
            <a:r>
              <a:rPr lang="en-US" dirty="0" err="1"/>
              <a:t>pgdata</a:t>
            </a:r>
            <a:r>
              <a:rPr lang="en-US" dirty="0"/>
              <a:t> volume. </a:t>
            </a:r>
            <a:r>
              <a:rPr lang="en-US" dirty="0" err="1"/>
              <a:t>pgvector</a:t>
            </a:r>
            <a:r>
              <a:rPr lang="en-US" dirty="0"/>
              <a:t> is installed, while policy indexing/retrieval and cited RAG drafting remain planned.
Saved successful outcomes are </a:t>
            </a:r>
            <a:r>
              <a:rPr lang="en-US" dirty="0" err="1"/>
              <a:t>pending_review</a:t>
            </a:r>
            <a:r>
              <a:rPr lang="en-US" dirty="0"/>
              <a:t> or escalated. Staff inspect evidence, author or edit a reply, approve/reject it or reassign the team. The API records review actions and rejects stale-version updates. Approved final text can be copied manually; there is no send API. Failed tickets remain visible as failures and can be rerun, rather than being represented as successful review packets. Empty tickets have a separate early escalation path omitted from this compact diagram.
Concurrency defaults to 20. </a:t>
            </a:r>
            <a:r>
              <a:rPr lang="en-US" dirty="0" err="1"/>
              <a:t>RetryPolicy</a:t>
            </a:r>
            <a:r>
              <a:rPr lang="en-US" dirty="0"/>
              <a:t> allows up to three attempts on retry-enabled nodes for </a:t>
            </a:r>
            <a:r>
              <a:rPr lang="en-US" dirty="0" err="1"/>
              <a:t>retryable</a:t>
            </a:r>
            <a:r>
              <a:rPr lang="en-US" dirty="0"/>
              <a:t> exceptions; this is not a blanket retry of every stage. Per-ticket exceptions are isolated by </a:t>
            </a:r>
            <a:r>
              <a:rPr lang="en-US" dirty="0" err="1"/>
              <a:t>graph.abatch</a:t>
            </a:r>
            <a:r>
              <a:rPr lang="en-US" dirty="0"/>
              <a:t>(</a:t>
            </a:r>
            <a:r>
              <a:rPr lang="en-US" dirty="0" err="1"/>
              <a:t>return_exceptions</a:t>
            </a:r>
            <a:r>
              <a:rPr lang="en-US" dirty="0"/>
              <a:t>=True). A restart marks interrupted API runs failed and asks for a rerun; checkpoint resume is not configured. API keys are backend environment configuration.
Sources: README.md; customer-support-</a:t>
            </a:r>
            <a:r>
              <a:rPr lang="en-US" dirty="0" err="1"/>
              <a:t>ui</a:t>
            </a:r>
            <a:r>
              <a:rPr lang="en-US" dirty="0"/>
              <a:t>/</a:t>
            </a:r>
            <a:r>
              <a:rPr lang="en-US" dirty="0" err="1"/>
              <a:t>package.json</a:t>
            </a:r>
            <a:r>
              <a:rPr lang="en-US" dirty="0"/>
              <a:t> and </a:t>
            </a:r>
            <a:r>
              <a:rPr lang="en-US" dirty="0" err="1"/>
              <a:t>vite.config.ts</a:t>
            </a:r>
            <a:r>
              <a:rPr lang="en-US" dirty="0"/>
              <a:t>; backend/app/main.py, config.py, cli.py; backend/app/pipeline/factory.py, graph.py, stage2_classify/{</a:t>
            </a:r>
            <a:r>
              <a:rPr lang="en-US" dirty="0" err="1"/>
              <a:t>jev,gemini,cascade</a:t>
            </a:r>
            <a:r>
              <a:rPr lang="en-US" dirty="0"/>
              <a:t>}.</a:t>
            </a:r>
            <a:r>
              <a:rPr lang="en-US" dirty="0" err="1"/>
              <a:t>py</a:t>
            </a:r>
            <a:r>
              <a:rPr lang="en-US" dirty="0"/>
              <a:t>, stage3_extract/extract.py, stage4_lookup/lookup.py, stage5_decide/rules.py, stage6_draft/drafting.py; backend/app/services/{</a:t>
            </a:r>
            <a:r>
              <a:rPr lang="en-US" dirty="0" err="1"/>
              <a:t>batch_jobs,reviews</a:t>
            </a:r>
            <a:r>
              <a:rPr lang="en-US" dirty="0"/>
              <a:t>}.</a:t>
            </a:r>
            <a:r>
              <a:rPr lang="en-US" dirty="0" err="1"/>
              <a:t>py</a:t>
            </a:r>
            <a:r>
              <a:rPr lang="en-US" dirty="0"/>
              <a:t>; backend/app/</a:t>
            </a:r>
            <a:r>
              <a:rPr lang="en-US" dirty="0" err="1"/>
              <a:t>db</a:t>
            </a:r>
            <a:r>
              <a:rPr lang="en-US" dirty="0"/>
              <a:t>/repository.py; docker-</a:t>
            </a:r>
            <a:r>
              <a:rPr lang="en-US" dirty="0" err="1"/>
              <a:t>compose.yml</a:t>
            </a:r>
            <a:r>
              <a:rPr lang="en-US" dirty="0"/>
              <a:t>. https://github.com/SaifAlmaliki/zaincash-customer-support-agent
Slide 4 revision: Saif supplied the reference and requested the replacement. </a:t>
            </a:r>
            <a:r>
              <a:rPr lang="en-US" dirty="0" err="1"/>
              <a:t>OpenCode</a:t>
            </a:r>
            <a:r>
              <a:rPr lang="en-US" dirty="0"/>
              <a:t> / </a:t>
            </a:r>
            <a:r>
              <a:rPr lang="en-US" dirty="0" err="1"/>
              <a:t>openrouter</a:t>
            </a:r>
            <a:r>
              <a:rPr lang="en-US" dirty="0"/>
              <a:t>/</a:t>
            </a:r>
            <a:r>
              <a:rPr lang="en-US" dirty="0" err="1"/>
              <a:t>openai</a:t>
            </a:r>
            <a:r>
              <a:rPr lang="en-US" dirty="0"/>
              <a:t>/gpt-6-astra assisted with repository checks, diagram adaptation, native PowerPoint rendering and artifact validation.</a:t>
            </a:r>
            <a:endParaRPr lang="en-DE" dirty="0"/>
          </a:p>
        </p:txBody>
      </p:sp>
      <p:sp>
        <p:nvSpPr>
          <p:cNvPr id="4" name="Slide Number Placeholder 3"/>
          <p:cNvSpPr>
            <a:spLocks noGrp="1"/>
          </p:cNvSpPr>
          <p:nvPr>
            <p:ph type="sldNum" sz="quarter" idx="5"/>
          </p:nvPr>
        </p:nvSpPr>
        <p:spPr/>
        <p:txBody>
          <a:bodyPr/>
          <a:lstStyle/>
          <a:p>
            <a:fld id="{EE93FA7A-AF96-4820-925D-1C569E0B67E1}" type="slidenum">
              <a:rPr lang="en-DE" smtClean="0"/>
              <a:t>2</a:t>
            </a:fld>
            <a:endParaRPr lang="en-DE"/>
          </a:p>
        </p:txBody>
      </p:sp>
    </p:spTree>
    <p:extLst>
      <p:ext uri="{BB962C8B-B14F-4D97-AF65-F5344CB8AC3E}">
        <p14:creationId xmlns:p14="http://schemas.microsoft.com/office/powerpoint/2010/main" val="115188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proposed complete MVP flow, adapted from the repository README and the supplied ticket-flow screenshot. All boxes, diamonds, lines and labels are native editable PowerPoint objects.
Current pipeline: normalize, Jev initial classification with an option-order check, Gemini three-sample second opinion for uncertainty, candidate-based extraction, deterministic transaction lookup, rule-based decisions, and saved outcomes. Gemini agreement is checked against Jev only when the Jev result is sufficiently confident; it is not an unconditional demand that weak Jev and Gemini always agree. Extraction fallback validates literal source spans. Jev's confidence/calibration claims are a provider hypothesis to evaluate on Iraqi dialect, not proof of local calibration.
The graph code currently continues through extraction/lookup before producing the escalation outcome. This business diagram summarizes the handoff: uncertainty remains flagged and cannot become a confident unreviewed reply. RAG drafting and safety checks remain planned. Red-flag cases can receive clarification or escalation notes instead of a routine substantive draft.
No send integration exists. A reviewer may approve, edit-and-approve, reject or reassign. Only approved final text should be available for manual copy. Evidence-bearing source data is not permission to expand tool access. Reviewer version conflicts are checked by the backend. Production authentication and cross-customer authorization are not claimed implemented.
Sources: README.md; backend/app/pipeline/graph.py; stage4_lookup/lookup.py; services/reviews.py; docs/superpowers/specs/2026-10-07-support-pipeline-design.md.</a:t>
            </a:r>
            <a:endParaRPr lang="en-DE"/>
          </a:p>
        </p:txBody>
      </p:sp>
      <p:sp>
        <p:nvSpPr>
          <p:cNvPr id="4" name="Slide Number Placeholder 3"/>
          <p:cNvSpPr>
            <a:spLocks noGrp="1"/>
          </p:cNvSpPr>
          <p:nvPr>
            <p:ph type="sldNum" sz="quarter" idx="5"/>
          </p:nvPr>
        </p:nvSpPr>
        <p:spPr/>
        <p:txBody>
          <a:bodyPr/>
          <a:lstStyle/>
          <a:p>
            <a:fld id="{EE93FA7A-AF96-4820-925D-1C569E0B67E1}" type="slidenum">
              <a:rPr lang="en-DE" smtClean="0"/>
              <a:t>3</a:t>
            </a:fld>
            <a:endParaRPr lang="en-DE"/>
          </a:p>
        </p:txBody>
      </p:sp>
    </p:spTree>
    <p:extLst>
      <p:ext uri="{BB962C8B-B14F-4D97-AF65-F5344CB8AC3E}">
        <p14:creationId xmlns:p14="http://schemas.microsoft.com/office/powerpoint/2010/main" val="13026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replaces the technology-stack slide with the approved team-routing overview. All seven teams, twelve categories and category minimum priorities match the user's supplied taxonomy and the repository data/taxonomy.yaml inspected at commit d687fc2580d06157404c52c1b8ab807b9fe6aebd.
Exact mappings: Payments Ops: failed_transfer P2, bill_payment P3. Disputes: wrong_recipient P2, refund_request P3. Account &amp; Security: login_access P3, account_kyc P4, fraud_report P1. Agent Network: agent_dispute P2. Cards: card_issue P3. Tech Support: app_bug P3. General Care: general_inquiry P4, other P4.
The AI classifier supplies category, proposed priority, confidence and flags. Both Jev and Gemini use the shared taxonomy descriptions. The pipeline validates extracted fields and, for categories requiring transactions, performs deterministic lookup before the decision step. Code sets Decision.team directly from category.team, rather than letting the model invent a team.
The four flow boxes group related implemented stages for readability. AI classifies describes the default cascade: Jev performs the main classification plus a reversed-category-order check; low confidence, low top probability or an order mismatch triggers Gemini. Gemini takes three structured samples and derives category confidence from agreement. Unresolved uncertainty or qualifying disagreement is carried into human escalation. Code checks evidence groups span-anchored field validation and conditional transaction lookup. Lookup uses an exact transaction reference when available; otherwise phone, amount tolerance and date windows are used, with ticket metadata available when fields are absent. Team + priority groups the deterministic decision and persisted review packet: category-based team, final priority, extracted/lookup evidence and escalation reasons. Human review reflects the live review editor and backend review audit: staff inspect evidence, author or edit a response, approve/reject it or reassign a valid team. The current NullDrafter means staff can write the response themselves; generated drafting is not implied by these boxes. The UI exposes manual copy of approved final text; there is no automatic send action.
P1 is most urgent. The final priority is the most urgent of the classifier proposal, category minimum and flag overrides. A fraud_suspected score strictly greater than 0.5 sets P1; a money_lost score strictly greater than 0.5 raises urgency to at least P2. The fraud_report category has a P1 minimum and always adds the fraud escalation reason. For example, a card issue starts at P3 but a money-loss flag raises it to P2. A fraud flag on a different category does not itself change the assigned team: routing remains category-based, and the reviewer can reassign.
Escalation is a review status, not an eighth team. Reasons include unresolved classification uncertainty or disagreement, suspected fraud, multiple issues, a request for a person, absent required fields without a matched transaction, and not-found, ambiguous or mismatched transaction evidence. The decision preserves the category team and includes a human-readable reason. Drafting guardrails may add further reasons when drafting is implemented; the current repository uses NullDrafter. Human review can approve, edit, reject or reassign, with no automatic sending.
The source taxonomy additionally defines bilingual category boundaries, examples, required fields and whether transaction lookup applies. Five categories require lookup: failed_transfer, wrong_recipient, agent_dispute, bill_payment and refund_request. These details support classification and evidence checks; they do not create extra routing teams. The pasted wrong_recipient required_fields includes amount and phone, while the inspected repository version requires amount only; this slide presents the shared team and priority mappings and makes no required-field claim for that category.
Sources: https://github.com/SaifAlmaliki/zaincash-customer-support-agent/blob/d687fc2580d06157404c52c1b8ab807b9fe6aebd/data/taxonomy.yaml ; backend/app/taxonomy.py ; backend/app/pipeline/graph.py ; backend/app/pipeline/stage2_classify/{jev,gemini,cascade}.py ; backend/app/pipeline/stage3_extract/extract.py ; backend/app/pipeline/stage4_lookup/lookup.py ; backend/app/pipeline/stage5_decide/rules.py ; backend/app/db/repository.py ; backend/app/services/reviews.py ; customer-support-ui/src/features/review/TicketReviewPage.tsx ; docs/superpowers/specs/2026-10-07-support-pipeline-design.md. Implementation code was checked against the design spec; planned drafting was not presented as an implemented step.
Slide 3 revision: user-approved content and layout; OpenCode / openrouter/openai/gpt-6-astra assisted with repository analysis, editable PowerPoint generation and artifact validation.</a:t>
            </a:r>
            <a:endParaRPr lang="en-DE" dirty="0"/>
          </a:p>
        </p:txBody>
      </p:sp>
      <p:sp>
        <p:nvSpPr>
          <p:cNvPr id="4" name="Slide Number Placeholder 3"/>
          <p:cNvSpPr>
            <a:spLocks noGrp="1"/>
          </p:cNvSpPr>
          <p:nvPr>
            <p:ph type="sldNum" sz="quarter" idx="5"/>
          </p:nvPr>
        </p:nvSpPr>
        <p:spPr/>
        <p:txBody>
          <a:bodyPr/>
          <a:lstStyle/>
          <a:p>
            <a:fld id="{EE93FA7A-AF96-4820-925D-1C569E0B67E1}" type="slidenum">
              <a:rPr lang="en-DE" smtClean="0"/>
              <a:t>4</a:t>
            </a:fld>
            <a:endParaRPr lang="en-DE"/>
          </a:p>
        </p:txBody>
      </p:sp>
    </p:spTree>
    <p:extLst>
      <p:ext uri="{BB962C8B-B14F-4D97-AF65-F5344CB8AC3E}">
        <p14:creationId xmlns:p14="http://schemas.microsoft.com/office/powerpoint/2010/main" val="2658010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Schedule dates are proposed delivery milestones based on the confirmed 22 October and 8 November 2026 deadlines. Meet-and-greet, semi-final consultation sessions, progress review and Demo Day are tentative. MVP requires working core, repository commit history, initial test-set results and a one-page update; top 10 continue. Progress review later requires held-out evidence, at least three documented failure modes and full disclosures.
Risks: unclear Iraqi wording, wrong/ambiguous record matches, unavailable or conflicting policy, unsupported promises, secrets requests, injection, provider outages/limits, cost, interrupted runs, stale reviews and excessive scope. Current API startup marks interrupted running runs failed with a rerun message; it does not automatically resume checkpoints. Preserve saved results and demonstrate explicit reruns. Review rows use a locked current result and expected_updated_at to reject stale changes. Do not claim authentication/tenant isolation complete; this is a local synthetic workspace.
Critical path: complete indexed policy evidence and safe drafting, then review-copy behavior and reliable evaluation. Defer weekly-report enhancements, advanced charts, supervisor administration and live dataset generation. Iraqi Arabic must be the default for user-facing labels/messages; English technical documentation and this brief remain available. API keys stay in backend .env excluded from GitHub, with only placeholder config in .env.example.
MVP consultation: 20 minutes. Live demo should process an unexpected input, expose the evidence and next action, show uncertainty/failure handling and human review, and present measured results with limitations. A ready review packet is not a resolved customer issue.
Repo: https://github.com/SaifAlmaliki/zaincash-customer-support-agent . References: README; docs/superpowers/specs/2026-10-07-support-pipeline-design.md; current dependency files, API routes, pipeline factory/graph and review service. Organizer: Agentic AI Challenge Next Steps.pdf, Resources.pdf, Free LLM API Access.pdf (11 October guide).
Disclosure for this artifact: Saif supplied intent and approved the content. OpenCode, powered by openrouter/openai/gpt-6.1-sol-pro, assisted with repository analysis, wording, layout, native PowerPoint generation and artifact checks. Microsoft PowerPoint 16 via PowerShell COM creates editable objects and previews; Python standard-library ZIP/XML checks validate the PPTX. Context7 retrieved current LangGraph/OpenRouter documentation. Earlier proposal preparation disclosed OpenCode / openai/gpt-6-astra; preserve that attribution for earlier work. Other project coding assistants must be listed from actual use; none are invented here.
These checks validate the presentation artifact, not model availability, application test results, production readiness or real-world customer impact.</a:t>
            </a:r>
            <a:endParaRPr lang="en-DE"/>
          </a:p>
        </p:txBody>
      </p:sp>
      <p:sp>
        <p:nvSpPr>
          <p:cNvPr id="4" name="Slide Number Placeholder 3"/>
          <p:cNvSpPr>
            <a:spLocks noGrp="1"/>
          </p:cNvSpPr>
          <p:nvPr>
            <p:ph type="sldNum" sz="quarter" idx="5"/>
          </p:nvPr>
        </p:nvSpPr>
        <p:spPr/>
        <p:txBody>
          <a:bodyPr/>
          <a:lstStyle/>
          <a:p>
            <a:fld id="{EE93FA7A-AF96-4820-925D-1C569E0B67E1}" type="slidenum">
              <a:rPr lang="en-DE" smtClean="0"/>
              <a:t>5</a:t>
            </a:fld>
            <a:endParaRPr lang="en-DE"/>
          </a:p>
        </p:txBody>
      </p:sp>
    </p:spTree>
    <p:extLst>
      <p:ext uri="{BB962C8B-B14F-4D97-AF65-F5344CB8AC3E}">
        <p14:creationId xmlns:p14="http://schemas.microsoft.com/office/powerpoint/2010/main" val="1230735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06430-9FF6-604F-A958-90180BAC19FE}"/>
              </a:ext>
            </a:extLst>
          </p:cNvPr>
          <p:cNvSpPr>
            <a:spLocks noGrp="1"/>
          </p:cNvSpPr>
          <p:nvPr>
            <p:ph type="ctrTitle"/>
          </p:nvPr>
        </p:nvSpPr>
        <p:spPr>
          <a:xfrm>
            <a:off x="2032000" y="1496484"/>
            <a:ext cx="12192000" cy="3183467"/>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766F2C88-67EF-107B-CCCD-42C2307821E5}"/>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5BDBCB70-F40C-D8AB-55B3-5933D2CEDFA3}"/>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805D486F-5DCC-711F-7F68-5EF46872EB4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B4F0BD0-0DC8-25D5-675D-364880497E81}"/>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35794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F4C7-6388-F34C-C191-9D59193126FA}"/>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B5871B8D-9057-F29B-4ACB-95D58E0C10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AEE9C0A6-4DA4-2A53-69C2-0029B459060C}"/>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64F653D7-F930-2D91-943E-409E51EF090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E8F925C-96B8-7013-5C34-35AAD2222157}"/>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358550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18273-06BB-6DD6-67AB-D17B45F65A82}"/>
              </a:ext>
            </a:extLst>
          </p:cNvPr>
          <p:cNvSpPr>
            <a:spLocks noGrp="1"/>
          </p:cNvSpPr>
          <p:nvPr>
            <p:ph type="title"/>
          </p:nvPr>
        </p:nvSpPr>
        <p:spPr>
          <a:xfrm>
            <a:off x="1109133" y="2279653"/>
            <a:ext cx="14020800" cy="3803649"/>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5C235EDB-C7C0-0D58-D4CF-5DEF059ABCEB}"/>
              </a:ext>
            </a:extLst>
          </p:cNvPr>
          <p:cNvSpPr>
            <a:spLocks noGrp="1"/>
          </p:cNvSpPr>
          <p:nvPr>
            <p:ph type="body" idx="1"/>
          </p:nvPr>
        </p:nvSpPr>
        <p:spPr>
          <a:xfrm>
            <a:off x="1109133" y="6119286"/>
            <a:ext cx="140208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DF7115-CD79-B2DB-70D5-B2247EF0858A}"/>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6297CA2A-C534-E4E3-AABE-E7AE2C11395D}"/>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1AF0554-5FDE-FB56-AD76-649392F9E8EA}"/>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196236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BBFD7-2A58-88BB-9B6E-1EDF3D1CDEFB}"/>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A6D390B3-A186-8026-70BE-4E69D115FB82}"/>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1FF54302-B378-777C-14EF-BF0385C4E942}"/>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078CD294-D1D1-DA48-6E6E-8E3348779D54}"/>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6" name="Footer Placeholder 5">
            <a:extLst>
              <a:ext uri="{FF2B5EF4-FFF2-40B4-BE49-F238E27FC236}">
                <a16:creationId xmlns:a16="http://schemas.microsoft.com/office/drawing/2014/main" id="{C2C77A9A-6EE1-12B3-8D51-B450492574F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E73B153C-6DBC-A58C-AFE1-6717EEB59D54}"/>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386312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C7C5-8BE1-0338-4EAD-E04FDCD3CC4B}"/>
              </a:ext>
            </a:extLst>
          </p:cNvPr>
          <p:cNvSpPr>
            <a:spLocks noGrp="1"/>
          </p:cNvSpPr>
          <p:nvPr>
            <p:ph type="title"/>
          </p:nvPr>
        </p:nvSpPr>
        <p:spPr>
          <a:xfrm>
            <a:off x="1119717" y="486836"/>
            <a:ext cx="14020800" cy="1767417"/>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A114F854-E0BF-6718-4EAB-554A8D518418}"/>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6ED4A0-2A3C-CFA0-F337-E050E3D6057E}"/>
              </a:ext>
            </a:extLst>
          </p:cNvPr>
          <p:cNvSpPr>
            <a:spLocks noGrp="1"/>
          </p:cNvSpPr>
          <p:nvPr>
            <p:ph sz="half" idx="2"/>
          </p:nvPr>
        </p:nvSpPr>
        <p:spPr>
          <a:xfrm>
            <a:off x="1119719"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989B8693-8344-E8D4-5C88-FF7F6B823405}"/>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539E98-4590-6561-72BC-7078B415586C}"/>
              </a:ext>
            </a:extLst>
          </p:cNvPr>
          <p:cNvSpPr>
            <a:spLocks noGrp="1"/>
          </p:cNvSpPr>
          <p:nvPr>
            <p:ph sz="quarter" idx="4"/>
          </p:nvPr>
        </p:nvSpPr>
        <p:spPr>
          <a:xfrm>
            <a:off x="8229601"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B7ED4300-039E-8B64-C794-B30459337C7A}"/>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8" name="Footer Placeholder 7">
            <a:extLst>
              <a:ext uri="{FF2B5EF4-FFF2-40B4-BE49-F238E27FC236}">
                <a16:creationId xmlns:a16="http://schemas.microsoft.com/office/drawing/2014/main" id="{70D69CD8-5445-979F-0DA2-193EE41F35E1}"/>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AF46DE9D-4193-8BEF-A421-DD98FDB6A451}"/>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280890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6FF0-712D-F308-3131-F43B7916A21C}"/>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D592E161-AF61-DA5F-B762-0B0AD1266111}"/>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4" name="Footer Placeholder 3">
            <a:extLst>
              <a:ext uri="{FF2B5EF4-FFF2-40B4-BE49-F238E27FC236}">
                <a16:creationId xmlns:a16="http://schemas.microsoft.com/office/drawing/2014/main" id="{55DD9192-731C-0179-AC56-06AD751E986C}"/>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E2FA2FF4-971F-F730-2213-A26103F3245B}"/>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2025704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D4EAE9-5C42-A3EF-A74F-1A1E1E9AC6CE}"/>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3" name="Footer Placeholder 2">
            <a:extLst>
              <a:ext uri="{FF2B5EF4-FFF2-40B4-BE49-F238E27FC236}">
                <a16:creationId xmlns:a16="http://schemas.microsoft.com/office/drawing/2014/main" id="{F44BF340-6044-4DC5-B716-4C91B2EEF64B}"/>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509760CA-3BC5-E823-945C-5CD1597F765F}"/>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3432555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71770-401D-49EA-4396-361DDFF03DD9}"/>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787EC9D4-4E37-0C7E-FBB8-EE837B33134E}"/>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9ED07659-05A2-864B-9741-E67E052AC794}"/>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D21275-0A57-8857-8BBC-2F9F3F559890}"/>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6" name="Footer Placeholder 5">
            <a:extLst>
              <a:ext uri="{FF2B5EF4-FFF2-40B4-BE49-F238E27FC236}">
                <a16:creationId xmlns:a16="http://schemas.microsoft.com/office/drawing/2014/main" id="{5D55B60A-CE12-9717-17C3-DA65BF763EB0}"/>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7056A030-DE92-D382-EAE9-465767DC5DA4}"/>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2472000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4248-5E51-3998-048B-F4CA26E76964}"/>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8D7CC665-00FE-8A91-21FB-447C5ABB9742}"/>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A085E5BA-5CBB-51AA-0BB4-0EB8630A56E3}"/>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C7F17-98FE-2B98-71AE-69F50C939A96}"/>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6" name="Footer Placeholder 5">
            <a:extLst>
              <a:ext uri="{FF2B5EF4-FFF2-40B4-BE49-F238E27FC236}">
                <a16:creationId xmlns:a16="http://schemas.microsoft.com/office/drawing/2014/main" id="{D330C7DE-321E-1B2F-A8CA-51D81919AE3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D6136757-B729-B5B6-C500-88D66C8DE1BE}"/>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649744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28036-00B1-57AE-F8A7-2C1426C4F1B7}"/>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7A16E27-4664-2932-A96E-240A3AC19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BB59DA14-1661-7E4B-C507-A3D63655DA4E}"/>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A7E3046E-7947-9780-D64A-671B4550D2F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E0D2B6E7-80EF-D9AC-A0A8-1C186AAFD19F}"/>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3148504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2BF22-64AE-A365-DD62-9172F1CC63BE}"/>
              </a:ext>
            </a:extLst>
          </p:cNvPr>
          <p:cNvSpPr>
            <a:spLocks noGrp="1"/>
          </p:cNvSpPr>
          <p:nvPr>
            <p:ph type="title" orient="vert"/>
          </p:nvPr>
        </p:nvSpPr>
        <p:spPr>
          <a:xfrm>
            <a:off x="11633200" y="486834"/>
            <a:ext cx="3505200" cy="7749117"/>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0E5A4FB9-2CED-9F28-2F55-F47E3FAB43C4}"/>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73CCB0F-EAFF-8894-5B32-F4779E7ED223}"/>
              </a:ext>
            </a:extLst>
          </p:cNvPr>
          <p:cNvSpPr>
            <a:spLocks noGrp="1"/>
          </p:cNvSpPr>
          <p:nvPr>
            <p:ph type="dt" sz="half" idx="10"/>
          </p:nvPr>
        </p:nvSpPr>
        <p:spPr/>
        <p:txBody>
          <a:body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C0887FA0-7C7C-3260-331E-B6E0E60C3BB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494B1BC-93D1-60C1-2843-12179721AF18}"/>
              </a:ext>
            </a:extLst>
          </p:cNvPr>
          <p:cNvSpPr>
            <a:spLocks noGrp="1"/>
          </p:cNvSpPr>
          <p:nvPr>
            <p:ph type="sldNum" sz="quarter" idx="12"/>
          </p:nvPr>
        </p:nvSpPr>
        <p:spPr/>
        <p:txBody>
          <a:bodyPr/>
          <a:lstStyle/>
          <a:p>
            <a:fld id="{BB9025F3-89C6-4082-8292-3F72FF683688}" type="slidenum">
              <a:rPr lang="en-DE" smtClean="0"/>
              <a:t>‹#›</a:t>
            </a:fld>
            <a:endParaRPr lang="en-DE"/>
          </a:p>
        </p:txBody>
      </p:sp>
    </p:spTree>
    <p:extLst>
      <p:ext uri="{BB962C8B-B14F-4D97-AF65-F5344CB8AC3E}">
        <p14:creationId xmlns:p14="http://schemas.microsoft.com/office/powerpoint/2010/main" val="2668666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06653-8262-CDA3-25CB-DCF00F5631A2}"/>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A1EA8F9A-E4FB-FEDC-49E9-93491B473711}"/>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8B8D2406-0513-EEDA-0F8C-6945A1AC4F3F}"/>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EE47E12E-645C-47AC-98C2-4268C7564F7F}" type="datetimeFigureOut">
              <a:rPr lang="en-DE" smtClean="0"/>
              <a:t>18/10/2026</a:t>
            </a:fld>
            <a:endParaRPr lang="en-DE"/>
          </a:p>
        </p:txBody>
      </p:sp>
      <p:sp>
        <p:nvSpPr>
          <p:cNvPr id="5" name="Footer Placeholder 4">
            <a:extLst>
              <a:ext uri="{FF2B5EF4-FFF2-40B4-BE49-F238E27FC236}">
                <a16:creationId xmlns:a16="http://schemas.microsoft.com/office/drawing/2014/main" id="{34257E74-55D4-504B-BE29-A8B6E361452F}"/>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373F7B44-7553-7EB4-8C3E-85D0695023ED}"/>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BB9025F3-89C6-4082-8292-3F72FF683688}" type="slidenum">
              <a:rPr lang="en-DE" smtClean="0"/>
              <a:t>‹#›</a:t>
            </a:fld>
            <a:endParaRPr lang="en-DE"/>
          </a:p>
        </p:txBody>
      </p:sp>
    </p:spTree>
    <p:extLst>
      <p:ext uri="{BB962C8B-B14F-4D97-AF65-F5344CB8AC3E}">
        <p14:creationId xmlns:p14="http://schemas.microsoft.com/office/powerpoint/2010/main" val="2130728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SaifAlmaliki/zaincash-customer-support-agen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6F7"/>
        </a:solidFill>
        <a:effectLst/>
      </p:bgPr>
    </p:bg>
    <p:spTree>
      <p:nvGrpSpPr>
        <p:cNvPr id="1" name=""/>
        <p:cNvGrpSpPr/>
        <p:nvPr/>
      </p:nvGrpSpPr>
      <p:grpSpPr>
        <a:xfrm>
          <a:off x="0" y="0"/>
          <a:ext cx="0" cy="0"/>
          <a:chOff x="0" y="0"/>
          <a:chExt cx="0" cy="0"/>
        </a:xfrm>
      </p:grpSpPr>
      <p:sp>
        <p:nvSpPr>
          <p:cNvPr id="2" name="header">
            <a:extLst>
              <a:ext uri="{FF2B5EF4-FFF2-40B4-BE49-F238E27FC236}">
                <a16:creationId xmlns:a16="http://schemas.microsoft.com/office/drawing/2014/main" id="{22FE3193-F6FA-F807-4A66-EE54D8964BF4}"/>
              </a:ext>
            </a:extLst>
          </p:cNvPr>
          <p:cNvSpPr/>
          <p:nvPr/>
        </p:nvSpPr>
        <p:spPr>
          <a:xfrm>
            <a:off x="0" y="0"/>
            <a:ext cx="16256000" cy="14732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accent">
            <a:extLst>
              <a:ext uri="{FF2B5EF4-FFF2-40B4-BE49-F238E27FC236}">
                <a16:creationId xmlns:a16="http://schemas.microsoft.com/office/drawing/2014/main" id="{5DE03087-495F-9226-277F-DB8D585A490D}"/>
              </a:ext>
            </a:extLst>
          </p:cNvPr>
          <p:cNvSpPr/>
          <p:nvPr/>
        </p:nvSpPr>
        <p:spPr>
          <a:xfrm>
            <a:off x="0" y="1422400"/>
            <a:ext cx="16256000" cy="50800"/>
          </a:xfrm>
          <a:prstGeom prst="rect">
            <a:avLst/>
          </a:prstGeom>
          <a:solidFill>
            <a:srgbClr val="087E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eyebrow">
            <a:extLst>
              <a:ext uri="{FF2B5EF4-FFF2-40B4-BE49-F238E27FC236}">
                <a16:creationId xmlns:a16="http://schemas.microsoft.com/office/drawing/2014/main" id="{1661C203-95DF-ED3D-D80D-B92B04A07D3E}"/>
              </a:ext>
            </a:extLst>
          </p:cNvPr>
          <p:cNvSpPr txBox="1"/>
          <p:nvPr/>
        </p:nvSpPr>
        <p:spPr>
          <a:xfrm>
            <a:off x="508000" y="203200"/>
            <a:ext cx="13970000" cy="241300"/>
          </a:xfrm>
          <a:prstGeom prst="rect">
            <a:avLst/>
          </a:prstGeom>
          <a:noFill/>
        </p:spPr>
        <p:txBody>
          <a:bodyPr vert="horz" wrap="square" lIns="0" tIns="0" rIns="0" bIns="0" rtlCol="0" anchor="t">
            <a:noAutofit/>
          </a:bodyPr>
          <a:lstStyle/>
          <a:p>
            <a:r>
              <a:rPr lang="en-US" sz="1200" b="1">
                <a:solidFill>
                  <a:srgbClr val="B5DCD9"/>
                </a:solidFill>
                <a:latin typeface="Arial" panose="020B0604020202020204" pitchFamily="34" charset="0"/>
              </a:rPr>
              <a:t>SAIF ALMALIKI  /  FAZAA  /  TOPIC 06: SUPPORT PIPELINE AUTOMATION</a:t>
            </a:r>
            <a:endParaRPr lang="en-DE" sz="1200" b="1">
              <a:solidFill>
                <a:srgbClr val="B5DCD9"/>
              </a:solidFill>
              <a:latin typeface="Arial" panose="020B0604020202020204" pitchFamily="34" charset="0"/>
            </a:endParaRPr>
          </a:p>
        </p:txBody>
      </p:sp>
      <p:sp>
        <p:nvSpPr>
          <p:cNvPr id="5" name="title">
            <a:extLst>
              <a:ext uri="{FF2B5EF4-FFF2-40B4-BE49-F238E27FC236}">
                <a16:creationId xmlns:a16="http://schemas.microsoft.com/office/drawing/2014/main" id="{37D3529F-96AD-A1D2-C8E3-A2BD4E109C7C}"/>
              </a:ext>
            </a:extLst>
          </p:cNvPr>
          <p:cNvSpPr txBox="1"/>
          <p:nvPr/>
        </p:nvSpPr>
        <p:spPr>
          <a:xfrm>
            <a:off x="508000" y="520700"/>
            <a:ext cx="14859000" cy="546100"/>
          </a:xfrm>
          <a:prstGeom prst="rect">
            <a:avLst/>
          </a:prstGeom>
          <a:noFill/>
        </p:spPr>
        <p:txBody>
          <a:bodyPr vert="horz" wrap="square" lIns="0" tIns="0" rIns="0" bIns="0" rtlCol="0" anchor="t">
            <a:noAutofit/>
          </a:bodyPr>
          <a:lstStyle/>
          <a:p>
            <a:r>
              <a:rPr lang="en-US" sz="3200" b="1">
                <a:solidFill>
                  <a:srgbClr val="FFFFFF"/>
                </a:solidFill>
                <a:latin typeface="Arial" panose="020B0604020202020204" pitchFamily="34" charset="0"/>
              </a:rPr>
              <a:t>FAZAA | Iraqi Arabic Support Copilot</a:t>
            </a:r>
            <a:endParaRPr lang="en-DE" sz="3200" b="1">
              <a:solidFill>
                <a:srgbClr val="FFFFFF"/>
              </a:solidFill>
              <a:latin typeface="Arial" panose="020B0604020202020204" pitchFamily="34" charset="0"/>
            </a:endParaRPr>
          </a:p>
        </p:txBody>
      </p:sp>
      <p:sp>
        <p:nvSpPr>
          <p:cNvPr id="6" name="subtitle">
            <a:extLst>
              <a:ext uri="{FF2B5EF4-FFF2-40B4-BE49-F238E27FC236}">
                <a16:creationId xmlns:a16="http://schemas.microsoft.com/office/drawing/2014/main" id="{D63D73BE-C74A-50CF-A328-28336D29B7B6}"/>
              </a:ext>
            </a:extLst>
          </p:cNvPr>
          <p:cNvSpPr txBox="1"/>
          <p:nvPr/>
        </p:nvSpPr>
        <p:spPr>
          <a:xfrm>
            <a:off x="508000" y="1104900"/>
            <a:ext cx="14859000" cy="279400"/>
          </a:xfrm>
          <a:prstGeom prst="rect">
            <a:avLst/>
          </a:prstGeom>
          <a:noFill/>
        </p:spPr>
        <p:txBody>
          <a:bodyPr vert="horz" wrap="square" lIns="0" tIns="0" rIns="0" bIns="0" rtlCol="0" anchor="t">
            <a:noAutofit/>
          </a:bodyPr>
          <a:lstStyle/>
          <a:p>
            <a:r>
              <a:rPr lang="en-US" sz="1600">
                <a:solidFill>
                  <a:srgbClr val="DDE8EB"/>
                </a:solidFill>
                <a:latin typeface="Arial" panose="020B0604020202020204" pitchFamily="34" charset="0"/>
              </a:rPr>
              <a:t>Less manual triage. Better routing. Every reply reviewed.</a:t>
            </a:r>
            <a:endParaRPr lang="en-DE" sz="1600">
              <a:solidFill>
                <a:srgbClr val="DDE8EB"/>
              </a:solidFill>
              <a:latin typeface="Arial" panose="020B0604020202020204" pitchFamily="34" charset="0"/>
            </a:endParaRPr>
          </a:p>
        </p:txBody>
      </p:sp>
      <p:sp>
        <p:nvSpPr>
          <p:cNvPr id="7" name="page">
            <a:extLst>
              <a:ext uri="{FF2B5EF4-FFF2-40B4-BE49-F238E27FC236}">
                <a16:creationId xmlns:a16="http://schemas.microsoft.com/office/drawing/2014/main" id="{D37FB18A-4834-416C-55B9-B49C8B488CC3}"/>
              </a:ext>
            </a:extLst>
          </p:cNvPr>
          <p:cNvSpPr txBox="1"/>
          <p:nvPr/>
        </p:nvSpPr>
        <p:spPr>
          <a:xfrm>
            <a:off x="14986000" y="215900"/>
            <a:ext cx="762000" cy="241300"/>
          </a:xfrm>
          <a:prstGeom prst="rect">
            <a:avLst/>
          </a:prstGeom>
          <a:noFill/>
        </p:spPr>
        <p:txBody>
          <a:bodyPr vert="horz" wrap="square" lIns="0" tIns="0" rIns="0" bIns="0" rtlCol="0" anchor="t">
            <a:noAutofit/>
          </a:bodyPr>
          <a:lstStyle/>
          <a:p>
            <a:pPr algn="r"/>
            <a:r>
              <a:rPr lang="en-DE" sz="1200">
                <a:solidFill>
                  <a:srgbClr val="B5DCD9"/>
                </a:solidFill>
                <a:latin typeface="Arial" panose="020B0604020202020204" pitchFamily="34" charset="0"/>
              </a:rPr>
              <a:t>01 / 05</a:t>
            </a:r>
          </a:p>
        </p:txBody>
      </p:sp>
      <p:sp>
        <p:nvSpPr>
          <p:cNvPr id="8" name="problem">
            <a:extLst>
              <a:ext uri="{FF2B5EF4-FFF2-40B4-BE49-F238E27FC236}">
                <a16:creationId xmlns:a16="http://schemas.microsoft.com/office/drawing/2014/main" id="{1CD0BBD7-BFFB-92C1-FF7F-7C58045262BB}"/>
              </a:ext>
            </a:extLst>
          </p:cNvPr>
          <p:cNvSpPr/>
          <p:nvPr/>
        </p:nvSpPr>
        <p:spPr>
          <a:xfrm>
            <a:off x="508000" y="1778000"/>
            <a:ext cx="9144000" cy="24130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problem-heading">
            <a:extLst>
              <a:ext uri="{FF2B5EF4-FFF2-40B4-BE49-F238E27FC236}">
                <a16:creationId xmlns:a16="http://schemas.microsoft.com/office/drawing/2014/main" id="{A88F9CFE-7336-34AA-1AFB-349DEE9123E0}"/>
              </a:ext>
            </a:extLst>
          </p:cNvPr>
          <p:cNvSpPr txBox="1"/>
          <p:nvPr/>
        </p:nvSpPr>
        <p:spPr>
          <a:xfrm>
            <a:off x="736600" y="1968500"/>
            <a:ext cx="86868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THE USER AND THE PROBLEM</a:t>
            </a:r>
            <a:endParaRPr lang="en-DE" sz="1400" b="1">
              <a:solidFill>
                <a:srgbClr val="087E83"/>
              </a:solidFill>
              <a:latin typeface="Arial" panose="020B0604020202020204" pitchFamily="34" charset="0"/>
            </a:endParaRPr>
          </a:p>
        </p:txBody>
      </p:sp>
      <p:sp>
        <p:nvSpPr>
          <p:cNvPr id="10" name="user">
            <a:extLst>
              <a:ext uri="{FF2B5EF4-FFF2-40B4-BE49-F238E27FC236}">
                <a16:creationId xmlns:a16="http://schemas.microsoft.com/office/drawing/2014/main" id="{C10245B5-76CE-AD92-F372-56F55221F7CC}"/>
              </a:ext>
            </a:extLst>
          </p:cNvPr>
          <p:cNvSpPr txBox="1"/>
          <p:nvPr/>
        </p:nvSpPr>
        <p:spPr>
          <a:xfrm>
            <a:off x="736600" y="2336800"/>
            <a:ext cx="8686800" cy="381000"/>
          </a:xfrm>
          <a:prstGeom prst="rect">
            <a:avLst/>
          </a:prstGeom>
          <a:noFill/>
        </p:spPr>
        <p:txBody>
          <a:bodyPr vert="horz" wrap="square" lIns="0" tIns="0" rIns="0" bIns="0" rtlCol="0" anchor="t">
            <a:noAutofit/>
          </a:bodyPr>
          <a:lstStyle/>
          <a:p>
            <a:r>
              <a:rPr lang="en-US" sz="2400" b="1">
                <a:solidFill>
                  <a:srgbClr val="203947"/>
                </a:solidFill>
                <a:latin typeface="Arial" panose="020B0604020202020204" pitchFamily="34" charset="0"/>
              </a:rPr>
              <a:t>Wallet-support employees and team leads</a:t>
            </a:r>
            <a:endParaRPr lang="en-DE" sz="2400" b="1">
              <a:solidFill>
                <a:srgbClr val="203947"/>
              </a:solidFill>
              <a:latin typeface="Arial" panose="020B0604020202020204" pitchFamily="34" charset="0"/>
            </a:endParaRPr>
          </a:p>
        </p:txBody>
      </p:sp>
      <p:sp>
        <p:nvSpPr>
          <p:cNvPr id="11" name="problem-copy">
            <a:extLst>
              <a:ext uri="{FF2B5EF4-FFF2-40B4-BE49-F238E27FC236}">
                <a16:creationId xmlns:a16="http://schemas.microsoft.com/office/drawing/2014/main" id="{7BDAE524-76E8-A863-E672-77E57B60D898}"/>
              </a:ext>
            </a:extLst>
          </p:cNvPr>
          <p:cNvSpPr txBox="1"/>
          <p:nvPr/>
        </p:nvSpPr>
        <p:spPr>
          <a:xfrm>
            <a:off x="736600" y="2870200"/>
            <a:ext cx="8636000" cy="1003300"/>
          </a:xfrm>
          <a:prstGeom prst="rect">
            <a:avLst/>
          </a:prstGeom>
          <a:noFill/>
        </p:spPr>
        <p:txBody>
          <a:bodyPr vert="horz" wrap="square" lIns="0" tIns="0" rIns="0" bIns="0" rtlCol="0" anchor="t">
            <a:noAutofit/>
          </a:bodyPr>
          <a:lstStyle/>
          <a:p>
            <a:r>
              <a:rPr lang="en-US" sz="2000">
                <a:solidFill>
                  <a:srgbClr val="203947"/>
                </a:solidFill>
                <a:latin typeface="Arial" panose="020B0604020202020204" pitchFamily="34" charset="0"/>
              </a:rPr>
              <a:t>Each complaint needs dialect interpretation, detail extraction, transaction checks, priority setting, team routing and a suitable reply. Repeating this across a queue takes time and creates room for mistakes.</a:t>
            </a:r>
            <a:endParaRPr lang="en-DE" sz="2000">
              <a:solidFill>
                <a:srgbClr val="203947"/>
              </a:solidFill>
              <a:latin typeface="Arial" panose="020B0604020202020204" pitchFamily="34" charset="0"/>
            </a:endParaRPr>
          </a:p>
        </p:txBody>
      </p:sp>
      <p:sp>
        <p:nvSpPr>
          <p:cNvPr id="12" name="value">
            <a:extLst>
              <a:ext uri="{FF2B5EF4-FFF2-40B4-BE49-F238E27FC236}">
                <a16:creationId xmlns:a16="http://schemas.microsoft.com/office/drawing/2014/main" id="{F9CD3E70-5EAD-D7EC-682D-82F3893CD533}"/>
              </a:ext>
            </a:extLst>
          </p:cNvPr>
          <p:cNvSpPr/>
          <p:nvPr/>
        </p:nvSpPr>
        <p:spPr>
          <a:xfrm>
            <a:off x="10033000" y="1778000"/>
            <a:ext cx="5715000" cy="2413000"/>
          </a:xfrm>
          <a:prstGeom prst="rect">
            <a:avLst/>
          </a:prstGeom>
          <a:solidFill>
            <a:srgbClr val="E7F3F1"/>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3" name="value-heading">
            <a:extLst>
              <a:ext uri="{FF2B5EF4-FFF2-40B4-BE49-F238E27FC236}">
                <a16:creationId xmlns:a16="http://schemas.microsoft.com/office/drawing/2014/main" id="{FF24CFF4-0594-B295-44F7-C48018711B9B}"/>
              </a:ext>
            </a:extLst>
          </p:cNvPr>
          <p:cNvSpPr txBox="1"/>
          <p:nvPr/>
        </p:nvSpPr>
        <p:spPr>
          <a:xfrm>
            <a:off x="10261600" y="1968500"/>
            <a:ext cx="52578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INTENDED IMPACT</a:t>
            </a:r>
            <a:endParaRPr lang="en-DE" sz="1400" b="1">
              <a:solidFill>
                <a:srgbClr val="087E83"/>
              </a:solidFill>
              <a:latin typeface="Arial" panose="020B0604020202020204" pitchFamily="34" charset="0"/>
            </a:endParaRPr>
          </a:p>
        </p:txBody>
      </p:sp>
      <p:sp>
        <p:nvSpPr>
          <p:cNvPr id="14" name="impact-head">
            <a:extLst>
              <a:ext uri="{FF2B5EF4-FFF2-40B4-BE49-F238E27FC236}">
                <a16:creationId xmlns:a16="http://schemas.microsoft.com/office/drawing/2014/main" id="{CE4526F2-195B-0291-B704-BF0B59F80FC6}"/>
              </a:ext>
            </a:extLst>
          </p:cNvPr>
          <p:cNvSpPr txBox="1"/>
          <p:nvPr/>
        </p:nvSpPr>
        <p:spPr>
          <a:xfrm>
            <a:off x="10261600" y="2349500"/>
            <a:ext cx="5257800" cy="774700"/>
          </a:xfrm>
          <a:prstGeom prst="rect">
            <a:avLst/>
          </a:prstGeom>
          <a:noFill/>
        </p:spPr>
        <p:txBody>
          <a:bodyPr vert="horz" wrap="square" lIns="0" tIns="0" rIns="0" bIns="0" rtlCol="0" anchor="t">
            <a:noAutofit/>
          </a:bodyPr>
          <a:lstStyle/>
          <a:p>
            <a:r>
              <a:rPr lang="en-US" sz="2500" b="1">
                <a:solidFill>
                  <a:srgbClr val="087E83"/>
                </a:solidFill>
                <a:latin typeface="Arial" panose="020B0604020202020204" pitchFamily="34" charset="0"/>
              </a:rPr>
              <a:t>Less handling time. Clearer decisions.</a:t>
            </a:r>
            <a:endParaRPr lang="en-DE" sz="2500" b="1">
              <a:solidFill>
                <a:srgbClr val="087E83"/>
              </a:solidFill>
              <a:latin typeface="Arial" panose="020B0604020202020204" pitchFamily="34" charset="0"/>
            </a:endParaRPr>
          </a:p>
        </p:txBody>
      </p:sp>
      <p:sp>
        <p:nvSpPr>
          <p:cNvPr id="15" name="impact-measure">
            <a:extLst>
              <a:ext uri="{FF2B5EF4-FFF2-40B4-BE49-F238E27FC236}">
                <a16:creationId xmlns:a16="http://schemas.microsoft.com/office/drawing/2014/main" id="{A9B79C9D-D214-1E48-8F00-F06B85BAFC53}"/>
              </a:ext>
            </a:extLst>
          </p:cNvPr>
          <p:cNvSpPr txBox="1"/>
          <p:nvPr/>
        </p:nvSpPr>
        <p:spPr>
          <a:xfrm>
            <a:off x="10261600" y="3238500"/>
            <a:ext cx="5257800" cy="685800"/>
          </a:xfrm>
          <a:prstGeom prst="rect">
            <a:avLst/>
          </a:prstGeom>
          <a:noFill/>
        </p:spPr>
        <p:txBody>
          <a:bodyPr vert="horz" wrap="square" lIns="0" tIns="0" rIns="0" bIns="0" rtlCol="0" anchor="t">
            <a:noAutofit/>
          </a:bodyPr>
          <a:lstStyle/>
          <a:p>
            <a:r>
              <a:rPr lang="en-US">
                <a:solidFill>
                  <a:srgbClr val="203947"/>
                </a:solidFill>
                <a:latin typeface="Arial" panose="020B0604020202020204" pitchFamily="34" charset="0"/>
              </a:rPr>
              <a:t>Compare manual vs assisted work, including review, corrections and output quality.</a:t>
            </a:r>
            <a:endParaRPr lang="en-DE">
              <a:solidFill>
                <a:srgbClr val="203947"/>
              </a:solidFill>
              <a:latin typeface="Arial" panose="020B0604020202020204" pitchFamily="34" charset="0"/>
            </a:endParaRPr>
          </a:p>
        </p:txBody>
      </p:sp>
      <p:sp>
        <p:nvSpPr>
          <p:cNvPr id="16" name="output-0">
            <a:extLst>
              <a:ext uri="{FF2B5EF4-FFF2-40B4-BE49-F238E27FC236}">
                <a16:creationId xmlns:a16="http://schemas.microsoft.com/office/drawing/2014/main" id="{014F2056-7B10-0881-8D77-3F50E75458B5}"/>
              </a:ext>
            </a:extLst>
          </p:cNvPr>
          <p:cNvSpPr/>
          <p:nvPr/>
        </p:nvSpPr>
        <p:spPr>
          <a:xfrm>
            <a:off x="508000" y="4445000"/>
            <a:ext cx="3657600" cy="18034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 name="output-0-heading">
            <a:extLst>
              <a:ext uri="{FF2B5EF4-FFF2-40B4-BE49-F238E27FC236}">
                <a16:creationId xmlns:a16="http://schemas.microsoft.com/office/drawing/2014/main" id="{DC7DAD96-570B-503D-7723-3A0AAD622BDB}"/>
              </a:ext>
            </a:extLst>
          </p:cNvPr>
          <p:cNvSpPr txBox="1"/>
          <p:nvPr/>
        </p:nvSpPr>
        <p:spPr>
          <a:xfrm>
            <a:off x="736600" y="4635500"/>
            <a:ext cx="32004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01 / Understand</a:t>
            </a:r>
            <a:endParaRPr lang="en-DE" sz="1400" b="1">
              <a:solidFill>
                <a:srgbClr val="087E83"/>
              </a:solidFill>
              <a:latin typeface="Arial" panose="020B0604020202020204" pitchFamily="34" charset="0"/>
            </a:endParaRPr>
          </a:p>
        </p:txBody>
      </p:sp>
      <p:sp>
        <p:nvSpPr>
          <p:cNvPr id="18" name="output-copy-0">
            <a:extLst>
              <a:ext uri="{FF2B5EF4-FFF2-40B4-BE49-F238E27FC236}">
                <a16:creationId xmlns:a16="http://schemas.microsoft.com/office/drawing/2014/main" id="{BC92A6C1-8327-A7A0-20DC-2EA9053FFA1F}"/>
              </a:ext>
            </a:extLst>
          </p:cNvPr>
          <p:cNvSpPr txBox="1"/>
          <p:nvPr/>
        </p:nvSpPr>
        <p:spPr>
          <a:xfrm>
            <a:off x="736600" y="5003800"/>
            <a:ext cx="3200400" cy="990600"/>
          </a:xfrm>
          <a:prstGeom prst="rect">
            <a:avLst/>
          </a:prstGeom>
          <a:noFill/>
        </p:spPr>
        <p:txBody>
          <a:bodyPr vert="horz" wrap="square" lIns="0" tIns="0" rIns="0" bIns="0" rtlCol="0" anchor="t">
            <a:noAutofit/>
          </a:bodyPr>
          <a:lstStyle/>
          <a:p>
            <a:r>
              <a:rPr lang="en-US" sz="1900">
                <a:solidFill>
                  <a:srgbClr val="203947"/>
                </a:solidFill>
                <a:latin typeface="Arial" panose="020B0604020202020204" pitchFamily="34" charset="0"/>
              </a:rPr>
              <a:t>Category, priority, red flags and extracted details.</a:t>
            </a:r>
            <a:endParaRPr lang="en-DE" sz="1900">
              <a:solidFill>
                <a:srgbClr val="203947"/>
              </a:solidFill>
              <a:latin typeface="Arial" panose="020B0604020202020204" pitchFamily="34" charset="0"/>
            </a:endParaRPr>
          </a:p>
        </p:txBody>
      </p:sp>
      <p:sp>
        <p:nvSpPr>
          <p:cNvPr id="19" name="output-1">
            <a:extLst>
              <a:ext uri="{FF2B5EF4-FFF2-40B4-BE49-F238E27FC236}">
                <a16:creationId xmlns:a16="http://schemas.microsoft.com/office/drawing/2014/main" id="{C8C24E22-993D-4F42-5A2A-D93C3C6FA081}"/>
              </a:ext>
            </a:extLst>
          </p:cNvPr>
          <p:cNvSpPr/>
          <p:nvPr/>
        </p:nvSpPr>
        <p:spPr>
          <a:xfrm>
            <a:off x="4368800" y="4445000"/>
            <a:ext cx="3657600" cy="18034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 name="output-1-heading">
            <a:extLst>
              <a:ext uri="{FF2B5EF4-FFF2-40B4-BE49-F238E27FC236}">
                <a16:creationId xmlns:a16="http://schemas.microsoft.com/office/drawing/2014/main" id="{55B60EBC-F31A-216C-1427-88BF67BF9AA7}"/>
              </a:ext>
            </a:extLst>
          </p:cNvPr>
          <p:cNvSpPr txBox="1"/>
          <p:nvPr/>
        </p:nvSpPr>
        <p:spPr>
          <a:xfrm>
            <a:off x="4597400" y="4635500"/>
            <a:ext cx="32004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02 / Check + route</a:t>
            </a:r>
            <a:endParaRPr lang="en-DE" sz="1400" b="1">
              <a:solidFill>
                <a:srgbClr val="087E83"/>
              </a:solidFill>
              <a:latin typeface="Arial" panose="020B0604020202020204" pitchFamily="34" charset="0"/>
            </a:endParaRPr>
          </a:p>
        </p:txBody>
      </p:sp>
      <p:sp>
        <p:nvSpPr>
          <p:cNvPr id="21" name="output-copy-1">
            <a:extLst>
              <a:ext uri="{FF2B5EF4-FFF2-40B4-BE49-F238E27FC236}">
                <a16:creationId xmlns:a16="http://schemas.microsoft.com/office/drawing/2014/main" id="{E1381D5B-5DA1-ECFA-3085-049C340B55BA}"/>
              </a:ext>
            </a:extLst>
          </p:cNvPr>
          <p:cNvSpPr txBox="1"/>
          <p:nvPr/>
        </p:nvSpPr>
        <p:spPr>
          <a:xfrm>
            <a:off x="4597400" y="5003800"/>
            <a:ext cx="3200400" cy="990600"/>
          </a:xfrm>
          <a:prstGeom prst="rect">
            <a:avLst/>
          </a:prstGeom>
          <a:noFill/>
        </p:spPr>
        <p:txBody>
          <a:bodyPr vert="horz" wrap="square" lIns="0" tIns="0" rIns="0" bIns="0" rtlCol="0" anchor="t">
            <a:noAutofit/>
          </a:bodyPr>
          <a:lstStyle/>
          <a:p>
            <a:r>
              <a:rPr lang="en-US" sz="1900">
                <a:solidFill>
                  <a:srgbClr val="203947"/>
                </a:solidFill>
                <a:latin typeface="Arial" panose="020B0604020202020204" pitchFamily="34" charset="0"/>
              </a:rPr>
              <a:t>Match synthetic transactions; apply team and priority rules.</a:t>
            </a:r>
            <a:endParaRPr lang="en-DE" sz="1900">
              <a:solidFill>
                <a:srgbClr val="203947"/>
              </a:solidFill>
              <a:latin typeface="Arial" panose="020B0604020202020204" pitchFamily="34" charset="0"/>
            </a:endParaRPr>
          </a:p>
        </p:txBody>
      </p:sp>
      <p:sp>
        <p:nvSpPr>
          <p:cNvPr id="22" name="output-2">
            <a:extLst>
              <a:ext uri="{FF2B5EF4-FFF2-40B4-BE49-F238E27FC236}">
                <a16:creationId xmlns:a16="http://schemas.microsoft.com/office/drawing/2014/main" id="{48A84119-E5C8-09B4-AC6D-5530CED02984}"/>
              </a:ext>
            </a:extLst>
          </p:cNvPr>
          <p:cNvSpPr/>
          <p:nvPr/>
        </p:nvSpPr>
        <p:spPr>
          <a:xfrm>
            <a:off x="8229600" y="4445000"/>
            <a:ext cx="3657600" cy="18034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output-2-heading">
            <a:extLst>
              <a:ext uri="{FF2B5EF4-FFF2-40B4-BE49-F238E27FC236}">
                <a16:creationId xmlns:a16="http://schemas.microsoft.com/office/drawing/2014/main" id="{A0EDE536-D55E-65A9-4F52-219EB222592E}"/>
              </a:ext>
            </a:extLst>
          </p:cNvPr>
          <p:cNvSpPr txBox="1"/>
          <p:nvPr/>
        </p:nvSpPr>
        <p:spPr>
          <a:xfrm>
            <a:off x="8458200" y="4635500"/>
            <a:ext cx="32004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03 / Prepare</a:t>
            </a:r>
            <a:endParaRPr lang="en-DE" sz="1400" b="1">
              <a:solidFill>
                <a:srgbClr val="087E83"/>
              </a:solidFill>
              <a:latin typeface="Arial" panose="020B0604020202020204" pitchFamily="34" charset="0"/>
            </a:endParaRPr>
          </a:p>
        </p:txBody>
      </p:sp>
      <p:sp>
        <p:nvSpPr>
          <p:cNvPr id="24" name="output-copy-2">
            <a:extLst>
              <a:ext uri="{FF2B5EF4-FFF2-40B4-BE49-F238E27FC236}">
                <a16:creationId xmlns:a16="http://schemas.microsoft.com/office/drawing/2014/main" id="{B9BF4B82-BE00-DC26-11AC-DD3D0B8F7723}"/>
              </a:ext>
            </a:extLst>
          </p:cNvPr>
          <p:cNvSpPr txBox="1"/>
          <p:nvPr/>
        </p:nvSpPr>
        <p:spPr>
          <a:xfrm>
            <a:off x="8458200" y="5003800"/>
            <a:ext cx="3200400" cy="990600"/>
          </a:xfrm>
          <a:prstGeom prst="rect">
            <a:avLst/>
          </a:prstGeom>
          <a:noFill/>
        </p:spPr>
        <p:txBody>
          <a:bodyPr vert="horz" wrap="square" lIns="0" tIns="0" rIns="0" bIns="0" rtlCol="0" anchor="t">
            <a:noAutofit/>
          </a:bodyPr>
          <a:lstStyle/>
          <a:p>
            <a:r>
              <a:rPr lang="en-US" sz="1900">
                <a:solidFill>
                  <a:srgbClr val="203947"/>
                </a:solidFill>
                <a:latin typeface="Arial" panose="020B0604020202020204" pitchFamily="34" charset="0"/>
              </a:rPr>
              <a:t>Evidence-backed Iraqi Arabic draft, or a clear escalation note.</a:t>
            </a:r>
            <a:endParaRPr lang="en-DE" sz="1900">
              <a:solidFill>
                <a:srgbClr val="203947"/>
              </a:solidFill>
              <a:latin typeface="Arial" panose="020B0604020202020204" pitchFamily="34" charset="0"/>
            </a:endParaRPr>
          </a:p>
        </p:txBody>
      </p:sp>
      <p:sp>
        <p:nvSpPr>
          <p:cNvPr id="25" name="output-3">
            <a:extLst>
              <a:ext uri="{FF2B5EF4-FFF2-40B4-BE49-F238E27FC236}">
                <a16:creationId xmlns:a16="http://schemas.microsoft.com/office/drawing/2014/main" id="{E4101CDB-2638-48DE-3ADD-4C68145BE6E1}"/>
              </a:ext>
            </a:extLst>
          </p:cNvPr>
          <p:cNvSpPr/>
          <p:nvPr/>
        </p:nvSpPr>
        <p:spPr>
          <a:xfrm>
            <a:off x="12090400" y="4445000"/>
            <a:ext cx="3657600" cy="18034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6" name="output-3-heading">
            <a:extLst>
              <a:ext uri="{FF2B5EF4-FFF2-40B4-BE49-F238E27FC236}">
                <a16:creationId xmlns:a16="http://schemas.microsoft.com/office/drawing/2014/main" id="{A9170BF9-3089-2484-666B-874418FFD91B}"/>
              </a:ext>
            </a:extLst>
          </p:cNvPr>
          <p:cNvSpPr txBox="1"/>
          <p:nvPr/>
        </p:nvSpPr>
        <p:spPr>
          <a:xfrm>
            <a:off x="12319000" y="4635500"/>
            <a:ext cx="32004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04 / Review</a:t>
            </a:r>
            <a:endParaRPr lang="en-DE" sz="1400" b="1">
              <a:solidFill>
                <a:srgbClr val="087E83"/>
              </a:solidFill>
              <a:latin typeface="Arial" panose="020B0604020202020204" pitchFamily="34" charset="0"/>
            </a:endParaRPr>
          </a:p>
        </p:txBody>
      </p:sp>
      <p:sp>
        <p:nvSpPr>
          <p:cNvPr id="27" name="output-copy-3">
            <a:extLst>
              <a:ext uri="{FF2B5EF4-FFF2-40B4-BE49-F238E27FC236}">
                <a16:creationId xmlns:a16="http://schemas.microsoft.com/office/drawing/2014/main" id="{2FFA44DA-D976-65D4-7D43-C275510CFEDA}"/>
              </a:ext>
            </a:extLst>
          </p:cNvPr>
          <p:cNvSpPr txBox="1"/>
          <p:nvPr/>
        </p:nvSpPr>
        <p:spPr>
          <a:xfrm>
            <a:off x="12319000" y="5003800"/>
            <a:ext cx="3200400" cy="990600"/>
          </a:xfrm>
          <a:prstGeom prst="rect">
            <a:avLst/>
          </a:prstGeom>
          <a:noFill/>
        </p:spPr>
        <p:txBody>
          <a:bodyPr vert="horz" wrap="square" lIns="0" tIns="0" rIns="0" bIns="0" rtlCol="0" anchor="t">
            <a:noAutofit/>
          </a:bodyPr>
          <a:lstStyle/>
          <a:p>
            <a:r>
              <a:rPr lang="en-US" sz="1900">
                <a:solidFill>
                  <a:srgbClr val="203947"/>
                </a:solidFill>
                <a:latin typeface="Arial" panose="020B0604020202020204" pitchFamily="34" charset="0"/>
              </a:rPr>
              <a:t>Employee approves, edits, rejects or reassigns; batch summary.</a:t>
            </a:r>
            <a:endParaRPr lang="en-DE" sz="1900">
              <a:solidFill>
                <a:srgbClr val="203947"/>
              </a:solidFill>
              <a:latin typeface="Arial" panose="020B0604020202020204" pitchFamily="34" charset="0"/>
            </a:endParaRPr>
          </a:p>
        </p:txBody>
      </p:sp>
      <p:sp>
        <p:nvSpPr>
          <p:cNvPr id="28" name="current">
            <a:extLst>
              <a:ext uri="{FF2B5EF4-FFF2-40B4-BE49-F238E27FC236}">
                <a16:creationId xmlns:a16="http://schemas.microsoft.com/office/drawing/2014/main" id="{2BEF5D66-35B3-0BBB-901C-7101F16C040E}"/>
              </a:ext>
            </a:extLst>
          </p:cNvPr>
          <p:cNvSpPr/>
          <p:nvPr/>
        </p:nvSpPr>
        <p:spPr>
          <a:xfrm>
            <a:off x="508000" y="6502400"/>
            <a:ext cx="9144000" cy="18288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9" name="current-heading">
            <a:extLst>
              <a:ext uri="{FF2B5EF4-FFF2-40B4-BE49-F238E27FC236}">
                <a16:creationId xmlns:a16="http://schemas.microsoft.com/office/drawing/2014/main" id="{DE12B8A3-A6C3-9A26-40B0-6B6D029A40F4}"/>
              </a:ext>
            </a:extLst>
          </p:cNvPr>
          <p:cNvSpPr txBox="1"/>
          <p:nvPr/>
        </p:nvSpPr>
        <p:spPr>
          <a:xfrm>
            <a:off x="736600" y="6692900"/>
            <a:ext cx="86868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CURRENT REPOSITORY FOUNDATION</a:t>
            </a:r>
            <a:endParaRPr lang="en-DE" sz="1400" b="1">
              <a:solidFill>
                <a:srgbClr val="087E83"/>
              </a:solidFill>
              <a:latin typeface="Arial" panose="020B0604020202020204" pitchFamily="34" charset="0"/>
            </a:endParaRPr>
          </a:p>
        </p:txBody>
      </p:sp>
      <p:sp>
        <p:nvSpPr>
          <p:cNvPr id="30" name="current-copy">
            <a:extLst>
              <a:ext uri="{FF2B5EF4-FFF2-40B4-BE49-F238E27FC236}">
                <a16:creationId xmlns:a16="http://schemas.microsoft.com/office/drawing/2014/main" id="{CD381E30-281B-F7BC-D7E9-F1E684B17C3E}"/>
              </a:ext>
            </a:extLst>
          </p:cNvPr>
          <p:cNvSpPr txBox="1"/>
          <p:nvPr/>
        </p:nvSpPr>
        <p:spPr>
          <a:xfrm>
            <a:off x="736600" y="7023100"/>
            <a:ext cx="8686800" cy="647700"/>
          </a:xfrm>
          <a:prstGeom prst="rect">
            <a:avLst/>
          </a:prstGeom>
          <a:noFill/>
        </p:spPr>
        <p:txBody>
          <a:bodyPr vert="horz" wrap="square" lIns="0" tIns="0" rIns="0" bIns="0" rtlCol="0" anchor="t">
            <a:noAutofit/>
          </a:bodyPr>
          <a:lstStyle/>
          <a:p>
            <a:r>
              <a:rPr lang="en-US" sz="1900" dirty="0">
                <a:solidFill>
                  <a:srgbClr val="203947"/>
                </a:solidFill>
                <a:latin typeface="Arial" panose="020B0604020202020204" pitchFamily="34" charset="0"/>
              </a:rPr>
              <a:t>Core pipeline + CLI, support workspace, review APIs and document upload are present.</a:t>
            </a:r>
            <a:endParaRPr lang="en-DE" sz="1900" dirty="0">
              <a:solidFill>
                <a:srgbClr val="203947"/>
              </a:solidFill>
              <a:latin typeface="Arial" panose="020B0604020202020204" pitchFamily="34" charset="0"/>
            </a:endParaRPr>
          </a:p>
        </p:txBody>
      </p:sp>
      <p:sp>
        <p:nvSpPr>
          <p:cNvPr id="32" name="motivation">
            <a:extLst>
              <a:ext uri="{FF2B5EF4-FFF2-40B4-BE49-F238E27FC236}">
                <a16:creationId xmlns:a16="http://schemas.microsoft.com/office/drawing/2014/main" id="{81DF7FC9-F66E-F204-9631-72A9A911F173}"/>
              </a:ext>
            </a:extLst>
          </p:cNvPr>
          <p:cNvSpPr/>
          <p:nvPr/>
        </p:nvSpPr>
        <p:spPr>
          <a:xfrm>
            <a:off x="10033000" y="6502400"/>
            <a:ext cx="5715000" cy="18288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motivation-heading">
            <a:extLst>
              <a:ext uri="{FF2B5EF4-FFF2-40B4-BE49-F238E27FC236}">
                <a16:creationId xmlns:a16="http://schemas.microsoft.com/office/drawing/2014/main" id="{50058AB7-135E-EB2D-2DE4-0F6583073490}"/>
              </a:ext>
            </a:extLst>
          </p:cNvPr>
          <p:cNvSpPr txBox="1"/>
          <p:nvPr/>
        </p:nvSpPr>
        <p:spPr>
          <a:xfrm>
            <a:off x="10261600" y="6692900"/>
            <a:ext cx="5257800" cy="279400"/>
          </a:xfrm>
          <a:prstGeom prst="rect">
            <a:avLst/>
          </a:prstGeom>
          <a:noFill/>
        </p:spPr>
        <p:txBody>
          <a:bodyPr vert="horz" wrap="square" lIns="0" tIns="0" rIns="0" bIns="0" rtlCol="0" anchor="t">
            <a:noAutofit/>
          </a:bodyPr>
          <a:lstStyle/>
          <a:p>
            <a:r>
              <a:rPr lang="en-US" sz="1400" b="1" dirty="0">
                <a:solidFill>
                  <a:srgbClr val="087E83"/>
                </a:solidFill>
                <a:latin typeface="Arial" panose="020B0604020202020204" pitchFamily="34" charset="0"/>
              </a:rPr>
              <a:t>WHY THIS PROJECT</a:t>
            </a:r>
            <a:endParaRPr lang="en-DE" sz="1400" b="1" dirty="0">
              <a:solidFill>
                <a:srgbClr val="087E83"/>
              </a:solidFill>
              <a:latin typeface="Arial" panose="020B0604020202020204" pitchFamily="34" charset="0"/>
            </a:endParaRPr>
          </a:p>
        </p:txBody>
      </p:sp>
      <p:sp>
        <p:nvSpPr>
          <p:cNvPr id="34" name="motivation-copy">
            <a:extLst>
              <a:ext uri="{FF2B5EF4-FFF2-40B4-BE49-F238E27FC236}">
                <a16:creationId xmlns:a16="http://schemas.microsoft.com/office/drawing/2014/main" id="{4C1BE316-7843-C7B1-3960-C536A05C8326}"/>
              </a:ext>
            </a:extLst>
          </p:cNvPr>
          <p:cNvSpPr txBox="1"/>
          <p:nvPr/>
        </p:nvSpPr>
        <p:spPr>
          <a:xfrm>
            <a:off x="10261600" y="7048500"/>
            <a:ext cx="5257800" cy="952500"/>
          </a:xfrm>
          <a:prstGeom prst="rect">
            <a:avLst/>
          </a:prstGeom>
          <a:noFill/>
        </p:spPr>
        <p:txBody>
          <a:bodyPr vert="horz" wrap="square" lIns="0" tIns="0" rIns="0" bIns="0" rtlCol="0" anchor="t">
            <a:noAutofit/>
          </a:bodyPr>
          <a:lstStyle/>
          <a:p>
            <a:r>
              <a:rPr lang="en-US" sz="1900" dirty="0" err="1">
                <a:solidFill>
                  <a:srgbClr val="203947"/>
                </a:solidFill>
                <a:latin typeface="Arial" panose="020B0604020202020204" pitchFamily="34" charset="0"/>
              </a:rPr>
              <a:t>Zaincash</a:t>
            </a:r>
            <a:r>
              <a:rPr lang="en-US" sz="1900">
                <a:solidFill>
                  <a:srgbClr val="203947"/>
                </a:solidFill>
                <a:latin typeface="Arial" panose="020B0604020202020204" pitchFamily="34" charset="0"/>
              </a:rPr>
              <a:t> support </a:t>
            </a:r>
            <a:r>
              <a:rPr lang="en-US" sz="1900" dirty="0">
                <a:solidFill>
                  <a:srgbClr val="203947"/>
                </a:solidFill>
                <a:latin typeface="Arial" panose="020B0604020202020204" pitchFamily="34" charset="0"/>
              </a:rPr>
              <a:t>experience and wallet-customer experience motivate a practical, staff-facing copilot.</a:t>
            </a:r>
            <a:endParaRPr lang="en-DE" sz="1900" dirty="0">
              <a:solidFill>
                <a:srgbClr val="203947"/>
              </a:solidFill>
              <a:latin typeface="Arial" panose="020B0604020202020204" pitchFamily="34" charset="0"/>
            </a:endParaRPr>
          </a:p>
        </p:txBody>
      </p:sp>
      <p:sp>
        <p:nvSpPr>
          <p:cNvPr id="35" name="footer-rule">
            <a:extLst>
              <a:ext uri="{FF2B5EF4-FFF2-40B4-BE49-F238E27FC236}">
                <a16:creationId xmlns:a16="http://schemas.microsoft.com/office/drawing/2014/main" id="{AE365A09-4418-42B2-5E86-016111817DF4}"/>
              </a:ext>
            </a:extLst>
          </p:cNvPr>
          <p:cNvSpPr/>
          <p:nvPr/>
        </p:nvSpPr>
        <p:spPr>
          <a:xfrm>
            <a:off x="508000" y="8699500"/>
            <a:ext cx="15240000" cy="12700"/>
          </a:xfrm>
          <a:prstGeom prst="rect">
            <a:avLst/>
          </a:prstGeom>
          <a:solidFill>
            <a:srgbClr val="D9E3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footer">
            <a:extLst>
              <a:ext uri="{FF2B5EF4-FFF2-40B4-BE49-F238E27FC236}">
                <a16:creationId xmlns:a16="http://schemas.microsoft.com/office/drawing/2014/main" id="{A29281FF-77ED-9ECB-4D20-5C2C7F6F54D2}"/>
              </a:ext>
            </a:extLst>
          </p:cNvPr>
          <p:cNvSpPr txBox="1"/>
          <p:nvPr/>
        </p:nvSpPr>
        <p:spPr>
          <a:xfrm>
            <a:off x="508000" y="8826500"/>
            <a:ext cx="15240000" cy="215900"/>
          </a:xfrm>
          <a:prstGeom prst="rect">
            <a:avLst/>
          </a:prstGeom>
          <a:noFill/>
        </p:spPr>
        <p:txBody>
          <a:bodyPr vert="horz" wrap="square" lIns="0" tIns="0" rIns="0" bIns="0" rtlCol="0" anchor="t">
            <a:noAutofit/>
          </a:bodyPr>
          <a:lstStyle/>
          <a:p>
            <a:r>
              <a:rPr lang="en-US" sz="1150">
                <a:solidFill>
                  <a:srgbClr val="536873"/>
                </a:solidFill>
                <a:latin typeface="Arial" panose="020B0604020202020204" pitchFamily="34" charset="0"/>
              </a:rPr>
              <a:t>SYNTHETIC DATA ONLY  |  Human-reviewed replies  |  No real wallet or messaging integration</a:t>
            </a:r>
            <a:endParaRPr lang="en-DE" sz="1150">
              <a:solidFill>
                <a:srgbClr val="536873"/>
              </a:solidFill>
              <a:latin typeface="Arial" panose="020B0604020202020204" pitchFamily="34" charset="0"/>
            </a:endParaRPr>
          </a:p>
        </p:txBody>
      </p:sp>
    </p:spTree>
    <p:extLst>
      <p:ext uri="{BB962C8B-B14F-4D97-AF65-F5344CB8AC3E}">
        <p14:creationId xmlns:p14="http://schemas.microsoft.com/office/powerpoint/2010/main" val="3457314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7"/>
        </a:solidFill>
        <a:effectLst/>
      </p:bgPr>
    </p:bg>
    <p:spTree>
      <p:nvGrpSpPr>
        <p:cNvPr id="1" name=""/>
        <p:cNvGrpSpPr/>
        <p:nvPr/>
      </p:nvGrpSpPr>
      <p:grpSpPr>
        <a:xfrm>
          <a:off x="0" y="0"/>
          <a:ext cx="0" cy="0"/>
          <a:chOff x="0" y="0"/>
          <a:chExt cx="0" cy="0"/>
        </a:xfrm>
      </p:grpSpPr>
      <p:sp>
        <p:nvSpPr>
          <p:cNvPr id="2" name="header">
            <a:extLst>
              <a:ext uri="{FF2B5EF4-FFF2-40B4-BE49-F238E27FC236}">
                <a16:creationId xmlns:a16="http://schemas.microsoft.com/office/drawing/2014/main" id="{0227150E-9D00-CB9F-7849-0D6E50937085}"/>
              </a:ext>
            </a:extLst>
          </p:cNvPr>
          <p:cNvSpPr/>
          <p:nvPr/>
        </p:nvSpPr>
        <p:spPr>
          <a:xfrm>
            <a:off x="0" y="0"/>
            <a:ext cx="16256000" cy="14732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accent">
            <a:extLst>
              <a:ext uri="{FF2B5EF4-FFF2-40B4-BE49-F238E27FC236}">
                <a16:creationId xmlns:a16="http://schemas.microsoft.com/office/drawing/2014/main" id="{513DFA4E-816E-9489-2CBD-EDDB1F917BE0}"/>
              </a:ext>
            </a:extLst>
          </p:cNvPr>
          <p:cNvSpPr/>
          <p:nvPr/>
        </p:nvSpPr>
        <p:spPr>
          <a:xfrm>
            <a:off x="0" y="1422400"/>
            <a:ext cx="16256000" cy="50800"/>
          </a:xfrm>
          <a:prstGeom prst="rect">
            <a:avLst/>
          </a:prstGeom>
          <a:solidFill>
            <a:srgbClr val="087E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eyebrow">
            <a:extLst>
              <a:ext uri="{FF2B5EF4-FFF2-40B4-BE49-F238E27FC236}">
                <a16:creationId xmlns:a16="http://schemas.microsoft.com/office/drawing/2014/main" id="{590B7873-B003-3A58-1F67-BB4619CE825C}"/>
              </a:ext>
            </a:extLst>
          </p:cNvPr>
          <p:cNvSpPr txBox="1"/>
          <p:nvPr/>
        </p:nvSpPr>
        <p:spPr>
          <a:xfrm>
            <a:off x="508000" y="203200"/>
            <a:ext cx="13970000" cy="241300"/>
          </a:xfrm>
          <a:prstGeom prst="rect">
            <a:avLst/>
          </a:prstGeom>
          <a:noFill/>
        </p:spPr>
        <p:txBody>
          <a:bodyPr vert="horz" wrap="square" lIns="0" tIns="0" rIns="0" bIns="0" rtlCol="0" anchor="t">
            <a:noAutofit/>
          </a:bodyPr>
          <a:lstStyle/>
          <a:p>
            <a:r>
              <a:rPr lang="en-US" sz="1200" b="1">
                <a:solidFill>
                  <a:srgbClr val="B5DCD9"/>
                </a:solidFill>
                <a:latin typeface="Arial" panose="020B0604020202020204" pitchFamily="34" charset="0"/>
              </a:rPr>
              <a:t>SAIF ALMALIKI  /  FAZAA  /  TOPIC 06: SUPPORT PIPELINE AUTOMATION</a:t>
            </a:r>
            <a:endParaRPr lang="en-DE" sz="1200" b="1">
              <a:solidFill>
                <a:srgbClr val="B5DCD9"/>
              </a:solidFill>
              <a:latin typeface="Arial" panose="020B0604020202020204" pitchFamily="34" charset="0"/>
            </a:endParaRPr>
          </a:p>
        </p:txBody>
      </p:sp>
      <p:sp>
        <p:nvSpPr>
          <p:cNvPr id="5" name="title">
            <a:extLst>
              <a:ext uri="{FF2B5EF4-FFF2-40B4-BE49-F238E27FC236}">
                <a16:creationId xmlns:a16="http://schemas.microsoft.com/office/drawing/2014/main" id="{72AB0967-E9B7-7E14-AE2F-5092F23C507D}"/>
              </a:ext>
            </a:extLst>
          </p:cNvPr>
          <p:cNvSpPr txBox="1"/>
          <p:nvPr/>
        </p:nvSpPr>
        <p:spPr>
          <a:xfrm>
            <a:off x="508000" y="520700"/>
            <a:ext cx="14859000" cy="546100"/>
          </a:xfrm>
          <a:prstGeom prst="rect">
            <a:avLst/>
          </a:prstGeom>
          <a:noFill/>
        </p:spPr>
        <p:txBody>
          <a:bodyPr vert="horz" wrap="square" lIns="0" tIns="0" rIns="0" bIns="0" rtlCol="0" anchor="t">
            <a:noAutofit/>
          </a:bodyPr>
          <a:lstStyle/>
          <a:p>
            <a:r>
              <a:rPr lang="en-US" sz="3200" b="1">
                <a:solidFill>
                  <a:srgbClr val="FFFFFF"/>
                </a:solidFill>
                <a:latin typeface="Arial" panose="020B0604020202020204" pitchFamily="34" charset="0"/>
              </a:rPr>
              <a:t>Technical architecture | Local support pipeline</a:t>
            </a:r>
            <a:endParaRPr lang="en-DE" sz="3200" b="1">
              <a:solidFill>
                <a:srgbClr val="FFFFFF"/>
              </a:solidFill>
              <a:latin typeface="Arial" panose="020B0604020202020204" pitchFamily="34" charset="0"/>
            </a:endParaRPr>
          </a:p>
        </p:txBody>
      </p:sp>
      <p:sp>
        <p:nvSpPr>
          <p:cNvPr id="6" name="subtitle">
            <a:extLst>
              <a:ext uri="{FF2B5EF4-FFF2-40B4-BE49-F238E27FC236}">
                <a16:creationId xmlns:a16="http://schemas.microsoft.com/office/drawing/2014/main" id="{FEBBD754-E203-64A3-DDD7-28C32951E648}"/>
              </a:ext>
            </a:extLst>
          </p:cNvPr>
          <p:cNvSpPr txBox="1"/>
          <p:nvPr/>
        </p:nvSpPr>
        <p:spPr>
          <a:xfrm>
            <a:off x="508000" y="1104900"/>
            <a:ext cx="14859000" cy="279400"/>
          </a:xfrm>
          <a:prstGeom prst="rect">
            <a:avLst/>
          </a:prstGeom>
          <a:noFill/>
        </p:spPr>
        <p:txBody>
          <a:bodyPr vert="horz" wrap="square" lIns="0" tIns="0" rIns="0" bIns="0" rtlCol="0" anchor="t">
            <a:noAutofit/>
          </a:bodyPr>
          <a:lstStyle/>
          <a:p>
            <a:r>
              <a:rPr lang="en-US" sz="1600">
                <a:solidFill>
                  <a:srgbClr val="DDE8EB"/>
                </a:solidFill>
                <a:latin typeface="Arial" panose="020B0604020202020204" pitchFamily="34" charset="0"/>
              </a:rPr>
              <a:t>React review workspace + FastAPI + a shared LangGraph workflow, with external model calls from the backend.</a:t>
            </a:r>
            <a:endParaRPr lang="en-DE" sz="1600">
              <a:solidFill>
                <a:srgbClr val="DDE8EB"/>
              </a:solidFill>
              <a:latin typeface="Arial" panose="020B0604020202020204" pitchFamily="34" charset="0"/>
            </a:endParaRPr>
          </a:p>
        </p:txBody>
      </p:sp>
      <p:sp>
        <p:nvSpPr>
          <p:cNvPr id="7" name="page">
            <a:extLst>
              <a:ext uri="{FF2B5EF4-FFF2-40B4-BE49-F238E27FC236}">
                <a16:creationId xmlns:a16="http://schemas.microsoft.com/office/drawing/2014/main" id="{73770860-8EA7-62E8-C537-2729C07C4859}"/>
              </a:ext>
            </a:extLst>
          </p:cNvPr>
          <p:cNvSpPr txBox="1"/>
          <p:nvPr/>
        </p:nvSpPr>
        <p:spPr>
          <a:xfrm>
            <a:off x="14986000" y="215900"/>
            <a:ext cx="762000" cy="241300"/>
          </a:xfrm>
          <a:prstGeom prst="rect">
            <a:avLst/>
          </a:prstGeom>
          <a:noFill/>
        </p:spPr>
        <p:txBody>
          <a:bodyPr vert="horz" wrap="square" lIns="0" tIns="0" rIns="0" bIns="0" rtlCol="0" anchor="t">
            <a:noAutofit/>
          </a:bodyPr>
          <a:lstStyle/>
          <a:p>
            <a:pPr algn="r"/>
            <a:r>
              <a:rPr lang="en-DE" sz="1200">
                <a:solidFill>
                  <a:srgbClr val="B5DCD9"/>
                </a:solidFill>
                <a:latin typeface="Arial" panose="020B0604020202020204" pitchFamily="34" charset="0"/>
              </a:rPr>
              <a:t>04 / 05</a:t>
            </a:r>
          </a:p>
        </p:txBody>
      </p:sp>
      <p:sp>
        <p:nvSpPr>
          <p:cNvPr id="8" name="architecture-local">
            <a:extLst>
              <a:ext uri="{FF2B5EF4-FFF2-40B4-BE49-F238E27FC236}">
                <a16:creationId xmlns:a16="http://schemas.microsoft.com/office/drawing/2014/main" id="{FBE5F57D-35C5-BED9-0B2A-A25BB8B95418}"/>
              </a:ext>
            </a:extLst>
          </p:cNvPr>
          <p:cNvSpPr/>
          <p:nvPr/>
        </p:nvSpPr>
        <p:spPr>
          <a:xfrm>
            <a:off x="508000" y="1778000"/>
            <a:ext cx="11684000" cy="6604000"/>
          </a:xfrm>
          <a:prstGeom prst="rect">
            <a:avLst/>
          </a:prstGeom>
          <a:solidFill>
            <a:srgbClr val="FFFFFF"/>
          </a:solidFill>
          <a:ln w="12700">
            <a:solidFill>
              <a:srgbClr val="A3B4B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architecture-runtime">
            <a:extLst>
              <a:ext uri="{FF2B5EF4-FFF2-40B4-BE49-F238E27FC236}">
                <a16:creationId xmlns:a16="http://schemas.microsoft.com/office/drawing/2014/main" id="{AE76FE22-DFEF-3F88-E015-050A1DABF3B5}"/>
              </a:ext>
            </a:extLst>
          </p:cNvPr>
          <p:cNvSpPr txBox="1"/>
          <p:nvPr/>
        </p:nvSpPr>
        <p:spPr>
          <a:xfrm>
            <a:off x="711200" y="1905000"/>
            <a:ext cx="11277600" cy="266700"/>
          </a:xfrm>
          <a:prstGeom prst="rect">
            <a:avLst/>
          </a:prstGeom>
          <a:noFill/>
        </p:spPr>
        <p:txBody>
          <a:bodyPr vert="horz" wrap="square" lIns="0" tIns="0" rIns="0" bIns="0" rtlCol="0" anchor="t">
            <a:noAutofit/>
          </a:bodyPr>
          <a:lstStyle/>
          <a:p>
            <a:r>
              <a:rPr lang="en-US" sz="1300" b="1">
                <a:solidFill>
                  <a:srgbClr val="536873"/>
                </a:solidFill>
                <a:latin typeface="Arial" panose="020B0604020202020204" pitchFamily="34" charset="0"/>
              </a:rPr>
              <a:t>LOCAL RUNTIME  /  WSL Ubuntu + uv  /  Docker database  /  Python 3.11+</a:t>
            </a:r>
            <a:endParaRPr lang="en-DE" sz="1300" b="1">
              <a:solidFill>
                <a:srgbClr val="536873"/>
              </a:solidFill>
              <a:latin typeface="Arial" panose="020B0604020202020204" pitchFamily="34" charset="0"/>
            </a:endParaRPr>
          </a:p>
        </p:txBody>
      </p:sp>
      <p:sp>
        <p:nvSpPr>
          <p:cNvPr id="10" name="architecture-ui">
            <a:extLst>
              <a:ext uri="{FF2B5EF4-FFF2-40B4-BE49-F238E27FC236}">
                <a16:creationId xmlns:a16="http://schemas.microsoft.com/office/drawing/2014/main" id="{8ED8E13B-641D-3CD6-67C2-B3147500ACD6}"/>
              </a:ext>
            </a:extLst>
          </p:cNvPr>
          <p:cNvSpPr/>
          <p:nvPr/>
        </p:nvSpPr>
        <p:spPr>
          <a:xfrm>
            <a:off x="711200" y="2286000"/>
            <a:ext cx="3352800" cy="965200"/>
          </a:xfrm>
          <a:prstGeom prst="rect">
            <a:avLst/>
          </a:prstGeom>
          <a:solidFill>
            <a:srgbClr val="E4F0FB"/>
          </a:solidFill>
          <a:ln w="12700">
            <a:solidFill>
              <a:srgbClr val="347E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architecture-ui-heading">
            <a:extLst>
              <a:ext uri="{FF2B5EF4-FFF2-40B4-BE49-F238E27FC236}">
                <a16:creationId xmlns:a16="http://schemas.microsoft.com/office/drawing/2014/main" id="{9B54142A-10F1-9FBD-62F0-C3D951DB377C}"/>
              </a:ext>
            </a:extLst>
          </p:cNvPr>
          <p:cNvSpPr txBox="1"/>
          <p:nvPr/>
        </p:nvSpPr>
        <p:spPr>
          <a:xfrm>
            <a:off x="838200" y="2387600"/>
            <a:ext cx="3098800" cy="2921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Review workspace</a:t>
            </a:r>
            <a:endParaRPr lang="en-DE" b="1">
              <a:solidFill>
                <a:srgbClr val="203947"/>
              </a:solidFill>
              <a:latin typeface="Arial" panose="020B0604020202020204" pitchFamily="34" charset="0"/>
            </a:endParaRPr>
          </a:p>
        </p:txBody>
      </p:sp>
      <p:sp>
        <p:nvSpPr>
          <p:cNvPr id="12" name="architecture-ui-body">
            <a:extLst>
              <a:ext uri="{FF2B5EF4-FFF2-40B4-BE49-F238E27FC236}">
                <a16:creationId xmlns:a16="http://schemas.microsoft.com/office/drawing/2014/main" id="{1E4929F3-F475-8181-D508-35C23FF25C56}"/>
              </a:ext>
            </a:extLst>
          </p:cNvPr>
          <p:cNvSpPr txBox="1"/>
          <p:nvPr/>
        </p:nvSpPr>
        <p:spPr>
          <a:xfrm>
            <a:off x="838200" y="2692400"/>
            <a:ext cx="3098800" cy="2667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Paste, CSV/JSON + ticket review</a:t>
            </a:r>
            <a:endParaRPr lang="en-DE" sz="1250">
              <a:solidFill>
                <a:srgbClr val="536873"/>
              </a:solidFill>
              <a:latin typeface="Arial" panose="020B0604020202020204" pitchFamily="34" charset="0"/>
            </a:endParaRPr>
          </a:p>
        </p:txBody>
      </p:sp>
      <p:sp>
        <p:nvSpPr>
          <p:cNvPr id="13" name="architecture-ui-stack">
            <a:extLst>
              <a:ext uri="{FF2B5EF4-FFF2-40B4-BE49-F238E27FC236}">
                <a16:creationId xmlns:a16="http://schemas.microsoft.com/office/drawing/2014/main" id="{BF4B5FA8-7874-4CC5-3B6D-0BA7727240CA}"/>
              </a:ext>
            </a:extLst>
          </p:cNvPr>
          <p:cNvSpPr txBox="1"/>
          <p:nvPr/>
        </p:nvSpPr>
        <p:spPr>
          <a:xfrm>
            <a:off x="838200" y="2984500"/>
            <a:ext cx="3098800" cy="228600"/>
          </a:xfrm>
          <a:prstGeom prst="rect">
            <a:avLst/>
          </a:prstGeom>
          <a:noFill/>
        </p:spPr>
        <p:txBody>
          <a:bodyPr vert="horz" wrap="square" lIns="0" tIns="0" rIns="0" bIns="0" rtlCol="0" anchor="t">
            <a:noAutofit/>
          </a:bodyPr>
          <a:lstStyle/>
          <a:p>
            <a:r>
              <a:rPr lang="en-US" sz="1150" b="1">
                <a:solidFill>
                  <a:srgbClr val="347EBD"/>
                </a:solidFill>
                <a:latin typeface="Arial" panose="020B0604020202020204" pitchFamily="34" charset="0"/>
              </a:rPr>
              <a:t>React 19 / TypeScript / Vite :5173</a:t>
            </a:r>
            <a:endParaRPr lang="en-DE" sz="1150" b="1">
              <a:solidFill>
                <a:srgbClr val="347EBD"/>
              </a:solidFill>
              <a:latin typeface="Arial" panose="020B0604020202020204" pitchFamily="34" charset="0"/>
            </a:endParaRPr>
          </a:p>
        </p:txBody>
      </p:sp>
      <p:sp>
        <p:nvSpPr>
          <p:cNvPr id="14" name="architecture-api">
            <a:extLst>
              <a:ext uri="{FF2B5EF4-FFF2-40B4-BE49-F238E27FC236}">
                <a16:creationId xmlns:a16="http://schemas.microsoft.com/office/drawing/2014/main" id="{289BDD66-55AE-9F6C-9554-627CECE0E714}"/>
              </a:ext>
            </a:extLst>
          </p:cNvPr>
          <p:cNvSpPr/>
          <p:nvPr/>
        </p:nvSpPr>
        <p:spPr>
          <a:xfrm>
            <a:off x="4521200" y="2286000"/>
            <a:ext cx="3556000" cy="965200"/>
          </a:xfrm>
          <a:prstGeom prst="rect">
            <a:avLst/>
          </a:prstGeom>
          <a:solidFill>
            <a:srgbClr val="E7F3F1"/>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architecture-api-heading">
            <a:extLst>
              <a:ext uri="{FF2B5EF4-FFF2-40B4-BE49-F238E27FC236}">
                <a16:creationId xmlns:a16="http://schemas.microsoft.com/office/drawing/2014/main" id="{B367C871-7789-0F2A-0E08-43ABFBC585A7}"/>
              </a:ext>
            </a:extLst>
          </p:cNvPr>
          <p:cNvSpPr txBox="1"/>
          <p:nvPr/>
        </p:nvSpPr>
        <p:spPr>
          <a:xfrm>
            <a:off x="4648200" y="2387600"/>
            <a:ext cx="3302000" cy="2921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FastAPI / REST</a:t>
            </a:r>
            <a:endParaRPr lang="en-DE" b="1">
              <a:solidFill>
                <a:srgbClr val="203947"/>
              </a:solidFill>
              <a:latin typeface="Arial" panose="020B0604020202020204" pitchFamily="34" charset="0"/>
            </a:endParaRPr>
          </a:p>
        </p:txBody>
      </p:sp>
      <p:sp>
        <p:nvSpPr>
          <p:cNvPr id="16" name="architecture-api-body">
            <a:extLst>
              <a:ext uri="{FF2B5EF4-FFF2-40B4-BE49-F238E27FC236}">
                <a16:creationId xmlns:a16="http://schemas.microsoft.com/office/drawing/2014/main" id="{E5382E93-052B-E7FD-FE64-CCA74BDAF2B9}"/>
              </a:ext>
            </a:extLst>
          </p:cNvPr>
          <p:cNvSpPr txBox="1"/>
          <p:nvPr/>
        </p:nvSpPr>
        <p:spPr>
          <a:xfrm>
            <a:off x="4648200" y="2692400"/>
            <a:ext cx="3302000" cy="2667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Batch jobs, results and review APIs</a:t>
            </a:r>
            <a:endParaRPr lang="en-DE" sz="1250">
              <a:solidFill>
                <a:srgbClr val="536873"/>
              </a:solidFill>
              <a:latin typeface="Arial" panose="020B0604020202020204" pitchFamily="34" charset="0"/>
            </a:endParaRPr>
          </a:p>
        </p:txBody>
      </p:sp>
      <p:sp>
        <p:nvSpPr>
          <p:cNvPr id="17" name="architecture-api-stack">
            <a:extLst>
              <a:ext uri="{FF2B5EF4-FFF2-40B4-BE49-F238E27FC236}">
                <a16:creationId xmlns:a16="http://schemas.microsoft.com/office/drawing/2014/main" id="{71C43F5D-47AF-A47C-4FD4-85FB90D04AAB}"/>
              </a:ext>
            </a:extLst>
          </p:cNvPr>
          <p:cNvSpPr txBox="1"/>
          <p:nvPr/>
        </p:nvSpPr>
        <p:spPr>
          <a:xfrm>
            <a:off x="4648200" y="2984500"/>
            <a:ext cx="33020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Python / Uvicorn :8000 / /api</a:t>
            </a:r>
            <a:endParaRPr lang="en-DE" sz="1150" b="1">
              <a:solidFill>
                <a:srgbClr val="087E83"/>
              </a:solidFill>
              <a:latin typeface="Arial" panose="020B0604020202020204" pitchFamily="34" charset="0"/>
            </a:endParaRPr>
          </a:p>
        </p:txBody>
      </p:sp>
      <p:sp>
        <p:nvSpPr>
          <p:cNvPr id="18" name="architecture-cli">
            <a:extLst>
              <a:ext uri="{FF2B5EF4-FFF2-40B4-BE49-F238E27FC236}">
                <a16:creationId xmlns:a16="http://schemas.microsoft.com/office/drawing/2014/main" id="{C8308425-0309-3557-F512-5BD705C006B1}"/>
              </a:ext>
            </a:extLst>
          </p:cNvPr>
          <p:cNvSpPr/>
          <p:nvPr/>
        </p:nvSpPr>
        <p:spPr>
          <a:xfrm>
            <a:off x="8534400" y="2286000"/>
            <a:ext cx="3454400" cy="965200"/>
          </a:xfrm>
          <a:prstGeom prst="rect">
            <a:avLst/>
          </a:prstGeom>
          <a:solidFill>
            <a:srgbClr val="F3F6F7"/>
          </a:solidFill>
          <a:ln w="12700">
            <a:solidFill>
              <a:srgbClr val="5368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9" name="architecture-cli-heading">
            <a:extLst>
              <a:ext uri="{FF2B5EF4-FFF2-40B4-BE49-F238E27FC236}">
                <a16:creationId xmlns:a16="http://schemas.microsoft.com/office/drawing/2014/main" id="{F41C0D11-1098-B794-9257-321FCD4CAD33}"/>
              </a:ext>
            </a:extLst>
          </p:cNvPr>
          <p:cNvSpPr txBox="1"/>
          <p:nvPr/>
        </p:nvSpPr>
        <p:spPr>
          <a:xfrm>
            <a:off x="8661400" y="2387600"/>
            <a:ext cx="3200400" cy="2921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CLI + configuration</a:t>
            </a:r>
            <a:endParaRPr lang="en-DE" b="1">
              <a:solidFill>
                <a:srgbClr val="203947"/>
              </a:solidFill>
              <a:latin typeface="Arial" panose="020B0604020202020204" pitchFamily="34" charset="0"/>
            </a:endParaRPr>
          </a:p>
        </p:txBody>
      </p:sp>
      <p:sp>
        <p:nvSpPr>
          <p:cNvPr id="20" name="architecture-cli-body">
            <a:extLst>
              <a:ext uri="{FF2B5EF4-FFF2-40B4-BE49-F238E27FC236}">
                <a16:creationId xmlns:a16="http://schemas.microsoft.com/office/drawing/2014/main" id="{C52AE0B9-194B-7F52-F12E-0A4E79EC176C}"/>
              </a:ext>
            </a:extLst>
          </p:cNvPr>
          <p:cNvSpPr txBox="1"/>
          <p:nvPr/>
        </p:nvSpPr>
        <p:spPr>
          <a:xfrm>
            <a:off x="8661400" y="2692400"/>
            <a:ext cx="3200400" cy="2667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Typer / uv -&gt; the same graph</a:t>
            </a:r>
            <a:endParaRPr lang="en-DE" sz="1250">
              <a:solidFill>
                <a:srgbClr val="536873"/>
              </a:solidFill>
              <a:latin typeface="Arial" panose="020B0604020202020204" pitchFamily="34" charset="0"/>
            </a:endParaRPr>
          </a:p>
        </p:txBody>
      </p:sp>
      <p:sp>
        <p:nvSpPr>
          <p:cNvPr id="21" name="architecture-cli-stack">
            <a:extLst>
              <a:ext uri="{FF2B5EF4-FFF2-40B4-BE49-F238E27FC236}">
                <a16:creationId xmlns:a16="http://schemas.microsoft.com/office/drawing/2014/main" id="{06491E53-71CE-B7A0-C210-3280897C2987}"/>
              </a:ext>
            </a:extLst>
          </p:cNvPr>
          <p:cNvSpPr txBox="1"/>
          <p:nvPr/>
        </p:nvSpPr>
        <p:spPr>
          <a:xfrm>
            <a:off x="8661400" y="2984500"/>
            <a:ext cx="3200400" cy="228600"/>
          </a:xfrm>
          <a:prstGeom prst="rect">
            <a:avLst/>
          </a:prstGeom>
          <a:noFill/>
        </p:spPr>
        <p:txBody>
          <a:bodyPr vert="horz" wrap="square" lIns="0" tIns="0" rIns="0" bIns="0" rtlCol="0" anchor="t">
            <a:noAutofit/>
          </a:bodyPr>
          <a:lstStyle/>
          <a:p>
            <a:r>
              <a:rPr lang="en-US" sz="1150" b="1">
                <a:solidFill>
                  <a:srgbClr val="536873"/>
                </a:solidFill>
                <a:latin typeface="Arial" panose="020B0604020202020204" pitchFamily="34" charset="0"/>
              </a:rPr>
              <a:t>jev | gemini | cascade / .env settings</a:t>
            </a:r>
            <a:endParaRPr lang="en-DE" sz="1150" b="1">
              <a:solidFill>
                <a:srgbClr val="536873"/>
              </a:solidFill>
              <a:latin typeface="Arial" panose="020B0604020202020204" pitchFamily="34" charset="0"/>
            </a:endParaRPr>
          </a:p>
        </p:txBody>
      </p:sp>
      <p:cxnSp>
        <p:nvCxnSpPr>
          <p:cNvPr id="22" name="architecture-ui-api">
            <a:extLst>
              <a:ext uri="{FF2B5EF4-FFF2-40B4-BE49-F238E27FC236}">
                <a16:creationId xmlns:a16="http://schemas.microsoft.com/office/drawing/2014/main" id="{F4F8BC64-8F86-4EE9-83C1-7D7F74D435AF}"/>
              </a:ext>
            </a:extLst>
          </p:cNvPr>
          <p:cNvCxnSpPr>
            <a:cxnSpLocks/>
            <a:stCxn id="10" idx="3"/>
            <a:endCxn id="14" idx="1"/>
          </p:cNvCxnSpPr>
          <p:nvPr/>
        </p:nvCxnSpPr>
        <p:spPr>
          <a:xfrm>
            <a:off x="4064000" y="2768600"/>
            <a:ext cx="457200" cy="0"/>
          </a:xfrm>
          <a:prstGeom prst="straightConnector1">
            <a:avLst/>
          </a:prstGeom>
          <a:ln w="22860">
            <a:solidFill>
              <a:srgbClr val="347EBD"/>
            </a:solidFill>
            <a:tailEnd type="arrow"/>
          </a:ln>
        </p:spPr>
        <p:style>
          <a:lnRef idx="2">
            <a:schemeClr val="accent1"/>
          </a:lnRef>
          <a:fillRef idx="0">
            <a:schemeClr val="accent1"/>
          </a:fillRef>
          <a:effectRef idx="1">
            <a:schemeClr val="accent1"/>
          </a:effectRef>
          <a:fontRef idx="minor">
            <a:schemeClr val="tx1"/>
          </a:fontRef>
        </p:style>
      </p:cxnSp>
      <p:sp>
        <p:nvSpPr>
          <p:cNvPr id="23" name="architecture-api-label">
            <a:extLst>
              <a:ext uri="{FF2B5EF4-FFF2-40B4-BE49-F238E27FC236}">
                <a16:creationId xmlns:a16="http://schemas.microsoft.com/office/drawing/2014/main" id="{A9AC557F-0181-63B9-1499-A205F9218392}"/>
              </a:ext>
            </a:extLst>
          </p:cNvPr>
          <p:cNvSpPr txBox="1"/>
          <p:nvPr/>
        </p:nvSpPr>
        <p:spPr>
          <a:xfrm>
            <a:off x="4102100" y="2425700"/>
            <a:ext cx="406400" cy="215900"/>
          </a:xfrm>
          <a:prstGeom prst="rect">
            <a:avLst/>
          </a:prstGeom>
          <a:noFill/>
        </p:spPr>
        <p:txBody>
          <a:bodyPr vert="horz" wrap="square" lIns="0" tIns="0" rIns="0" bIns="0" rtlCol="0" anchor="t">
            <a:noAutofit/>
          </a:bodyPr>
          <a:lstStyle/>
          <a:p>
            <a:pPr algn="ctr"/>
            <a:r>
              <a:rPr lang="en-US" sz="1150" b="1">
                <a:solidFill>
                  <a:srgbClr val="347EBD"/>
                </a:solidFill>
                <a:latin typeface="Arial" panose="020B0604020202020204" pitchFamily="34" charset="0"/>
              </a:rPr>
              <a:t>/api</a:t>
            </a:r>
            <a:endParaRPr lang="en-DE" sz="1150" b="1">
              <a:solidFill>
                <a:srgbClr val="347EBD"/>
              </a:solidFill>
              <a:latin typeface="Arial" panose="020B0604020202020204" pitchFamily="34" charset="0"/>
            </a:endParaRPr>
          </a:p>
        </p:txBody>
      </p:sp>
      <p:cxnSp>
        <p:nvCxnSpPr>
          <p:cNvPr id="24" name="architecture-api-start">
            <a:extLst>
              <a:ext uri="{FF2B5EF4-FFF2-40B4-BE49-F238E27FC236}">
                <a16:creationId xmlns:a16="http://schemas.microsoft.com/office/drawing/2014/main" id="{37978F1E-41D2-6AF8-BE07-F8F3A9A1BE97}"/>
              </a:ext>
            </a:extLst>
          </p:cNvPr>
          <p:cNvCxnSpPr/>
          <p:nvPr/>
        </p:nvCxnSpPr>
        <p:spPr>
          <a:xfrm>
            <a:off x="6299200" y="3251200"/>
            <a:ext cx="0" cy="30480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cxnSp>
        <p:nvCxnSpPr>
          <p:cNvPr id="25" name="architecture-cli-start">
            <a:extLst>
              <a:ext uri="{FF2B5EF4-FFF2-40B4-BE49-F238E27FC236}">
                <a16:creationId xmlns:a16="http://schemas.microsoft.com/office/drawing/2014/main" id="{0804625C-48CC-D075-DAB0-CB68EF9BA1F4}"/>
              </a:ext>
            </a:extLst>
          </p:cNvPr>
          <p:cNvCxnSpPr/>
          <p:nvPr/>
        </p:nvCxnSpPr>
        <p:spPr>
          <a:xfrm>
            <a:off x="10261600" y="3251200"/>
            <a:ext cx="0" cy="30480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cxnSp>
        <p:nvCxnSpPr>
          <p:cNvPr id="26" name="architecture-start-bus">
            <a:extLst>
              <a:ext uri="{FF2B5EF4-FFF2-40B4-BE49-F238E27FC236}">
                <a16:creationId xmlns:a16="http://schemas.microsoft.com/office/drawing/2014/main" id="{CEB950FA-8BF1-E611-BC7D-FDA60928513A}"/>
              </a:ext>
            </a:extLst>
          </p:cNvPr>
          <p:cNvCxnSpPr/>
          <p:nvPr/>
        </p:nvCxnSpPr>
        <p:spPr>
          <a:xfrm flipH="1">
            <a:off x="609600" y="3556000"/>
            <a:ext cx="9652000" cy="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cxnSp>
        <p:nvCxnSpPr>
          <p:cNvPr id="27" name="architecture-start-down">
            <a:extLst>
              <a:ext uri="{FF2B5EF4-FFF2-40B4-BE49-F238E27FC236}">
                <a16:creationId xmlns:a16="http://schemas.microsoft.com/office/drawing/2014/main" id="{5EE5B51E-BDD5-CD7F-5D63-592F7C9C4C59}"/>
              </a:ext>
            </a:extLst>
          </p:cNvPr>
          <p:cNvCxnSpPr/>
          <p:nvPr/>
        </p:nvCxnSpPr>
        <p:spPr>
          <a:xfrm>
            <a:off x="609600" y="3556000"/>
            <a:ext cx="0" cy="118110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sp>
        <p:nvSpPr>
          <p:cNvPr id="28" name="architecture-graph">
            <a:extLst>
              <a:ext uri="{FF2B5EF4-FFF2-40B4-BE49-F238E27FC236}">
                <a16:creationId xmlns:a16="http://schemas.microsoft.com/office/drawing/2014/main" id="{3D26D182-0EF4-2EB7-3121-2BD9EA89BCC0}"/>
              </a:ext>
            </a:extLst>
          </p:cNvPr>
          <p:cNvSpPr/>
          <p:nvPr/>
        </p:nvSpPr>
        <p:spPr>
          <a:xfrm>
            <a:off x="711200" y="3733800"/>
            <a:ext cx="11277600" cy="1676400"/>
          </a:xfrm>
          <a:prstGeom prst="rect">
            <a:avLst/>
          </a:prstGeom>
          <a:solidFill>
            <a:srgbClr val="F3F6F7"/>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9" name="architecture-graph-label">
            <a:extLst>
              <a:ext uri="{FF2B5EF4-FFF2-40B4-BE49-F238E27FC236}">
                <a16:creationId xmlns:a16="http://schemas.microsoft.com/office/drawing/2014/main" id="{5DE5A011-D986-3015-9B94-7B36E3AF39C9}"/>
              </a:ext>
            </a:extLst>
          </p:cNvPr>
          <p:cNvSpPr txBox="1"/>
          <p:nvPr/>
        </p:nvSpPr>
        <p:spPr>
          <a:xfrm>
            <a:off x="863600" y="3835400"/>
            <a:ext cx="9271000" cy="254000"/>
          </a:xfrm>
          <a:prstGeom prst="rect">
            <a:avLst/>
          </a:prstGeom>
          <a:noFill/>
        </p:spPr>
        <p:txBody>
          <a:bodyPr vert="horz" wrap="square" lIns="0" tIns="0" rIns="0" bIns="0" rtlCol="0" anchor="t">
            <a:noAutofit/>
          </a:bodyPr>
          <a:lstStyle/>
          <a:p>
            <a:r>
              <a:rPr lang="en-US" sz="1300" b="1">
                <a:solidFill>
                  <a:srgbClr val="087E83"/>
                </a:solidFill>
                <a:latin typeface="Arial" panose="020B0604020202020204" pitchFamily="34" charset="0"/>
              </a:rPr>
              <a:t>SHARED PYTHON / LANGGRAPH PIPELINE  -  default cascade path</a:t>
            </a:r>
            <a:endParaRPr lang="en-DE" sz="1300" b="1">
              <a:solidFill>
                <a:srgbClr val="087E83"/>
              </a:solidFill>
              <a:latin typeface="Arial" panose="020B0604020202020204" pitchFamily="34" charset="0"/>
            </a:endParaRPr>
          </a:p>
        </p:txBody>
      </p:sp>
      <p:sp>
        <p:nvSpPr>
          <p:cNvPr id="30" name="architecture-prepare">
            <a:extLst>
              <a:ext uri="{FF2B5EF4-FFF2-40B4-BE49-F238E27FC236}">
                <a16:creationId xmlns:a16="http://schemas.microsoft.com/office/drawing/2014/main" id="{BB27D2B1-E019-F3BF-D72F-E634B8EF31DE}"/>
              </a:ext>
            </a:extLst>
          </p:cNvPr>
          <p:cNvSpPr/>
          <p:nvPr/>
        </p:nvSpPr>
        <p:spPr>
          <a:xfrm>
            <a:off x="8636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1" name="architecture-prepare-heading">
            <a:extLst>
              <a:ext uri="{FF2B5EF4-FFF2-40B4-BE49-F238E27FC236}">
                <a16:creationId xmlns:a16="http://schemas.microsoft.com/office/drawing/2014/main" id="{DA639C78-2304-B899-F979-0D43C2D7C876}"/>
              </a:ext>
            </a:extLst>
          </p:cNvPr>
          <p:cNvSpPr txBox="1"/>
          <p:nvPr/>
        </p:nvSpPr>
        <p:spPr>
          <a:xfrm>
            <a:off x="9906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prepare</a:t>
            </a:r>
            <a:endParaRPr lang="en-DE" sz="1400" b="1">
              <a:solidFill>
                <a:srgbClr val="203947"/>
              </a:solidFill>
              <a:latin typeface="Arial" panose="020B0604020202020204" pitchFamily="34" charset="0"/>
            </a:endParaRPr>
          </a:p>
        </p:txBody>
      </p:sp>
      <p:sp>
        <p:nvSpPr>
          <p:cNvPr id="32" name="architecture-prepare-body">
            <a:extLst>
              <a:ext uri="{FF2B5EF4-FFF2-40B4-BE49-F238E27FC236}">
                <a16:creationId xmlns:a16="http://schemas.microsoft.com/office/drawing/2014/main" id="{CAB668F0-3314-0759-1963-C1969E97BA24}"/>
              </a:ext>
            </a:extLst>
          </p:cNvPr>
          <p:cNvSpPr txBox="1"/>
          <p:nvPr/>
        </p:nvSpPr>
        <p:spPr>
          <a:xfrm>
            <a:off x="9906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Normalize text</a:t>
            </a:r>
            <a:endParaRPr lang="en-DE" sz="1200">
              <a:solidFill>
                <a:srgbClr val="536873"/>
              </a:solidFill>
              <a:latin typeface="Arial" panose="020B0604020202020204" pitchFamily="34" charset="0"/>
            </a:endParaRPr>
          </a:p>
        </p:txBody>
      </p:sp>
      <p:sp>
        <p:nvSpPr>
          <p:cNvPr id="33" name="architecture-prepare-stack">
            <a:extLst>
              <a:ext uri="{FF2B5EF4-FFF2-40B4-BE49-F238E27FC236}">
                <a16:creationId xmlns:a16="http://schemas.microsoft.com/office/drawing/2014/main" id="{16DACFB2-3620-72C5-CC52-3CA6C66CB94F}"/>
              </a:ext>
            </a:extLst>
          </p:cNvPr>
          <p:cNvSpPr txBox="1"/>
          <p:nvPr/>
        </p:nvSpPr>
        <p:spPr>
          <a:xfrm>
            <a:off x="9906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PAN mask / regex</a:t>
            </a:r>
            <a:endParaRPr lang="en-DE" sz="1150" b="1">
              <a:solidFill>
                <a:srgbClr val="087E83"/>
              </a:solidFill>
              <a:latin typeface="Arial" panose="020B0604020202020204" pitchFamily="34" charset="0"/>
            </a:endParaRPr>
          </a:p>
        </p:txBody>
      </p:sp>
      <p:sp>
        <p:nvSpPr>
          <p:cNvPr id="34" name="architecture-jev">
            <a:extLst>
              <a:ext uri="{FF2B5EF4-FFF2-40B4-BE49-F238E27FC236}">
                <a16:creationId xmlns:a16="http://schemas.microsoft.com/office/drawing/2014/main" id="{D979CBCF-B8DC-D1BF-D083-742790D55216}"/>
              </a:ext>
            </a:extLst>
          </p:cNvPr>
          <p:cNvSpPr/>
          <p:nvPr/>
        </p:nvSpPr>
        <p:spPr>
          <a:xfrm>
            <a:off x="27432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architecture-jev-heading">
            <a:extLst>
              <a:ext uri="{FF2B5EF4-FFF2-40B4-BE49-F238E27FC236}">
                <a16:creationId xmlns:a16="http://schemas.microsoft.com/office/drawing/2014/main" id="{F419CCB1-6059-A5C7-F142-A3E20F976F5C}"/>
              </a:ext>
            </a:extLst>
          </p:cNvPr>
          <p:cNvSpPr txBox="1"/>
          <p:nvPr/>
        </p:nvSpPr>
        <p:spPr>
          <a:xfrm>
            <a:off x="28702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jev_classify</a:t>
            </a:r>
            <a:endParaRPr lang="en-DE" sz="1400" b="1">
              <a:solidFill>
                <a:srgbClr val="203947"/>
              </a:solidFill>
              <a:latin typeface="Arial" panose="020B0604020202020204" pitchFamily="34" charset="0"/>
            </a:endParaRPr>
          </a:p>
        </p:txBody>
      </p:sp>
      <p:sp>
        <p:nvSpPr>
          <p:cNvPr id="36" name="architecture-jev-body">
            <a:extLst>
              <a:ext uri="{FF2B5EF4-FFF2-40B4-BE49-F238E27FC236}">
                <a16:creationId xmlns:a16="http://schemas.microsoft.com/office/drawing/2014/main" id="{51D340AD-1F50-C4E7-804C-15CDDD2D7212}"/>
              </a:ext>
            </a:extLst>
          </p:cNvPr>
          <p:cNvSpPr txBox="1"/>
          <p:nvPr/>
        </p:nvSpPr>
        <p:spPr>
          <a:xfrm>
            <a:off x="28702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Category + flags</a:t>
            </a:r>
            <a:endParaRPr lang="en-DE" sz="1200">
              <a:solidFill>
                <a:srgbClr val="536873"/>
              </a:solidFill>
              <a:latin typeface="Arial" panose="020B0604020202020204" pitchFamily="34" charset="0"/>
            </a:endParaRPr>
          </a:p>
        </p:txBody>
      </p:sp>
      <p:sp>
        <p:nvSpPr>
          <p:cNvPr id="37" name="architecture-jev-stack">
            <a:extLst>
              <a:ext uri="{FF2B5EF4-FFF2-40B4-BE49-F238E27FC236}">
                <a16:creationId xmlns:a16="http://schemas.microsoft.com/office/drawing/2014/main" id="{A1E1A4F2-2F04-32D8-D0AF-BBD796F7ED19}"/>
              </a:ext>
            </a:extLst>
          </p:cNvPr>
          <p:cNvSpPr txBox="1"/>
          <p:nvPr/>
        </p:nvSpPr>
        <p:spPr>
          <a:xfrm>
            <a:off x="28702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Jev + order check</a:t>
            </a:r>
            <a:endParaRPr lang="en-DE" sz="1150" b="1">
              <a:solidFill>
                <a:srgbClr val="087E83"/>
              </a:solidFill>
              <a:latin typeface="Arial" panose="020B0604020202020204" pitchFamily="34" charset="0"/>
            </a:endParaRPr>
          </a:p>
        </p:txBody>
      </p:sp>
      <p:cxnSp>
        <p:nvCxnSpPr>
          <p:cNvPr id="38" name="architecture-stage-edge-1">
            <a:extLst>
              <a:ext uri="{FF2B5EF4-FFF2-40B4-BE49-F238E27FC236}">
                <a16:creationId xmlns:a16="http://schemas.microsoft.com/office/drawing/2014/main" id="{BC0D125B-A102-298A-22C2-3C36F9151410}"/>
              </a:ext>
            </a:extLst>
          </p:cNvPr>
          <p:cNvCxnSpPr>
            <a:cxnSpLocks/>
            <a:stCxn id="30" idx="3"/>
            <a:endCxn id="34" idx="1"/>
          </p:cNvCxnSpPr>
          <p:nvPr/>
        </p:nvCxnSpPr>
        <p:spPr>
          <a:xfrm>
            <a:off x="2438400" y="4737100"/>
            <a:ext cx="304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9" name="architecture-extract">
            <a:extLst>
              <a:ext uri="{FF2B5EF4-FFF2-40B4-BE49-F238E27FC236}">
                <a16:creationId xmlns:a16="http://schemas.microsoft.com/office/drawing/2014/main" id="{52E77FA6-6466-BBB8-7799-B753BF4DDCD0}"/>
              </a:ext>
            </a:extLst>
          </p:cNvPr>
          <p:cNvSpPr/>
          <p:nvPr/>
        </p:nvSpPr>
        <p:spPr>
          <a:xfrm>
            <a:off x="46228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0" name="architecture-extract-heading">
            <a:extLst>
              <a:ext uri="{FF2B5EF4-FFF2-40B4-BE49-F238E27FC236}">
                <a16:creationId xmlns:a16="http://schemas.microsoft.com/office/drawing/2014/main" id="{74986B8E-4173-CA5B-495A-EB8F40A24C62}"/>
              </a:ext>
            </a:extLst>
          </p:cNvPr>
          <p:cNvSpPr txBox="1"/>
          <p:nvPr/>
        </p:nvSpPr>
        <p:spPr>
          <a:xfrm>
            <a:off x="47498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extract</a:t>
            </a:r>
            <a:endParaRPr lang="en-DE" sz="1400" b="1">
              <a:solidFill>
                <a:srgbClr val="203947"/>
              </a:solidFill>
              <a:latin typeface="Arial" panose="020B0604020202020204" pitchFamily="34" charset="0"/>
            </a:endParaRPr>
          </a:p>
        </p:txBody>
      </p:sp>
      <p:sp>
        <p:nvSpPr>
          <p:cNvPr id="41" name="architecture-extract-body">
            <a:extLst>
              <a:ext uri="{FF2B5EF4-FFF2-40B4-BE49-F238E27FC236}">
                <a16:creationId xmlns:a16="http://schemas.microsoft.com/office/drawing/2014/main" id="{90C73C5D-E7CE-3F2A-88C3-63EBAE3E124D}"/>
              </a:ext>
            </a:extLst>
          </p:cNvPr>
          <p:cNvSpPr txBox="1"/>
          <p:nvPr/>
        </p:nvSpPr>
        <p:spPr>
          <a:xfrm>
            <a:off x="47498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Validate fields</a:t>
            </a:r>
            <a:endParaRPr lang="en-DE" sz="1200">
              <a:solidFill>
                <a:srgbClr val="536873"/>
              </a:solidFill>
              <a:latin typeface="Arial" panose="020B0604020202020204" pitchFamily="34" charset="0"/>
            </a:endParaRPr>
          </a:p>
        </p:txBody>
      </p:sp>
      <p:sp>
        <p:nvSpPr>
          <p:cNvPr id="42" name="architecture-extract-stack">
            <a:extLst>
              <a:ext uri="{FF2B5EF4-FFF2-40B4-BE49-F238E27FC236}">
                <a16:creationId xmlns:a16="http://schemas.microsoft.com/office/drawing/2014/main" id="{89BF5B4B-CA92-1959-6E6D-C8CC8641C785}"/>
              </a:ext>
            </a:extLst>
          </p:cNvPr>
          <p:cNvSpPr txBox="1"/>
          <p:nvPr/>
        </p:nvSpPr>
        <p:spPr>
          <a:xfrm>
            <a:off x="47498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Text spans</a:t>
            </a:r>
            <a:endParaRPr lang="en-DE" sz="1150" b="1">
              <a:solidFill>
                <a:srgbClr val="087E83"/>
              </a:solidFill>
              <a:latin typeface="Arial" panose="020B0604020202020204" pitchFamily="34" charset="0"/>
            </a:endParaRPr>
          </a:p>
        </p:txBody>
      </p:sp>
      <p:cxnSp>
        <p:nvCxnSpPr>
          <p:cNvPr id="43" name="architecture-stage-edge-2">
            <a:extLst>
              <a:ext uri="{FF2B5EF4-FFF2-40B4-BE49-F238E27FC236}">
                <a16:creationId xmlns:a16="http://schemas.microsoft.com/office/drawing/2014/main" id="{1CAF7E91-02C7-6C49-4B2B-A719CBEE88B8}"/>
              </a:ext>
            </a:extLst>
          </p:cNvPr>
          <p:cNvCxnSpPr>
            <a:cxnSpLocks/>
            <a:stCxn id="34" idx="3"/>
            <a:endCxn id="39" idx="1"/>
          </p:cNvCxnSpPr>
          <p:nvPr/>
        </p:nvCxnSpPr>
        <p:spPr>
          <a:xfrm>
            <a:off x="4318000" y="4737100"/>
            <a:ext cx="304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44" name="architecture-lookup">
            <a:extLst>
              <a:ext uri="{FF2B5EF4-FFF2-40B4-BE49-F238E27FC236}">
                <a16:creationId xmlns:a16="http://schemas.microsoft.com/office/drawing/2014/main" id="{51F5918D-AE71-5F6C-725B-DADB10D87BC2}"/>
              </a:ext>
            </a:extLst>
          </p:cNvPr>
          <p:cNvSpPr/>
          <p:nvPr/>
        </p:nvSpPr>
        <p:spPr>
          <a:xfrm>
            <a:off x="65024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5" name="architecture-lookup-heading">
            <a:extLst>
              <a:ext uri="{FF2B5EF4-FFF2-40B4-BE49-F238E27FC236}">
                <a16:creationId xmlns:a16="http://schemas.microsoft.com/office/drawing/2014/main" id="{2F2F4B50-A295-FFA2-E70A-644D13B27E47}"/>
              </a:ext>
            </a:extLst>
          </p:cNvPr>
          <p:cNvSpPr txBox="1"/>
          <p:nvPr/>
        </p:nvSpPr>
        <p:spPr>
          <a:xfrm>
            <a:off x="66294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lookup</a:t>
            </a:r>
            <a:endParaRPr lang="en-DE" sz="1400" b="1">
              <a:solidFill>
                <a:srgbClr val="203947"/>
              </a:solidFill>
              <a:latin typeface="Arial" panose="020B0604020202020204" pitchFamily="34" charset="0"/>
            </a:endParaRPr>
          </a:p>
        </p:txBody>
      </p:sp>
      <p:sp>
        <p:nvSpPr>
          <p:cNvPr id="46" name="architecture-lookup-body">
            <a:extLst>
              <a:ext uri="{FF2B5EF4-FFF2-40B4-BE49-F238E27FC236}">
                <a16:creationId xmlns:a16="http://schemas.microsoft.com/office/drawing/2014/main" id="{C2AD81CF-9FB4-ED3E-95CD-CD10B53FF991}"/>
              </a:ext>
            </a:extLst>
          </p:cNvPr>
          <p:cNvSpPr txBox="1"/>
          <p:nvPr/>
        </p:nvSpPr>
        <p:spPr>
          <a:xfrm>
            <a:off x="66294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Match transaction</a:t>
            </a:r>
            <a:endParaRPr lang="en-DE" sz="1200">
              <a:solidFill>
                <a:srgbClr val="536873"/>
              </a:solidFill>
              <a:latin typeface="Arial" panose="020B0604020202020204" pitchFamily="34" charset="0"/>
            </a:endParaRPr>
          </a:p>
        </p:txBody>
      </p:sp>
      <p:sp>
        <p:nvSpPr>
          <p:cNvPr id="47" name="architecture-lookup-stack">
            <a:extLst>
              <a:ext uri="{FF2B5EF4-FFF2-40B4-BE49-F238E27FC236}">
                <a16:creationId xmlns:a16="http://schemas.microsoft.com/office/drawing/2014/main" id="{F20CF82B-0279-1D4D-4246-EE534AB52280}"/>
              </a:ext>
            </a:extLst>
          </p:cNvPr>
          <p:cNvSpPr txBox="1"/>
          <p:nvPr/>
        </p:nvSpPr>
        <p:spPr>
          <a:xfrm>
            <a:off x="66294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SQLAlchemy</a:t>
            </a:r>
            <a:endParaRPr lang="en-DE" sz="1150" b="1">
              <a:solidFill>
                <a:srgbClr val="087E83"/>
              </a:solidFill>
              <a:latin typeface="Arial" panose="020B0604020202020204" pitchFamily="34" charset="0"/>
            </a:endParaRPr>
          </a:p>
        </p:txBody>
      </p:sp>
      <p:cxnSp>
        <p:nvCxnSpPr>
          <p:cNvPr id="48" name="architecture-stage-edge-3">
            <a:extLst>
              <a:ext uri="{FF2B5EF4-FFF2-40B4-BE49-F238E27FC236}">
                <a16:creationId xmlns:a16="http://schemas.microsoft.com/office/drawing/2014/main" id="{0BE81E60-C536-09C2-693A-2E95711D6721}"/>
              </a:ext>
            </a:extLst>
          </p:cNvPr>
          <p:cNvCxnSpPr>
            <a:cxnSpLocks/>
            <a:stCxn id="39" idx="3"/>
            <a:endCxn id="44" idx="1"/>
          </p:cNvCxnSpPr>
          <p:nvPr/>
        </p:nvCxnSpPr>
        <p:spPr>
          <a:xfrm>
            <a:off x="6197600" y="4737100"/>
            <a:ext cx="304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49" name="architecture-decide">
            <a:extLst>
              <a:ext uri="{FF2B5EF4-FFF2-40B4-BE49-F238E27FC236}">
                <a16:creationId xmlns:a16="http://schemas.microsoft.com/office/drawing/2014/main" id="{DC85A715-AF70-2766-B4DE-597EE2C096B7}"/>
              </a:ext>
            </a:extLst>
          </p:cNvPr>
          <p:cNvSpPr/>
          <p:nvPr/>
        </p:nvSpPr>
        <p:spPr>
          <a:xfrm>
            <a:off x="83820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0" name="architecture-decide-heading">
            <a:extLst>
              <a:ext uri="{FF2B5EF4-FFF2-40B4-BE49-F238E27FC236}">
                <a16:creationId xmlns:a16="http://schemas.microsoft.com/office/drawing/2014/main" id="{754AE243-ABEF-5242-B970-AEC8C2FD3A16}"/>
              </a:ext>
            </a:extLst>
          </p:cNvPr>
          <p:cNvSpPr txBox="1"/>
          <p:nvPr/>
        </p:nvSpPr>
        <p:spPr>
          <a:xfrm>
            <a:off x="85090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decide</a:t>
            </a:r>
            <a:endParaRPr lang="en-DE" sz="1400" b="1">
              <a:solidFill>
                <a:srgbClr val="203947"/>
              </a:solidFill>
              <a:latin typeface="Arial" panose="020B0604020202020204" pitchFamily="34" charset="0"/>
            </a:endParaRPr>
          </a:p>
        </p:txBody>
      </p:sp>
      <p:sp>
        <p:nvSpPr>
          <p:cNvPr id="51" name="architecture-decide-body">
            <a:extLst>
              <a:ext uri="{FF2B5EF4-FFF2-40B4-BE49-F238E27FC236}">
                <a16:creationId xmlns:a16="http://schemas.microsoft.com/office/drawing/2014/main" id="{47949368-547A-365F-12A7-C8C660D2F82E}"/>
              </a:ext>
            </a:extLst>
          </p:cNvPr>
          <p:cNvSpPr txBox="1"/>
          <p:nvPr/>
        </p:nvSpPr>
        <p:spPr>
          <a:xfrm>
            <a:off x="85090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Team / priority</a:t>
            </a:r>
            <a:endParaRPr lang="en-DE" sz="1200">
              <a:solidFill>
                <a:srgbClr val="536873"/>
              </a:solidFill>
              <a:latin typeface="Arial" panose="020B0604020202020204" pitchFamily="34" charset="0"/>
            </a:endParaRPr>
          </a:p>
        </p:txBody>
      </p:sp>
      <p:sp>
        <p:nvSpPr>
          <p:cNvPr id="52" name="architecture-decide-stack">
            <a:extLst>
              <a:ext uri="{FF2B5EF4-FFF2-40B4-BE49-F238E27FC236}">
                <a16:creationId xmlns:a16="http://schemas.microsoft.com/office/drawing/2014/main" id="{9C7E151B-B257-3AAC-4D12-8A5C18C0DFBA}"/>
              </a:ext>
            </a:extLst>
          </p:cNvPr>
          <p:cNvSpPr txBox="1"/>
          <p:nvPr/>
        </p:nvSpPr>
        <p:spPr>
          <a:xfrm>
            <a:off x="85090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taxonomy.yaml</a:t>
            </a:r>
            <a:endParaRPr lang="en-DE" sz="1150" b="1">
              <a:solidFill>
                <a:srgbClr val="087E83"/>
              </a:solidFill>
              <a:latin typeface="Arial" panose="020B0604020202020204" pitchFamily="34" charset="0"/>
            </a:endParaRPr>
          </a:p>
        </p:txBody>
      </p:sp>
      <p:cxnSp>
        <p:nvCxnSpPr>
          <p:cNvPr id="53" name="architecture-stage-edge-4">
            <a:extLst>
              <a:ext uri="{FF2B5EF4-FFF2-40B4-BE49-F238E27FC236}">
                <a16:creationId xmlns:a16="http://schemas.microsoft.com/office/drawing/2014/main" id="{34CDC7B0-239C-A80B-B52F-9C92EC2F00CF}"/>
              </a:ext>
            </a:extLst>
          </p:cNvPr>
          <p:cNvCxnSpPr>
            <a:cxnSpLocks/>
            <a:stCxn id="44" idx="3"/>
            <a:endCxn id="49" idx="1"/>
          </p:cNvCxnSpPr>
          <p:nvPr/>
        </p:nvCxnSpPr>
        <p:spPr>
          <a:xfrm>
            <a:off x="8077200" y="4737100"/>
            <a:ext cx="304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171" name="architecture-draft">
            <a:extLst>
              <a:ext uri="{FF2B5EF4-FFF2-40B4-BE49-F238E27FC236}">
                <a16:creationId xmlns:a16="http://schemas.microsoft.com/office/drawing/2014/main" id="{44CD9CC5-E0F2-AC61-F02E-74B113EE4C87}"/>
              </a:ext>
            </a:extLst>
          </p:cNvPr>
          <p:cNvSpPr/>
          <p:nvPr/>
        </p:nvSpPr>
        <p:spPr>
          <a:xfrm>
            <a:off x="10261600" y="4241800"/>
            <a:ext cx="1574800" cy="990600"/>
          </a:xfrm>
          <a:prstGeom prst="rect">
            <a:avLst/>
          </a:prstGeom>
          <a:solidFill>
            <a:srgbClr val="FFFFFF"/>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2" name="architecture-draft-heading">
            <a:extLst>
              <a:ext uri="{FF2B5EF4-FFF2-40B4-BE49-F238E27FC236}">
                <a16:creationId xmlns:a16="http://schemas.microsoft.com/office/drawing/2014/main" id="{5C26AE6A-0F64-EE53-5C2A-4D1130F30F07}"/>
              </a:ext>
            </a:extLst>
          </p:cNvPr>
          <p:cNvSpPr txBox="1"/>
          <p:nvPr/>
        </p:nvSpPr>
        <p:spPr>
          <a:xfrm>
            <a:off x="10388600" y="4343400"/>
            <a:ext cx="1320800" cy="2921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draft</a:t>
            </a:r>
            <a:endParaRPr lang="en-DE" sz="1400" b="1">
              <a:solidFill>
                <a:srgbClr val="203947"/>
              </a:solidFill>
              <a:latin typeface="Arial" panose="020B0604020202020204" pitchFamily="34" charset="0"/>
            </a:endParaRPr>
          </a:p>
        </p:txBody>
      </p:sp>
      <p:sp>
        <p:nvSpPr>
          <p:cNvPr id="173" name="architecture-draft-body">
            <a:extLst>
              <a:ext uri="{FF2B5EF4-FFF2-40B4-BE49-F238E27FC236}">
                <a16:creationId xmlns:a16="http://schemas.microsoft.com/office/drawing/2014/main" id="{D79ED193-932E-EAE2-23C9-9A89F7797D3E}"/>
              </a:ext>
            </a:extLst>
          </p:cNvPr>
          <p:cNvSpPr txBox="1"/>
          <p:nvPr/>
        </p:nvSpPr>
        <p:spPr>
          <a:xfrm>
            <a:off x="10388600" y="4648200"/>
            <a:ext cx="1320800" cy="2921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No reply yet</a:t>
            </a:r>
            <a:endParaRPr lang="en-DE" sz="1200">
              <a:solidFill>
                <a:srgbClr val="536873"/>
              </a:solidFill>
              <a:latin typeface="Arial" panose="020B0604020202020204" pitchFamily="34" charset="0"/>
            </a:endParaRPr>
          </a:p>
        </p:txBody>
      </p:sp>
      <p:sp>
        <p:nvSpPr>
          <p:cNvPr id="174" name="architecture-draft-stack">
            <a:extLst>
              <a:ext uri="{FF2B5EF4-FFF2-40B4-BE49-F238E27FC236}">
                <a16:creationId xmlns:a16="http://schemas.microsoft.com/office/drawing/2014/main" id="{45BC79D8-C898-7A53-233E-28BF1E3A6FB3}"/>
              </a:ext>
            </a:extLst>
          </p:cNvPr>
          <p:cNvSpPr txBox="1"/>
          <p:nvPr/>
        </p:nvSpPr>
        <p:spPr>
          <a:xfrm>
            <a:off x="10388600" y="4965700"/>
            <a:ext cx="1320800" cy="228600"/>
          </a:xfrm>
          <a:prstGeom prst="rect">
            <a:avLst/>
          </a:prstGeom>
          <a:noFill/>
        </p:spPr>
        <p:txBody>
          <a:bodyPr vert="horz" wrap="square" lIns="0" tIns="0" rIns="0" bIns="0" rtlCol="0" anchor="t">
            <a:noAutofit/>
          </a:bodyPr>
          <a:lstStyle/>
          <a:p>
            <a:r>
              <a:rPr lang="en-US" sz="1150" b="1">
                <a:solidFill>
                  <a:srgbClr val="087E83"/>
                </a:solidFill>
                <a:latin typeface="Arial" panose="020B0604020202020204" pitchFamily="34" charset="0"/>
              </a:rPr>
              <a:t>NullDrafter</a:t>
            </a:r>
            <a:endParaRPr lang="en-DE" sz="1150" b="1">
              <a:solidFill>
                <a:srgbClr val="087E83"/>
              </a:solidFill>
              <a:latin typeface="Arial" panose="020B0604020202020204" pitchFamily="34" charset="0"/>
            </a:endParaRPr>
          </a:p>
        </p:txBody>
      </p:sp>
      <p:cxnSp>
        <p:nvCxnSpPr>
          <p:cNvPr id="175" name="architecture-stage-edge-5">
            <a:extLst>
              <a:ext uri="{FF2B5EF4-FFF2-40B4-BE49-F238E27FC236}">
                <a16:creationId xmlns:a16="http://schemas.microsoft.com/office/drawing/2014/main" id="{1F7C0FE5-53A7-B563-71E3-1684F2B9904A}"/>
              </a:ext>
            </a:extLst>
          </p:cNvPr>
          <p:cNvCxnSpPr>
            <a:cxnSpLocks/>
            <a:stCxn id="49" idx="3"/>
            <a:endCxn id="171" idx="1"/>
          </p:cNvCxnSpPr>
          <p:nvPr/>
        </p:nvCxnSpPr>
        <p:spPr>
          <a:xfrm>
            <a:off x="9956800" y="4737100"/>
            <a:ext cx="304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176" name="architecture-start-prepare">
            <a:extLst>
              <a:ext uri="{FF2B5EF4-FFF2-40B4-BE49-F238E27FC236}">
                <a16:creationId xmlns:a16="http://schemas.microsoft.com/office/drawing/2014/main" id="{CA9ECF38-777D-2B73-C84D-63FF757E05B5}"/>
              </a:ext>
            </a:extLst>
          </p:cNvPr>
          <p:cNvCxnSpPr/>
          <p:nvPr/>
        </p:nvCxnSpPr>
        <p:spPr>
          <a:xfrm>
            <a:off x="609600" y="4737100"/>
            <a:ext cx="254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177" name="architecture-cascade-note">
            <a:extLst>
              <a:ext uri="{FF2B5EF4-FFF2-40B4-BE49-F238E27FC236}">
                <a16:creationId xmlns:a16="http://schemas.microsoft.com/office/drawing/2014/main" id="{139B9C73-891E-92D4-8372-D691ADE92C30}"/>
              </a:ext>
            </a:extLst>
          </p:cNvPr>
          <p:cNvSpPr txBox="1"/>
          <p:nvPr/>
        </p:nvSpPr>
        <p:spPr>
          <a:xfrm>
            <a:off x="863600" y="5791200"/>
            <a:ext cx="1625600" cy="9017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CASCADE BRANCH
Uncertain Jev or
provider failure
uses Gemini.</a:t>
            </a:r>
            <a:endParaRPr lang="en-DE" sz="1200">
              <a:solidFill>
                <a:srgbClr val="536873"/>
              </a:solidFill>
              <a:latin typeface="Arial" panose="020B0604020202020204" pitchFamily="34" charset="0"/>
            </a:endParaRPr>
          </a:p>
        </p:txBody>
      </p:sp>
      <p:sp>
        <p:nvSpPr>
          <p:cNvPr id="178" name="architecture-gemini">
            <a:extLst>
              <a:ext uri="{FF2B5EF4-FFF2-40B4-BE49-F238E27FC236}">
                <a16:creationId xmlns:a16="http://schemas.microsoft.com/office/drawing/2014/main" id="{CA543904-7F63-D145-D1B1-5B043A60D797}"/>
              </a:ext>
            </a:extLst>
          </p:cNvPr>
          <p:cNvSpPr/>
          <p:nvPr/>
        </p:nvSpPr>
        <p:spPr>
          <a:xfrm>
            <a:off x="2743200" y="5740400"/>
            <a:ext cx="2921000" cy="9525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9" name="architecture-gemini-heading">
            <a:extLst>
              <a:ext uri="{FF2B5EF4-FFF2-40B4-BE49-F238E27FC236}">
                <a16:creationId xmlns:a16="http://schemas.microsoft.com/office/drawing/2014/main" id="{33D1F950-F687-AF21-0993-8462CE54C61C}"/>
              </a:ext>
            </a:extLst>
          </p:cNvPr>
          <p:cNvSpPr txBox="1"/>
          <p:nvPr/>
        </p:nvSpPr>
        <p:spPr>
          <a:xfrm>
            <a:off x="2870200" y="5842000"/>
            <a:ext cx="2667000" cy="292100"/>
          </a:xfrm>
          <a:prstGeom prst="rect">
            <a:avLst/>
          </a:prstGeom>
          <a:noFill/>
        </p:spPr>
        <p:txBody>
          <a:bodyPr vert="horz" wrap="square" lIns="0" tIns="0" rIns="0" bIns="0" rtlCol="0" anchor="t">
            <a:noAutofit/>
          </a:bodyPr>
          <a:lstStyle/>
          <a:p>
            <a:r>
              <a:rPr lang="en-US" sz="1600" b="1">
                <a:solidFill>
                  <a:srgbClr val="203947"/>
                </a:solidFill>
                <a:latin typeface="Arial" panose="020B0604020202020204" pitchFamily="34" charset="0"/>
              </a:rPr>
              <a:t>gemini_classify</a:t>
            </a:r>
            <a:endParaRPr lang="en-DE" sz="1600" b="1">
              <a:solidFill>
                <a:srgbClr val="203947"/>
              </a:solidFill>
              <a:latin typeface="Arial" panose="020B0604020202020204" pitchFamily="34" charset="0"/>
            </a:endParaRPr>
          </a:p>
        </p:txBody>
      </p:sp>
      <p:sp>
        <p:nvSpPr>
          <p:cNvPr id="180" name="architecture-gemini-body">
            <a:extLst>
              <a:ext uri="{FF2B5EF4-FFF2-40B4-BE49-F238E27FC236}">
                <a16:creationId xmlns:a16="http://schemas.microsoft.com/office/drawing/2014/main" id="{FD6F3004-9A75-120C-28D0-027D1AAC149F}"/>
              </a:ext>
            </a:extLst>
          </p:cNvPr>
          <p:cNvSpPr txBox="1"/>
          <p:nvPr/>
        </p:nvSpPr>
        <p:spPr>
          <a:xfrm>
            <a:off x="2870200" y="6146800"/>
            <a:ext cx="2667000" cy="2540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3 samples; 2/3 agreement</a:t>
            </a:r>
            <a:endParaRPr lang="en-DE" sz="1250">
              <a:solidFill>
                <a:srgbClr val="536873"/>
              </a:solidFill>
              <a:latin typeface="Arial" panose="020B0604020202020204" pitchFamily="34" charset="0"/>
            </a:endParaRPr>
          </a:p>
        </p:txBody>
      </p:sp>
      <p:sp>
        <p:nvSpPr>
          <p:cNvPr id="181" name="architecture-gemini-stack">
            <a:extLst>
              <a:ext uri="{FF2B5EF4-FFF2-40B4-BE49-F238E27FC236}">
                <a16:creationId xmlns:a16="http://schemas.microsoft.com/office/drawing/2014/main" id="{71F98FA6-18F1-B346-CCF7-96DEE769DDD7}"/>
              </a:ext>
            </a:extLst>
          </p:cNvPr>
          <p:cNvSpPr txBox="1"/>
          <p:nvPr/>
        </p:nvSpPr>
        <p:spPr>
          <a:xfrm>
            <a:off x="2870200" y="6426200"/>
            <a:ext cx="2667000" cy="228600"/>
          </a:xfrm>
          <a:prstGeom prst="rect">
            <a:avLst/>
          </a:prstGeom>
          <a:noFill/>
        </p:spPr>
        <p:txBody>
          <a:bodyPr vert="horz" wrap="square" lIns="0" tIns="0" rIns="0" bIns="0" rtlCol="0" anchor="t">
            <a:noAutofit/>
          </a:bodyPr>
          <a:lstStyle/>
          <a:p>
            <a:r>
              <a:rPr lang="en-US" sz="1150" b="1">
                <a:solidFill>
                  <a:srgbClr val="B88431"/>
                </a:solidFill>
                <a:latin typeface="Arial" panose="020B0604020202020204" pitchFamily="34" charset="0"/>
              </a:rPr>
              <a:t>Uncertainty still escalates</a:t>
            </a:r>
            <a:endParaRPr lang="en-DE" sz="1150" b="1">
              <a:solidFill>
                <a:srgbClr val="B88431"/>
              </a:solidFill>
              <a:latin typeface="Arial" panose="020B0604020202020204" pitchFamily="34" charset="0"/>
            </a:endParaRPr>
          </a:p>
        </p:txBody>
      </p:sp>
      <p:cxnSp>
        <p:nvCxnSpPr>
          <p:cNvPr id="182" name="architecture-jev-fallback">
            <a:extLst>
              <a:ext uri="{FF2B5EF4-FFF2-40B4-BE49-F238E27FC236}">
                <a16:creationId xmlns:a16="http://schemas.microsoft.com/office/drawing/2014/main" id="{E1C2E8D3-4A3C-E174-E3EE-23CDDF919544}"/>
              </a:ext>
            </a:extLst>
          </p:cNvPr>
          <p:cNvCxnSpPr/>
          <p:nvPr/>
        </p:nvCxnSpPr>
        <p:spPr>
          <a:xfrm>
            <a:off x="3530600" y="5232400"/>
            <a:ext cx="0" cy="508000"/>
          </a:xfrm>
          <a:prstGeom prst="straightConnector1">
            <a:avLst/>
          </a:prstGeom>
          <a:ln w="22860">
            <a:solidFill>
              <a:srgbClr val="B8843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83" name="architecture-fallback-out">
            <a:extLst>
              <a:ext uri="{FF2B5EF4-FFF2-40B4-BE49-F238E27FC236}">
                <a16:creationId xmlns:a16="http://schemas.microsoft.com/office/drawing/2014/main" id="{C0E7F52F-25DB-31FF-59C5-8CF56342A1FD}"/>
              </a:ext>
            </a:extLst>
          </p:cNvPr>
          <p:cNvCxnSpPr/>
          <p:nvPr/>
        </p:nvCxnSpPr>
        <p:spPr>
          <a:xfrm>
            <a:off x="5664200" y="6210300"/>
            <a:ext cx="304800" cy="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184" name="architecture-fallback-up">
            <a:extLst>
              <a:ext uri="{FF2B5EF4-FFF2-40B4-BE49-F238E27FC236}">
                <a16:creationId xmlns:a16="http://schemas.microsoft.com/office/drawing/2014/main" id="{5E1E5435-A18A-ACDD-5A2C-9F8A0316EE21}"/>
              </a:ext>
            </a:extLst>
          </p:cNvPr>
          <p:cNvCxnSpPr/>
          <p:nvPr/>
        </p:nvCxnSpPr>
        <p:spPr>
          <a:xfrm flipV="1">
            <a:off x="5969000" y="5562600"/>
            <a:ext cx="0" cy="64770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185" name="architecture-fallback-left">
            <a:extLst>
              <a:ext uri="{FF2B5EF4-FFF2-40B4-BE49-F238E27FC236}">
                <a16:creationId xmlns:a16="http://schemas.microsoft.com/office/drawing/2014/main" id="{07E5DA0A-A0CD-4A27-A2E1-F3891E2B2138}"/>
              </a:ext>
            </a:extLst>
          </p:cNvPr>
          <p:cNvCxnSpPr/>
          <p:nvPr/>
        </p:nvCxnSpPr>
        <p:spPr>
          <a:xfrm flipH="1">
            <a:off x="5410200" y="5562600"/>
            <a:ext cx="558800" cy="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186" name="architecture-fallback-extract">
            <a:extLst>
              <a:ext uri="{FF2B5EF4-FFF2-40B4-BE49-F238E27FC236}">
                <a16:creationId xmlns:a16="http://schemas.microsoft.com/office/drawing/2014/main" id="{70E20951-17F5-EA9D-FF3F-9E142593AD97}"/>
              </a:ext>
            </a:extLst>
          </p:cNvPr>
          <p:cNvCxnSpPr/>
          <p:nvPr/>
        </p:nvCxnSpPr>
        <p:spPr>
          <a:xfrm flipV="1">
            <a:off x="5410200" y="5232400"/>
            <a:ext cx="0" cy="330200"/>
          </a:xfrm>
          <a:prstGeom prst="straightConnector1">
            <a:avLst/>
          </a:prstGeom>
          <a:ln w="22860">
            <a:solidFill>
              <a:srgbClr val="B88431"/>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87" name="architecture-database">
            <a:extLst>
              <a:ext uri="{FF2B5EF4-FFF2-40B4-BE49-F238E27FC236}">
                <a16:creationId xmlns:a16="http://schemas.microsoft.com/office/drawing/2014/main" id="{D69B7F20-0552-ECF1-7393-FBE74D844FC6}"/>
              </a:ext>
            </a:extLst>
          </p:cNvPr>
          <p:cNvSpPr/>
          <p:nvPr/>
        </p:nvSpPr>
        <p:spPr>
          <a:xfrm>
            <a:off x="6527800" y="5740400"/>
            <a:ext cx="5461000" cy="9525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88" name="architecture-database-heading">
            <a:extLst>
              <a:ext uri="{FF2B5EF4-FFF2-40B4-BE49-F238E27FC236}">
                <a16:creationId xmlns:a16="http://schemas.microsoft.com/office/drawing/2014/main" id="{07E70F3F-E373-178B-3180-D26511607BA1}"/>
              </a:ext>
            </a:extLst>
          </p:cNvPr>
          <p:cNvSpPr txBox="1"/>
          <p:nvPr/>
        </p:nvSpPr>
        <p:spPr>
          <a:xfrm>
            <a:off x="6654800" y="5842000"/>
            <a:ext cx="5207000" cy="292100"/>
          </a:xfrm>
          <a:prstGeom prst="rect">
            <a:avLst/>
          </a:prstGeom>
          <a:noFill/>
        </p:spPr>
        <p:txBody>
          <a:bodyPr vert="horz" wrap="square" lIns="0" tIns="0" rIns="0" bIns="0" rtlCol="0" anchor="t">
            <a:noAutofit/>
          </a:bodyPr>
          <a:lstStyle/>
          <a:p>
            <a:r>
              <a:rPr lang="en-US" sz="1700" b="1">
                <a:solidFill>
                  <a:srgbClr val="203947"/>
                </a:solidFill>
                <a:latin typeface="Arial" panose="020B0604020202020204" pitchFamily="34" charset="0"/>
              </a:rPr>
              <a:t>PostgreSQL 16 + pgvector</a:t>
            </a:r>
            <a:endParaRPr lang="en-DE" sz="1700" b="1">
              <a:solidFill>
                <a:srgbClr val="203947"/>
              </a:solidFill>
              <a:latin typeface="Arial" panose="020B0604020202020204" pitchFamily="34" charset="0"/>
            </a:endParaRPr>
          </a:p>
        </p:txBody>
      </p:sp>
      <p:sp>
        <p:nvSpPr>
          <p:cNvPr id="189" name="architecture-database-body">
            <a:extLst>
              <a:ext uri="{FF2B5EF4-FFF2-40B4-BE49-F238E27FC236}">
                <a16:creationId xmlns:a16="http://schemas.microsoft.com/office/drawing/2014/main" id="{104EF400-8971-C55C-934B-24E9D19D3B88}"/>
              </a:ext>
            </a:extLst>
          </p:cNvPr>
          <p:cNvSpPr txBox="1"/>
          <p:nvPr/>
        </p:nvSpPr>
        <p:spPr>
          <a:xfrm>
            <a:off x="6654800" y="6146800"/>
            <a:ext cx="5207000" cy="254000"/>
          </a:xfrm>
          <a:prstGeom prst="rect">
            <a:avLst/>
          </a:prstGeom>
          <a:noFill/>
        </p:spPr>
        <p:txBody>
          <a:bodyPr vert="horz" wrap="square" lIns="0" tIns="0" rIns="0" bIns="0" rtlCol="0" anchor="t">
            <a:noAutofit/>
          </a:bodyPr>
          <a:lstStyle/>
          <a:p>
            <a:r>
              <a:rPr lang="en-US" sz="1200">
                <a:solidFill>
                  <a:srgbClr val="536873"/>
                </a:solidFill>
                <a:latin typeface="Arial" panose="020B0604020202020204" pitchFamily="34" charset="0"/>
              </a:rPr>
              <a:t>Transactions, tickets, runs, results, reviews and documents</a:t>
            </a:r>
            <a:endParaRPr lang="en-DE" sz="1200">
              <a:solidFill>
                <a:srgbClr val="536873"/>
              </a:solidFill>
              <a:latin typeface="Arial" panose="020B0604020202020204" pitchFamily="34" charset="0"/>
            </a:endParaRPr>
          </a:p>
        </p:txBody>
      </p:sp>
      <p:sp>
        <p:nvSpPr>
          <p:cNvPr id="190" name="architecture-database-stack">
            <a:extLst>
              <a:ext uri="{FF2B5EF4-FFF2-40B4-BE49-F238E27FC236}">
                <a16:creationId xmlns:a16="http://schemas.microsoft.com/office/drawing/2014/main" id="{E3F6E7B1-722C-1490-7FC1-52B36C70C659}"/>
              </a:ext>
            </a:extLst>
          </p:cNvPr>
          <p:cNvSpPr txBox="1"/>
          <p:nvPr/>
        </p:nvSpPr>
        <p:spPr>
          <a:xfrm>
            <a:off x="6654800" y="6426200"/>
            <a:ext cx="5207000" cy="228600"/>
          </a:xfrm>
          <a:prstGeom prst="rect">
            <a:avLst/>
          </a:prstGeom>
          <a:noFill/>
        </p:spPr>
        <p:txBody>
          <a:bodyPr vert="horz" wrap="square" lIns="0" tIns="0" rIns="0" bIns="0" rtlCol="0" anchor="t">
            <a:noAutofit/>
          </a:bodyPr>
          <a:lstStyle/>
          <a:p>
            <a:r>
              <a:rPr lang="en-US" sz="1150" b="1">
                <a:solidFill>
                  <a:srgbClr val="7463B4"/>
                </a:solidFill>
                <a:latin typeface="Arial" panose="020B0604020202020204" pitchFamily="34" charset="0"/>
              </a:rPr>
              <a:t>SQLAlchemy / psycopg  |  database: support  |  host :5433 -&gt; :5432</a:t>
            </a:r>
            <a:endParaRPr lang="en-DE" sz="1150" b="1">
              <a:solidFill>
                <a:srgbClr val="7463B4"/>
              </a:solidFill>
              <a:latin typeface="Arial" panose="020B0604020202020204" pitchFamily="34" charset="0"/>
            </a:endParaRPr>
          </a:p>
        </p:txBody>
      </p:sp>
      <p:cxnSp>
        <p:nvCxnSpPr>
          <p:cNvPr id="191" name="architecture-lookup-sql">
            <a:extLst>
              <a:ext uri="{FF2B5EF4-FFF2-40B4-BE49-F238E27FC236}">
                <a16:creationId xmlns:a16="http://schemas.microsoft.com/office/drawing/2014/main" id="{A735C9C5-A749-6577-E57A-2DC5D1145851}"/>
              </a:ext>
            </a:extLst>
          </p:cNvPr>
          <p:cNvCxnSpPr/>
          <p:nvPr/>
        </p:nvCxnSpPr>
        <p:spPr>
          <a:xfrm>
            <a:off x="7289800" y="5232400"/>
            <a:ext cx="0" cy="508000"/>
          </a:xfrm>
          <a:prstGeom prst="straightConnector1">
            <a:avLst/>
          </a:prstGeom>
          <a:ln w="22860">
            <a:solidFill>
              <a:srgbClr val="7463B4"/>
            </a:solidFill>
            <a:tailEnd type="arrow"/>
          </a:ln>
        </p:spPr>
        <p:style>
          <a:lnRef idx="2">
            <a:schemeClr val="accent1"/>
          </a:lnRef>
          <a:fillRef idx="0">
            <a:schemeClr val="accent1"/>
          </a:fillRef>
          <a:effectRef idx="1">
            <a:schemeClr val="accent1"/>
          </a:effectRef>
          <a:fontRef idx="minor">
            <a:schemeClr val="tx1"/>
          </a:fontRef>
        </p:style>
      </p:cxnSp>
      <p:sp>
        <p:nvSpPr>
          <p:cNvPr id="192" name="architecture-sql-label">
            <a:extLst>
              <a:ext uri="{FF2B5EF4-FFF2-40B4-BE49-F238E27FC236}">
                <a16:creationId xmlns:a16="http://schemas.microsoft.com/office/drawing/2014/main" id="{B9EFCFD1-2D27-98A0-00EA-9DCC4441E606}"/>
              </a:ext>
            </a:extLst>
          </p:cNvPr>
          <p:cNvSpPr txBox="1"/>
          <p:nvPr/>
        </p:nvSpPr>
        <p:spPr>
          <a:xfrm>
            <a:off x="7404100" y="5473700"/>
            <a:ext cx="889000" cy="215900"/>
          </a:xfrm>
          <a:prstGeom prst="rect">
            <a:avLst/>
          </a:prstGeom>
          <a:noFill/>
        </p:spPr>
        <p:txBody>
          <a:bodyPr vert="horz" wrap="square" lIns="0" tIns="0" rIns="0" bIns="0" rtlCol="0" anchor="t">
            <a:noAutofit/>
          </a:bodyPr>
          <a:lstStyle/>
          <a:p>
            <a:r>
              <a:rPr lang="en-US" sz="1150" b="1">
                <a:solidFill>
                  <a:srgbClr val="7463B4"/>
                </a:solidFill>
                <a:latin typeface="Arial" panose="020B0604020202020204" pitchFamily="34" charset="0"/>
              </a:rPr>
              <a:t>SQL lookup</a:t>
            </a:r>
            <a:endParaRPr lang="en-DE" sz="1150" b="1">
              <a:solidFill>
                <a:srgbClr val="7463B4"/>
              </a:solidFill>
              <a:latin typeface="Arial" panose="020B0604020202020204" pitchFamily="34" charset="0"/>
            </a:endParaRPr>
          </a:p>
        </p:txBody>
      </p:sp>
      <p:cxnSp>
        <p:nvCxnSpPr>
          <p:cNvPr id="193" name="architecture-save-result">
            <a:extLst>
              <a:ext uri="{FF2B5EF4-FFF2-40B4-BE49-F238E27FC236}">
                <a16:creationId xmlns:a16="http://schemas.microsoft.com/office/drawing/2014/main" id="{C3661350-E44D-9FF3-88AC-0FFDC29767A2}"/>
              </a:ext>
            </a:extLst>
          </p:cNvPr>
          <p:cNvCxnSpPr/>
          <p:nvPr/>
        </p:nvCxnSpPr>
        <p:spPr>
          <a:xfrm>
            <a:off x="11049000" y="5232400"/>
            <a:ext cx="0" cy="508000"/>
          </a:xfrm>
          <a:prstGeom prst="straightConnector1">
            <a:avLst/>
          </a:prstGeom>
          <a:ln w="22860">
            <a:solidFill>
              <a:srgbClr val="7463B4"/>
            </a:solidFill>
            <a:tailEnd type="arrow"/>
          </a:ln>
        </p:spPr>
        <p:style>
          <a:lnRef idx="2">
            <a:schemeClr val="accent1"/>
          </a:lnRef>
          <a:fillRef idx="0">
            <a:schemeClr val="accent1"/>
          </a:fillRef>
          <a:effectRef idx="1">
            <a:schemeClr val="accent1"/>
          </a:effectRef>
          <a:fontRef idx="minor">
            <a:schemeClr val="tx1"/>
          </a:fontRef>
        </p:style>
      </p:cxnSp>
      <p:sp>
        <p:nvSpPr>
          <p:cNvPr id="194" name="architecture-save-label">
            <a:extLst>
              <a:ext uri="{FF2B5EF4-FFF2-40B4-BE49-F238E27FC236}">
                <a16:creationId xmlns:a16="http://schemas.microsoft.com/office/drawing/2014/main" id="{2C5B9825-FC03-7466-EEA3-BF7B506108A9}"/>
              </a:ext>
            </a:extLst>
          </p:cNvPr>
          <p:cNvSpPr txBox="1"/>
          <p:nvPr/>
        </p:nvSpPr>
        <p:spPr>
          <a:xfrm>
            <a:off x="11163300" y="5473700"/>
            <a:ext cx="939800" cy="215900"/>
          </a:xfrm>
          <a:prstGeom prst="rect">
            <a:avLst/>
          </a:prstGeom>
          <a:noFill/>
        </p:spPr>
        <p:txBody>
          <a:bodyPr vert="horz" wrap="square" lIns="0" tIns="0" rIns="0" bIns="0" rtlCol="0" anchor="t">
            <a:noAutofit/>
          </a:bodyPr>
          <a:lstStyle/>
          <a:p>
            <a:r>
              <a:rPr lang="en-US" sz="1150" b="1">
                <a:solidFill>
                  <a:srgbClr val="7463B4"/>
                </a:solidFill>
                <a:latin typeface="Arial" panose="020B0604020202020204" pitchFamily="34" charset="0"/>
              </a:rPr>
              <a:t>Save result</a:t>
            </a:r>
            <a:endParaRPr lang="en-DE" sz="1150" b="1">
              <a:solidFill>
                <a:srgbClr val="7463B4"/>
              </a:solidFill>
              <a:latin typeface="Arial" panose="020B0604020202020204" pitchFamily="34" charset="0"/>
            </a:endParaRPr>
          </a:p>
        </p:txBody>
      </p:sp>
      <p:cxnSp>
        <p:nvCxnSpPr>
          <p:cNvPr id="195" name="architecture-results-review">
            <a:extLst>
              <a:ext uri="{FF2B5EF4-FFF2-40B4-BE49-F238E27FC236}">
                <a16:creationId xmlns:a16="http://schemas.microsoft.com/office/drawing/2014/main" id="{D686C213-8156-04EF-8648-FCC888D6DA12}"/>
              </a:ext>
            </a:extLst>
          </p:cNvPr>
          <p:cNvCxnSpPr/>
          <p:nvPr/>
        </p:nvCxnSpPr>
        <p:spPr>
          <a:xfrm>
            <a:off x="9258300" y="6692900"/>
            <a:ext cx="0" cy="330200"/>
          </a:xfrm>
          <a:prstGeom prst="straightConnector1">
            <a:avLst/>
          </a:prstGeom>
          <a:ln w="22860">
            <a:solidFill>
              <a:srgbClr val="7463B4"/>
            </a:solidFill>
            <a:tailEnd type="arrow"/>
          </a:ln>
        </p:spPr>
        <p:style>
          <a:lnRef idx="2">
            <a:schemeClr val="accent1"/>
          </a:lnRef>
          <a:fillRef idx="0">
            <a:schemeClr val="accent1"/>
          </a:fillRef>
          <a:effectRef idx="1">
            <a:schemeClr val="accent1"/>
          </a:effectRef>
          <a:fontRef idx="minor">
            <a:schemeClr val="tx1"/>
          </a:fontRef>
        </p:style>
      </p:cxnSp>
      <p:sp>
        <p:nvSpPr>
          <p:cNvPr id="196" name="architecture-review-api">
            <a:extLst>
              <a:ext uri="{FF2B5EF4-FFF2-40B4-BE49-F238E27FC236}">
                <a16:creationId xmlns:a16="http://schemas.microsoft.com/office/drawing/2014/main" id="{8A2B5724-308B-DFF1-ED37-7B9B8C2BC422}"/>
              </a:ext>
            </a:extLst>
          </p:cNvPr>
          <p:cNvSpPr txBox="1"/>
          <p:nvPr/>
        </p:nvSpPr>
        <p:spPr>
          <a:xfrm>
            <a:off x="9448800" y="6769100"/>
            <a:ext cx="2514600" cy="215900"/>
          </a:xfrm>
          <a:prstGeom prst="rect">
            <a:avLst/>
          </a:prstGeom>
          <a:noFill/>
        </p:spPr>
        <p:txBody>
          <a:bodyPr vert="horz" wrap="square" lIns="0" tIns="0" rIns="0" bIns="0" rtlCol="0" anchor="t">
            <a:noAutofit/>
          </a:bodyPr>
          <a:lstStyle/>
          <a:p>
            <a:r>
              <a:rPr lang="en-US" sz="1150" b="1">
                <a:solidFill>
                  <a:srgbClr val="7463B4"/>
                </a:solidFill>
                <a:latin typeface="Arial" panose="020B0604020202020204" pitchFamily="34" charset="0"/>
              </a:rPr>
              <a:t>Results + reviews via FastAPI</a:t>
            </a:r>
            <a:endParaRPr lang="en-DE" sz="1150" b="1">
              <a:solidFill>
                <a:srgbClr val="7463B4"/>
              </a:solidFill>
              <a:latin typeface="Arial" panose="020B0604020202020204" pitchFamily="34" charset="0"/>
            </a:endParaRPr>
          </a:p>
        </p:txBody>
      </p:sp>
      <p:sp>
        <p:nvSpPr>
          <p:cNvPr id="197" name="architecture-human-boundary">
            <a:extLst>
              <a:ext uri="{FF2B5EF4-FFF2-40B4-BE49-F238E27FC236}">
                <a16:creationId xmlns:a16="http://schemas.microsoft.com/office/drawing/2014/main" id="{8296826E-5C12-CC80-80D6-C198F9FEC89D}"/>
              </a:ext>
            </a:extLst>
          </p:cNvPr>
          <p:cNvSpPr/>
          <p:nvPr/>
        </p:nvSpPr>
        <p:spPr>
          <a:xfrm>
            <a:off x="711200" y="7023100"/>
            <a:ext cx="11277600" cy="12192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98" name="architecture-human-label">
            <a:extLst>
              <a:ext uri="{FF2B5EF4-FFF2-40B4-BE49-F238E27FC236}">
                <a16:creationId xmlns:a16="http://schemas.microsoft.com/office/drawing/2014/main" id="{02737695-3003-5D3D-A3CF-56E29EE65875}"/>
              </a:ext>
            </a:extLst>
          </p:cNvPr>
          <p:cNvSpPr txBox="1"/>
          <p:nvPr/>
        </p:nvSpPr>
        <p:spPr>
          <a:xfrm>
            <a:off x="863600" y="7124700"/>
            <a:ext cx="10972800" cy="254000"/>
          </a:xfrm>
          <a:prstGeom prst="rect">
            <a:avLst/>
          </a:prstGeom>
          <a:noFill/>
        </p:spPr>
        <p:txBody>
          <a:bodyPr vert="horz" wrap="square" lIns="0" tIns="0" rIns="0" bIns="0" rtlCol="0" anchor="t">
            <a:noAutofit/>
          </a:bodyPr>
          <a:lstStyle/>
          <a:p>
            <a:r>
              <a:rPr lang="en-US" sz="1300" b="1">
                <a:solidFill>
                  <a:srgbClr val="B88431"/>
                </a:solidFill>
                <a:latin typeface="Arial" panose="020B0604020202020204" pitchFamily="34" charset="0"/>
              </a:rPr>
              <a:t>HUMAN REVIEW  /  Inspect the ticket, evidence and saved outcome</a:t>
            </a:r>
            <a:endParaRPr lang="en-DE" sz="1300" b="1">
              <a:solidFill>
                <a:srgbClr val="B88431"/>
              </a:solidFill>
              <a:latin typeface="Arial" panose="020B0604020202020204" pitchFamily="34" charset="0"/>
            </a:endParaRPr>
          </a:p>
        </p:txBody>
      </p:sp>
      <p:sp>
        <p:nvSpPr>
          <p:cNvPr id="199" name="architecture-reviewer">
            <a:extLst>
              <a:ext uri="{FF2B5EF4-FFF2-40B4-BE49-F238E27FC236}">
                <a16:creationId xmlns:a16="http://schemas.microsoft.com/office/drawing/2014/main" id="{F000A39D-D228-2012-B3B9-E1018D024753}"/>
              </a:ext>
            </a:extLst>
          </p:cNvPr>
          <p:cNvSpPr/>
          <p:nvPr/>
        </p:nvSpPr>
        <p:spPr>
          <a:xfrm>
            <a:off x="863600" y="7454900"/>
            <a:ext cx="3556000" cy="6350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0" name="architecture-reviewer-heading">
            <a:extLst>
              <a:ext uri="{FF2B5EF4-FFF2-40B4-BE49-F238E27FC236}">
                <a16:creationId xmlns:a16="http://schemas.microsoft.com/office/drawing/2014/main" id="{25A29DEC-57C8-3F9C-1D8E-ECB5A4ACB5A9}"/>
              </a:ext>
            </a:extLst>
          </p:cNvPr>
          <p:cNvSpPr txBox="1"/>
          <p:nvPr/>
        </p:nvSpPr>
        <p:spPr>
          <a:xfrm>
            <a:off x="990600" y="7531100"/>
            <a:ext cx="3302000" cy="2413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Support agent</a:t>
            </a:r>
            <a:endParaRPr lang="en-DE" sz="1400" b="1">
              <a:solidFill>
                <a:srgbClr val="203947"/>
              </a:solidFill>
              <a:latin typeface="Arial" panose="020B0604020202020204" pitchFamily="34" charset="0"/>
            </a:endParaRPr>
          </a:p>
        </p:txBody>
      </p:sp>
      <p:sp>
        <p:nvSpPr>
          <p:cNvPr id="201" name="architecture-reviewer-body">
            <a:extLst>
              <a:ext uri="{FF2B5EF4-FFF2-40B4-BE49-F238E27FC236}">
                <a16:creationId xmlns:a16="http://schemas.microsoft.com/office/drawing/2014/main" id="{0D901791-E3C1-15CB-9805-AA7C6C2809A5}"/>
              </a:ext>
            </a:extLst>
          </p:cNvPr>
          <p:cNvSpPr txBox="1"/>
          <p:nvPr/>
        </p:nvSpPr>
        <p:spPr>
          <a:xfrm>
            <a:off x="990600" y="7810500"/>
            <a:ext cx="3302000" cy="2286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Approve / edit / reject / reassign</a:t>
            </a:r>
            <a:endParaRPr lang="en-DE" sz="1250">
              <a:solidFill>
                <a:srgbClr val="536873"/>
              </a:solidFill>
              <a:latin typeface="Arial" panose="020B0604020202020204" pitchFamily="34" charset="0"/>
            </a:endParaRPr>
          </a:p>
        </p:txBody>
      </p:sp>
      <p:sp>
        <p:nvSpPr>
          <p:cNvPr id="202" name="architecture-audit">
            <a:extLst>
              <a:ext uri="{FF2B5EF4-FFF2-40B4-BE49-F238E27FC236}">
                <a16:creationId xmlns:a16="http://schemas.microsoft.com/office/drawing/2014/main" id="{380B07B1-60DD-5200-DA08-811CC9D88DC2}"/>
              </a:ext>
            </a:extLst>
          </p:cNvPr>
          <p:cNvSpPr/>
          <p:nvPr/>
        </p:nvSpPr>
        <p:spPr>
          <a:xfrm>
            <a:off x="4572000" y="7454900"/>
            <a:ext cx="3556000" cy="6350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3" name="architecture-audit-heading">
            <a:extLst>
              <a:ext uri="{FF2B5EF4-FFF2-40B4-BE49-F238E27FC236}">
                <a16:creationId xmlns:a16="http://schemas.microsoft.com/office/drawing/2014/main" id="{BF1A57AF-B4D6-FA49-8D24-51431C93F3A4}"/>
              </a:ext>
            </a:extLst>
          </p:cNvPr>
          <p:cNvSpPr txBox="1"/>
          <p:nvPr/>
        </p:nvSpPr>
        <p:spPr>
          <a:xfrm>
            <a:off x="4699000" y="7531100"/>
            <a:ext cx="3302000" cy="2413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Escalation + audit</a:t>
            </a:r>
            <a:endParaRPr lang="en-DE" sz="1400" b="1">
              <a:solidFill>
                <a:srgbClr val="203947"/>
              </a:solidFill>
              <a:latin typeface="Arial" panose="020B0604020202020204" pitchFamily="34" charset="0"/>
            </a:endParaRPr>
          </a:p>
        </p:txBody>
      </p:sp>
      <p:sp>
        <p:nvSpPr>
          <p:cNvPr id="204" name="architecture-audit-body">
            <a:extLst>
              <a:ext uri="{FF2B5EF4-FFF2-40B4-BE49-F238E27FC236}">
                <a16:creationId xmlns:a16="http://schemas.microsoft.com/office/drawing/2014/main" id="{EF051C8D-2C43-29CC-C274-5AC7E81AC2B5}"/>
              </a:ext>
            </a:extLst>
          </p:cNvPr>
          <p:cNvSpPr txBox="1"/>
          <p:nvPr/>
        </p:nvSpPr>
        <p:spPr>
          <a:xfrm>
            <a:off x="4699000" y="7810500"/>
            <a:ext cx="3302000" cy="2286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Reasons and review actions recorded</a:t>
            </a:r>
            <a:endParaRPr lang="en-DE" sz="1250">
              <a:solidFill>
                <a:srgbClr val="536873"/>
              </a:solidFill>
              <a:latin typeface="Arial" panose="020B0604020202020204" pitchFamily="34" charset="0"/>
            </a:endParaRPr>
          </a:p>
        </p:txBody>
      </p:sp>
      <p:sp>
        <p:nvSpPr>
          <p:cNvPr id="205" name="architecture-approved">
            <a:extLst>
              <a:ext uri="{FF2B5EF4-FFF2-40B4-BE49-F238E27FC236}">
                <a16:creationId xmlns:a16="http://schemas.microsoft.com/office/drawing/2014/main" id="{F5D08E27-A48B-AEC4-951D-C1684D607CFB}"/>
              </a:ext>
            </a:extLst>
          </p:cNvPr>
          <p:cNvSpPr/>
          <p:nvPr/>
        </p:nvSpPr>
        <p:spPr>
          <a:xfrm>
            <a:off x="8280400" y="7454900"/>
            <a:ext cx="3556000" cy="6350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6" name="architecture-approved-heading">
            <a:extLst>
              <a:ext uri="{FF2B5EF4-FFF2-40B4-BE49-F238E27FC236}">
                <a16:creationId xmlns:a16="http://schemas.microsoft.com/office/drawing/2014/main" id="{BAF4283F-7C87-3D19-DCE6-B42EC5E341D7}"/>
              </a:ext>
            </a:extLst>
          </p:cNvPr>
          <p:cNvSpPr txBox="1"/>
          <p:nvPr/>
        </p:nvSpPr>
        <p:spPr>
          <a:xfrm>
            <a:off x="8407400" y="7531100"/>
            <a:ext cx="3302000" cy="241300"/>
          </a:xfrm>
          <a:prstGeom prst="rect">
            <a:avLst/>
          </a:prstGeom>
          <a:noFill/>
        </p:spPr>
        <p:txBody>
          <a:bodyPr vert="horz" wrap="square" lIns="0" tIns="0" rIns="0" bIns="0" rtlCol="0" anchor="t">
            <a:noAutofit/>
          </a:bodyPr>
          <a:lstStyle/>
          <a:p>
            <a:r>
              <a:rPr lang="en-US" sz="1400" b="1">
                <a:solidFill>
                  <a:srgbClr val="203947"/>
                </a:solidFill>
                <a:latin typeface="Arial" panose="020B0604020202020204" pitchFamily="34" charset="0"/>
              </a:rPr>
              <a:t>Approved response</a:t>
            </a:r>
            <a:endParaRPr lang="en-DE" sz="1400" b="1">
              <a:solidFill>
                <a:srgbClr val="203947"/>
              </a:solidFill>
              <a:latin typeface="Arial" panose="020B0604020202020204" pitchFamily="34" charset="0"/>
            </a:endParaRPr>
          </a:p>
        </p:txBody>
      </p:sp>
      <p:sp>
        <p:nvSpPr>
          <p:cNvPr id="207" name="architecture-approved-body">
            <a:extLst>
              <a:ext uri="{FF2B5EF4-FFF2-40B4-BE49-F238E27FC236}">
                <a16:creationId xmlns:a16="http://schemas.microsoft.com/office/drawing/2014/main" id="{6EC23B6C-B076-B84C-0E88-1C588CAB21BC}"/>
              </a:ext>
            </a:extLst>
          </p:cNvPr>
          <p:cNvSpPr txBox="1"/>
          <p:nvPr/>
        </p:nvSpPr>
        <p:spPr>
          <a:xfrm>
            <a:off x="8407400" y="7810500"/>
            <a:ext cx="3302000" cy="2286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Manual copy; no send API</a:t>
            </a:r>
            <a:endParaRPr lang="en-DE" sz="1250">
              <a:solidFill>
                <a:srgbClr val="536873"/>
              </a:solidFill>
              <a:latin typeface="Arial" panose="020B0604020202020204" pitchFamily="34" charset="0"/>
            </a:endParaRPr>
          </a:p>
        </p:txBody>
      </p:sp>
      <p:sp>
        <p:nvSpPr>
          <p:cNvPr id="208" name="architecture-model-boundary">
            <a:extLst>
              <a:ext uri="{FF2B5EF4-FFF2-40B4-BE49-F238E27FC236}">
                <a16:creationId xmlns:a16="http://schemas.microsoft.com/office/drawing/2014/main" id="{30188D98-8778-4B33-F278-BB9EB463FE5D}"/>
              </a:ext>
            </a:extLst>
          </p:cNvPr>
          <p:cNvSpPr/>
          <p:nvPr/>
        </p:nvSpPr>
        <p:spPr>
          <a:xfrm>
            <a:off x="12509500" y="1778000"/>
            <a:ext cx="3238500" cy="32385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9" name="architecture-model-label">
            <a:extLst>
              <a:ext uri="{FF2B5EF4-FFF2-40B4-BE49-F238E27FC236}">
                <a16:creationId xmlns:a16="http://schemas.microsoft.com/office/drawing/2014/main" id="{BCA271EB-863E-B0FD-0148-82552503EED8}"/>
              </a:ext>
            </a:extLst>
          </p:cNvPr>
          <p:cNvSpPr txBox="1"/>
          <p:nvPr/>
        </p:nvSpPr>
        <p:spPr>
          <a:xfrm>
            <a:off x="12712700" y="1917700"/>
            <a:ext cx="2832100" cy="254000"/>
          </a:xfrm>
          <a:prstGeom prst="rect">
            <a:avLst/>
          </a:prstGeom>
          <a:noFill/>
        </p:spPr>
        <p:txBody>
          <a:bodyPr vert="horz" wrap="square" lIns="0" tIns="0" rIns="0" bIns="0" rtlCol="0" anchor="t">
            <a:noAutofit/>
          </a:bodyPr>
          <a:lstStyle/>
          <a:p>
            <a:r>
              <a:rPr lang="en-US" sz="1400" b="1">
                <a:solidFill>
                  <a:srgbClr val="B88431"/>
                </a:solidFill>
                <a:latin typeface="Arial" panose="020B0604020202020204" pitchFamily="34" charset="0"/>
              </a:rPr>
              <a:t>EXTERNAL MODEL APIs</a:t>
            </a:r>
            <a:endParaRPr lang="en-DE" sz="1400" b="1">
              <a:solidFill>
                <a:srgbClr val="B88431"/>
              </a:solidFill>
              <a:latin typeface="Arial" panose="020B0604020202020204" pitchFamily="34" charset="0"/>
            </a:endParaRPr>
          </a:p>
        </p:txBody>
      </p:sp>
      <p:sp>
        <p:nvSpPr>
          <p:cNvPr id="210" name="architecture-typesafe">
            <a:extLst>
              <a:ext uri="{FF2B5EF4-FFF2-40B4-BE49-F238E27FC236}">
                <a16:creationId xmlns:a16="http://schemas.microsoft.com/office/drawing/2014/main" id="{6A8D439D-6B27-37D8-4D2B-4680F51A5AEC}"/>
              </a:ext>
            </a:extLst>
          </p:cNvPr>
          <p:cNvSpPr/>
          <p:nvPr/>
        </p:nvSpPr>
        <p:spPr>
          <a:xfrm>
            <a:off x="12712700" y="2286000"/>
            <a:ext cx="2832100" cy="1041400"/>
          </a:xfrm>
          <a:prstGeom prst="rect">
            <a:avLst/>
          </a:prstGeom>
          <a:solidFill>
            <a:srgbClr val="FFFFFF"/>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11" name="architecture-typesafe-heading">
            <a:extLst>
              <a:ext uri="{FF2B5EF4-FFF2-40B4-BE49-F238E27FC236}">
                <a16:creationId xmlns:a16="http://schemas.microsoft.com/office/drawing/2014/main" id="{03103F89-ABF0-96F3-9C01-6A3ED8101FC8}"/>
              </a:ext>
            </a:extLst>
          </p:cNvPr>
          <p:cNvSpPr txBox="1"/>
          <p:nvPr/>
        </p:nvSpPr>
        <p:spPr>
          <a:xfrm>
            <a:off x="12839700" y="2387600"/>
            <a:ext cx="2578100" cy="292100"/>
          </a:xfrm>
          <a:prstGeom prst="rect">
            <a:avLst/>
          </a:prstGeom>
          <a:noFill/>
        </p:spPr>
        <p:txBody>
          <a:bodyPr vert="horz" wrap="square" lIns="0" tIns="0" rIns="0" bIns="0" rtlCol="0" anchor="t">
            <a:noAutofit/>
          </a:bodyPr>
          <a:lstStyle/>
          <a:p>
            <a:r>
              <a:rPr lang="en-US" sz="1700" b="1">
                <a:solidFill>
                  <a:srgbClr val="203947"/>
                </a:solidFill>
                <a:latin typeface="Arial" panose="020B0604020202020204" pitchFamily="34" charset="0"/>
              </a:rPr>
              <a:t>TypeSafe / Jev</a:t>
            </a:r>
            <a:endParaRPr lang="en-DE" sz="1700" b="1">
              <a:solidFill>
                <a:srgbClr val="203947"/>
              </a:solidFill>
              <a:latin typeface="Arial" panose="020B0604020202020204" pitchFamily="34" charset="0"/>
            </a:endParaRPr>
          </a:p>
        </p:txBody>
      </p:sp>
      <p:sp>
        <p:nvSpPr>
          <p:cNvPr id="212" name="architecture-typesafe-body">
            <a:extLst>
              <a:ext uri="{FF2B5EF4-FFF2-40B4-BE49-F238E27FC236}">
                <a16:creationId xmlns:a16="http://schemas.microsoft.com/office/drawing/2014/main" id="{CA0DC471-5400-7514-DA84-21505B762660}"/>
              </a:ext>
            </a:extLst>
          </p:cNvPr>
          <p:cNvSpPr txBox="1"/>
          <p:nvPr/>
        </p:nvSpPr>
        <p:spPr>
          <a:xfrm>
            <a:off x="12839700" y="2692400"/>
            <a:ext cx="2578100" cy="3429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Classification + field selection</a:t>
            </a:r>
            <a:endParaRPr lang="en-DE" sz="1250">
              <a:solidFill>
                <a:srgbClr val="536873"/>
              </a:solidFill>
              <a:latin typeface="Arial" panose="020B0604020202020204" pitchFamily="34" charset="0"/>
            </a:endParaRPr>
          </a:p>
        </p:txBody>
      </p:sp>
      <p:sp>
        <p:nvSpPr>
          <p:cNvPr id="213" name="architecture-typesafe-stack">
            <a:extLst>
              <a:ext uri="{FF2B5EF4-FFF2-40B4-BE49-F238E27FC236}">
                <a16:creationId xmlns:a16="http://schemas.microsoft.com/office/drawing/2014/main" id="{AEF97EDE-154D-C545-2598-B911748F4B89}"/>
              </a:ext>
            </a:extLst>
          </p:cNvPr>
          <p:cNvSpPr txBox="1"/>
          <p:nvPr/>
        </p:nvSpPr>
        <p:spPr>
          <a:xfrm>
            <a:off x="12839700" y="3060700"/>
            <a:ext cx="2578100" cy="228600"/>
          </a:xfrm>
          <a:prstGeom prst="rect">
            <a:avLst/>
          </a:prstGeom>
          <a:noFill/>
        </p:spPr>
        <p:txBody>
          <a:bodyPr vert="horz" wrap="square" lIns="0" tIns="0" rIns="0" bIns="0" rtlCol="0" anchor="t">
            <a:noAutofit/>
          </a:bodyPr>
          <a:lstStyle/>
          <a:p>
            <a:r>
              <a:rPr lang="en-US" sz="1150" b="1">
                <a:solidFill>
                  <a:srgbClr val="B88431"/>
                </a:solidFill>
                <a:latin typeface="Arial" panose="020B0604020202020204" pitchFamily="34" charset="0"/>
              </a:rPr>
              <a:t>jev-1.13.0 / HTTPS</a:t>
            </a:r>
            <a:endParaRPr lang="en-DE" sz="1150" b="1">
              <a:solidFill>
                <a:srgbClr val="B88431"/>
              </a:solidFill>
              <a:latin typeface="Arial" panose="020B0604020202020204" pitchFamily="34" charset="0"/>
            </a:endParaRPr>
          </a:p>
        </p:txBody>
      </p:sp>
      <p:sp>
        <p:nvSpPr>
          <p:cNvPr id="214" name="architecture-openrouter">
            <a:extLst>
              <a:ext uri="{FF2B5EF4-FFF2-40B4-BE49-F238E27FC236}">
                <a16:creationId xmlns:a16="http://schemas.microsoft.com/office/drawing/2014/main" id="{450942F3-6E9B-0A0A-237A-D4EED358C95B}"/>
              </a:ext>
            </a:extLst>
          </p:cNvPr>
          <p:cNvSpPr/>
          <p:nvPr/>
        </p:nvSpPr>
        <p:spPr>
          <a:xfrm>
            <a:off x="12712700" y="3556000"/>
            <a:ext cx="2832100" cy="1257300"/>
          </a:xfrm>
          <a:prstGeom prst="rect">
            <a:avLst/>
          </a:prstGeom>
          <a:solidFill>
            <a:srgbClr val="FFFFFF"/>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15" name="architecture-openrouter-heading">
            <a:extLst>
              <a:ext uri="{FF2B5EF4-FFF2-40B4-BE49-F238E27FC236}">
                <a16:creationId xmlns:a16="http://schemas.microsoft.com/office/drawing/2014/main" id="{5D2028BF-3960-658C-8B81-2226006E4080}"/>
              </a:ext>
            </a:extLst>
          </p:cNvPr>
          <p:cNvSpPr txBox="1"/>
          <p:nvPr/>
        </p:nvSpPr>
        <p:spPr>
          <a:xfrm>
            <a:off x="12839700" y="3657600"/>
            <a:ext cx="2578100" cy="292100"/>
          </a:xfrm>
          <a:prstGeom prst="rect">
            <a:avLst/>
          </a:prstGeom>
          <a:noFill/>
        </p:spPr>
        <p:txBody>
          <a:bodyPr vert="horz" wrap="square" lIns="0" tIns="0" rIns="0" bIns="0" rtlCol="0" anchor="t">
            <a:noAutofit/>
          </a:bodyPr>
          <a:lstStyle/>
          <a:p>
            <a:r>
              <a:rPr lang="en-US" sz="1700" b="1">
                <a:solidFill>
                  <a:srgbClr val="203947"/>
                </a:solidFill>
                <a:latin typeface="Arial" panose="020B0604020202020204" pitchFamily="34" charset="0"/>
              </a:rPr>
              <a:t>OpenRouter / Gemini</a:t>
            </a:r>
            <a:endParaRPr lang="en-DE" sz="1700" b="1">
              <a:solidFill>
                <a:srgbClr val="203947"/>
              </a:solidFill>
              <a:latin typeface="Arial" panose="020B0604020202020204" pitchFamily="34" charset="0"/>
            </a:endParaRPr>
          </a:p>
        </p:txBody>
      </p:sp>
      <p:sp>
        <p:nvSpPr>
          <p:cNvPr id="216" name="architecture-openrouter-body">
            <a:extLst>
              <a:ext uri="{FF2B5EF4-FFF2-40B4-BE49-F238E27FC236}">
                <a16:creationId xmlns:a16="http://schemas.microsoft.com/office/drawing/2014/main" id="{5AF1A708-180E-B65A-D7F7-966B19483548}"/>
              </a:ext>
            </a:extLst>
          </p:cNvPr>
          <p:cNvSpPr txBox="1"/>
          <p:nvPr/>
        </p:nvSpPr>
        <p:spPr>
          <a:xfrm>
            <a:off x="12839700" y="3962400"/>
            <a:ext cx="2578100" cy="558800"/>
          </a:xfrm>
          <a:prstGeom prst="rect">
            <a:avLst/>
          </a:prstGeom>
          <a:noFill/>
        </p:spPr>
        <p:txBody>
          <a:bodyPr vert="horz" wrap="square" lIns="0" tIns="0" rIns="0" bIns="0" rtlCol="0" anchor="t">
            <a:noAutofit/>
          </a:bodyPr>
          <a:lstStyle/>
          <a:p>
            <a:r>
              <a:rPr lang="en-US" sz="1250">
                <a:solidFill>
                  <a:srgbClr val="536873"/>
                </a:solidFill>
                <a:latin typeface="Arial" panose="020B0604020202020204" pitchFamily="34" charset="0"/>
              </a:rPr>
              <a:t>Fallback, gemini-only mode
and extraction gap filling</a:t>
            </a:r>
            <a:endParaRPr lang="en-DE" sz="1250">
              <a:solidFill>
                <a:srgbClr val="536873"/>
              </a:solidFill>
              <a:latin typeface="Arial" panose="020B0604020202020204" pitchFamily="34" charset="0"/>
            </a:endParaRPr>
          </a:p>
        </p:txBody>
      </p:sp>
      <p:sp>
        <p:nvSpPr>
          <p:cNvPr id="217" name="architecture-openrouter-stack">
            <a:extLst>
              <a:ext uri="{FF2B5EF4-FFF2-40B4-BE49-F238E27FC236}">
                <a16:creationId xmlns:a16="http://schemas.microsoft.com/office/drawing/2014/main" id="{89ECC180-8F20-D9C6-D3BA-66E23E30BC7C}"/>
              </a:ext>
            </a:extLst>
          </p:cNvPr>
          <p:cNvSpPr txBox="1"/>
          <p:nvPr/>
        </p:nvSpPr>
        <p:spPr>
          <a:xfrm>
            <a:off x="12839700" y="4546600"/>
            <a:ext cx="2578100" cy="228600"/>
          </a:xfrm>
          <a:prstGeom prst="rect">
            <a:avLst/>
          </a:prstGeom>
          <a:noFill/>
        </p:spPr>
        <p:txBody>
          <a:bodyPr vert="horz" wrap="square" lIns="0" tIns="0" rIns="0" bIns="0" rtlCol="0" anchor="t">
            <a:noAutofit/>
          </a:bodyPr>
          <a:lstStyle/>
          <a:p>
            <a:r>
              <a:rPr lang="en-US" sz="1150" b="1">
                <a:solidFill>
                  <a:srgbClr val="B88431"/>
                </a:solidFill>
                <a:latin typeface="Arial" panose="020B0604020202020204" pitchFamily="34" charset="0"/>
              </a:rPr>
              <a:t>google/gemini-3.8-flash</a:t>
            </a:r>
            <a:endParaRPr lang="en-DE" sz="1150" b="1">
              <a:solidFill>
                <a:srgbClr val="B88431"/>
              </a:solidFill>
              <a:latin typeface="Arial" panose="020B0604020202020204" pitchFamily="34" charset="0"/>
            </a:endParaRPr>
          </a:p>
        </p:txBody>
      </p:sp>
      <p:cxnSp>
        <p:nvCxnSpPr>
          <p:cNvPr id="218" name="architecture-jev-model">
            <a:extLst>
              <a:ext uri="{FF2B5EF4-FFF2-40B4-BE49-F238E27FC236}">
                <a16:creationId xmlns:a16="http://schemas.microsoft.com/office/drawing/2014/main" id="{BAD3739C-39FF-94BB-14A5-111A246B622F}"/>
              </a:ext>
            </a:extLst>
          </p:cNvPr>
          <p:cNvCxnSpPr/>
          <p:nvPr/>
        </p:nvCxnSpPr>
        <p:spPr>
          <a:xfrm flipV="1">
            <a:off x="3530600" y="4165600"/>
            <a:ext cx="0" cy="7620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219" name="architecture-extract-model">
            <a:extLst>
              <a:ext uri="{FF2B5EF4-FFF2-40B4-BE49-F238E27FC236}">
                <a16:creationId xmlns:a16="http://schemas.microsoft.com/office/drawing/2014/main" id="{3F873558-3DC4-6094-AB7A-614FC8941224}"/>
              </a:ext>
            </a:extLst>
          </p:cNvPr>
          <p:cNvCxnSpPr/>
          <p:nvPr/>
        </p:nvCxnSpPr>
        <p:spPr>
          <a:xfrm flipV="1">
            <a:off x="5410200" y="4165600"/>
            <a:ext cx="0" cy="7620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220" name="architecture-model-bus">
            <a:extLst>
              <a:ext uri="{FF2B5EF4-FFF2-40B4-BE49-F238E27FC236}">
                <a16:creationId xmlns:a16="http://schemas.microsoft.com/office/drawing/2014/main" id="{ABA23D95-CED5-8713-0DEA-6342FF07C697}"/>
              </a:ext>
            </a:extLst>
          </p:cNvPr>
          <p:cNvCxnSpPr/>
          <p:nvPr/>
        </p:nvCxnSpPr>
        <p:spPr>
          <a:xfrm>
            <a:off x="3530600" y="4165600"/>
            <a:ext cx="8813800" cy="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221" name="architecture-model-up">
            <a:extLst>
              <a:ext uri="{FF2B5EF4-FFF2-40B4-BE49-F238E27FC236}">
                <a16:creationId xmlns:a16="http://schemas.microsoft.com/office/drawing/2014/main" id="{04E4C185-0713-6F7A-3EFF-74E06330E391}"/>
              </a:ext>
            </a:extLst>
          </p:cNvPr>
          <p:cNvCxnSpPr/>
          <p:nvPr/>
        </p:nvCxnSpPr>
        <p:spPr>
          <a:xfrm flipV="1">
            <a:off x="12344400" y="3416300"/>
            <a:ext cx="0" cy="749300"/>
          </a:xfrm>
          <a:prstGeom prst="straightConnector1">
            <a:avLst/>
          </a:prstGeom>
          <a:ln w="22860">
            <a:solidFill>
              <a:srgbClr val="B88431"/>
            </a:solidFill>
            <a:prstDash val="dash"/>
          </a:ln>
        </p:spPr>
        <p:style>
          <a:lnRef idx="2">
            <a:schemeClr val="accent1"/>
          </a:lnRef>
          <a:fillRef idx="0">
            <a:schemeClr val="accent1"/>
          </a:fillRef>
          <a:effectRef idx="1">
            <a:schemeClr val="accent1"/>
          </a:effectRef>
          <a:fontRef idx="minor">
            <a:schemeClr val="tx1"/>
          </a:fontRef>
        </p:style>
      </p:cxnSp>
      <p:cxnSp>
        <p:nvCxnSpPr>
          <p:cNvPr id="222" name="architecture-model-https">
            <a:extLst>
              <a:ext uri="{FF2B5EF4-FFF2-40B4-BE49-F238E27FC236}">
                <a16:creationId xmlns:a16="http://schemas.microsoft.com/office/drawing/2014/main" id="{74DC2911-3F99-0352-595E-53316453CD93}"/>
              </a:ext>
            </a:extLst>
          </p:cNvPr>
          <p:cNvCxnSpPr/>
          <p:nvPr/>
        </p:nvCxnSpPr>
        <p:spPr>
          <a:xfrm>
            <a:off x="12344400" y="3416300"/>
            <a:ext cx="165100" cy="0"/>
          </a:xfrm>
          <a:prstGeom prst="straightConnector1">
            <a:avLst/>
          </a:prstGeom>
          <a:ln w="22860">
            <a:solidFill>
              <a:srgbClr val="B88431"/>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23" name="architecture-rag-planned">
            <a:extLst>
              <a:ext uri="{FF2B5EF4-FFF2-40B4-BE49-F238E27FC236}">
                <a16:creationId xmlns:a16="http://schemas.microsoft.com/office/drawing/2014/main" id="{3724CEBF-3F9A-8EF9-2344-F47307AA8988}"/>
              </a:ext>
            </a:extLst>
          </p:cNvPr>
          <p:cNvSpPr/>
          <p:nvPr/>
        </p:nvSpPr>
        <p:spPr>
          <a:xfrm>
            <a:off x="12509500" y="5308600"/>
            <a:ext cx="3238500" cy="1498600"/>
          </a:xfrm>
          <a:prstGeom prst="rect">
            <a:avLst/>
          </a:prstGeom>
          <a:solidFill>
            <a:srgbClr val="F3F6F7"/>
          </a:solidFill>
          <a:ln w="12700">
            <a:solidFill>
              <a:srgbClr val="53687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4" name="architecture-rag-heading">
            <a:extLst>
              <a:ext uri="{FF2B5EF4-FFF2-40B4-BE49-F238E27FC236}">
                <a16:creationId xmlns:a16="http://schemas.microsoft.com/office/drawing/2014/main" id="{1F225686-83CE-88F7-EDCB-1D5BD4D9B284}"/>
              </a:ext>
            </a:extLst>
          </p:cNvPr>
          <p:cNvSpPr txBox="1"/>
          <p:nvPr/>
        </p:nvSpPr>
        <p:spPr>
          <a:xfrm>
            <a:off x="12712700" y="5461000"/>
            <a:ext cx="2832100" cy="279400"/>
          </a:xfrm>
          <a:prstGeom prst="rect">
            <a:avLst/>
          </a:prstGeom>
          <a:noFill/>
        </p:spPr>
        <p:txBody>
          <a:bodyPr vert="horz" wrap="square" lIns="0" tIns="0" rIns="0" bIns="0" rtlCol="0" anchor="t">
            <a:noAutofit/>
          </a:bodyPr>
          <a:lstStyle/>
          <a:p>
            <a:r>
              <a:rPr lang="en-US" sz="1400" b="1">
                <a:solidFill>
                  <a:srgbClr val="536873"/>
                </a:solidFill>
                <a:latin typeface="Arial" panose="020B0604020202020204" pitchFamily="34" charset="0"/>
              </a:rPr>
              <a:t>PLANNED / RAG DRAFTING</a:t>
            </a:r>
            <a:endParaRPr lang="en-DE" sz="1400" b="1">
              <a:solidFill>
                <a:srgbClr val="536873"/>
              </a:solidFill>
              <a:latin typeface="Arial" panose="020B0604020202020204" pitchFamily="34" charset="0"/>
            </a:endParaRPr>
          </a:p>
        </p:txBody>
      </p:sp>
      <p:sp>
        <p:nvSpPr>
          <p:cNvPr id="225" name="architecture-rag-body">
            <a:extLst>
              <a:ext uri="{FF2B5EF4-FFF2-40B4-BE49-F238E27FC236}">
                <a16:creationId xmlns:a16="http://schemas.microsoft.com/office/drawing/2014/main" id="{BD0EB340-C6D9-2C67-D154-46B4063E801D}"/>
              </a:ext>
            </a:extLst>
          </p:cNvPr>
          <p:cNvSpPr txBox="1"/>
          <p:nvPr/>
        </p:nvSpPr>
        <p:spPr>
          <a:xfrm>
            <a:off x="12712700" y="5842000"/>
            <a:ext cx="2832100" cy="520700"/>
          </a:xfrm>
          <a:prstGeom prst="rect">
            <a:avLst/>
          </a:prstGeom>
          <a:noFill/>
        </p:spPr>
        <p:txBody>
          <a:bodyPr vert="horz" wrap="square" lIns="0" tIns="0" rIns="0" bIns="0" rtlCol="0" anchor="t">
            <a:noAutofit/>
          </a:bodyPr>
          <a:lstStyle/>
          <a:p>
            <a:r>
              <a:rPr lang="en-US" sz="1400">
                <a:solidFill>
                  <a:srgbClr val="203947"/>
                </a:solidFill>
                <a:latin typeface="Arial" panose="020B0604020202020204" pitchFamily="34" charset="0"/>
              </a:rPr>
              <a:t>LangChain + policy retrieval
Cited Iraqi Arabic replies</a:t>
            </a:r>
            <a:endParaRPr lang="en-DE" sz="1400">
              <a:solidFill>
                <a:srgbClr val="203947"/>
              </a:solidFill>
              <a:latin typeface="Arial" panose="020B0604020202020204" pitchFamily="34" charset="0"/>
            </a:endParaRPr>
          </a:p>
        </p:txBody>
      </p:sp>
      <p:sp>
        <p:nvSpPr>
          <p:cNvPr id="226" name="architecture-rag-replaces">
            <a:extLst>
              <a:ext uri="{FF2B5EF4-FFF2-40B4-BE49-F238E27FC236}">
                <a16:creationId xmlns:a16="http://schemas.microsoft.com/office/drawing/2014/main" id="{19DE8BF3-4189-3B87-7AD1-5BD8B03B6A10}"/>
              </a:ext>
            </a:extLst>
          </p:cNvPr>
          <p:cNvSpPr txBox="1"/>
          <p:nvPr/>
        </p:nvSpPr>
        <p:spPr>
          <a:xfrm>
            <a:off x="12712700" y="6477000"/>
            <a:ext cx="2832100" cy="241300"/>
          </a:xfrm>
          <a:prstGeom prst="rect">
            <a:avLst/>
          </a:prstGeom>
          <a:noFill/>
        </p:spPr>
        <p:txBody>
          <a:bodyPr vert="horz" wrap="square" lIns="0" tIns="0" rIns="0" bIns="0" rtlCol="0" anchor="t">
            <a:noAutofit/>
          </a:bodyPr>
          <a:lstStyle/>
          <a:p>
            <a:r>
              <a:rPr lang="en-US" sz="1250" b="1">
                <a:solidFill>
                  <a:srgbClr val="536873"/>
                </a:solidFill>
                <a:latin typeface="Arial" panose="020B0604020202020204" pitchFamily="34" charset="0"/>
              </a:rPr>
              <a:t>Replaces NullDrafter</a:t>
            </a:r>
            <a:endParaRPr lang="en-DE" sz="1250" b="1">
              <a:solidFill>
                <a:srgbClr val="536873"/>
              </a:solidFill>
              <a:latin typeface="Arial" panose="020B0604020202020204" pitchFamily="34" charset="0"/>
            </a:endParaRPr>
          </a:p>
        </p:txBody>
      </p:sp>
      <p:cxnSp>
        <p:nvCxnSpPr>
          <p:cNvPr id="227" name="architecture-rag-out">
            <a:extLst>
              <a:ext uri="{FF2B5EF4-FFF2-40B4-BE49-F238E27FC236}">
                <a16:creationId xmlns:a16="http://schemas.microsoft.com/office/drawing/2014/main" id="{0DCC7ECD-E1DD-FBD2-1A69-C538627B6A96}"/>
              </a:ext>
            </a:extLst>
          </p:cNvPr>
          <p:cNvCxnSpPr/>
          <p:nvPr/>
        </p:nvCxnSpPr>
        <p:spPr>
          <a:xfrm flipH="1">
            <a:off x="12306300" y="6057900"/>
            <a:ext cx="203200" cy="0"/>
          </a:xfrm>
          <a:prstGeom prst="straightConnector1">
            <a:avLst/>
          </a:prstGeom>
          <a:ln w="22860">
            <a:solidFill>
              <a:srgbClr val="536873"/>
            </a:solidFill>
            <a:prstDash val="dash"/>
          </a:ln>
        </p:spPr>
        <p:style>
          <a:lnRef idx="2">
            <a:schemeClr val="accent1"/>
          </a:lnRef>
          <a:fillRef idx="0">
            <a:schemeClr val="accent1"/>
          </a:fillRef>
          <a:effectRef idx="1">
            <a:schemeClr val="accent1"/>
          </a:effectRef>
          <a:fontRef idx="minor">
            <a:schemeClr val="tx1"/>
          </a:fontRef>
        </p:style>
      </p:cxnSp>
      <p:cxnSp>
        <p:nvCxnSpPr>
          <p:cNvPr id="228" name="architecture-rag-up">
            <a:extLst>
              <a:ext uri="{FF2B5EF4-FFF2-40B4-BE49-F238E27FC236}">
                <a16:creationId xmlns:a16="http://schemas.microsoft.com/office/drawing/2014/main" id="{B6CF407E-8775-94A4-9ABD-84C8ADE604E0}"/>
              </a:ext>
            </a:extLst>
          </p:cNvPr>
          <p:cNvCxnSpPr/>
          <p:nvPr/>
        </p:nvCxnSpPr>
        <p:spPr>
          <a:xfrm flipV="1">
            <a:off x="12306300" y="5346700"/>
            <a:ext cx="0" cy="711200"/>
          </a:xfrm>
          <a:prstGeom prst="straightConnector1">
            <a:avLst/>
          </a:prstGeom>
          <a:ln w="22860">
            <a:solidFill>
              <a:srgbClr val="536873"/>
            </a:solidFill>
            <a:prstDash val="dash"/>
          </a:ln>
        </p:spPr>
        <p:style>
          <a:lnRef idx="2">
            <a:schemeClr val="accent1"/>
          </a:lnRef>
          <a:fillRef idx="0">
            <a:schemeClr val="accent1"/>
          </a:fillRef>
          <a:effectRef idx="1">
            <a:schemeClr val="accent1"/>
          </a:effectRef>
          <a:fontRef idx="minor">
            <a:schemeClr val="tx1"/>
          </a:fontRef>
        </p:style>
      </p:cxnSp>
      <p:cxnSp>
        <p:nvCxnSpPr>
          <p:cNvPr id="229" name="architecture-rag-left">
            <a:extLst>
              <a:ext uri="{FF2B5EF4-FFF2-40B4-BE49-F238E27FC236}">
                <a16:creationId xmlns:a16="http://schemas.microsoft.com/office/drawing/2014/main" id="{40C8FC27-FD23-B5BF-3559-E25A512089EE}"/>
              </a:ext>
            </a:extLst>
          </p:cNvPr>
          <p:cNvCxnSpPr/>
          <p:nvPr/>
        </p:nvCxnSpPr>
        <p:spPr>
          <a:xfrm flipH="1">
            <a:off x="11391900" y="5346700"/>
            <a:ext cx="914400" cy="0"/>
          </a:xfrm>
          <a:prstGeom prst="straightConnector1">
            <a:avLst/>
          </a:prstGeom>
          <a:ln w="22860">
            <a:solidFill>
              <a:srgbClr val="536873"/>
            </a:solidFill>
            <a:prstDash val="dash"/>
          </a:ln>
        </p:spPr>
        <p:style>
          <a:lnRef idx="2">
            <a:schemeClr val="accent1"/>
          </a:lnRef>
          <a:fillRef idx="0">
            <a:schemeClr val="accent1"/>
          </a:fillRef>
          <a:effectRef idx="1">
            <a:schemeClr val="accent1"/>
          </a:effectRef>
          <a:fontRef idx="minor">
            <a:schemeClr val="tx1"/>
          </a:fontRef>
        </p:style>
      </p:cxnSp>
      <p:cxnSp>
        <p:nvCxnSpPr>
          <p:cNvPr id="230" name="architecture-rag-draft">
            <a:extLst>
              <a:ext uri="{FF2B5EF4-FFF2-40B4-BE49-F238E27FC236}">
                <a16:creationId xmlns:a16="http://schemas.microsoft.com/office/drawing/2014/main" id="{6A444084-D1C6-14FC-26A3-7EAA4794985B}"/>
              </a:ext>
            </a:extLst>
          </p:cNvPr>
          <p:cNvCxnSpPr/>
          <p:nvPr/>
        </p:nvCxnSpPr>
        <p:spPr>
          <a:xfrm flipV="1">
            <a:off x="11391900" y="5232400"/>
            <a:ext cx="0" cy="114300"/>
          </a:xfrm>
          <a:prstGeom prst="straightConnector1">
            <a:avLst/>
          </a:prstGeom>
          <a:ln w="22860">
            <a:solidFill>
              <a:srgbClr val="536873"/>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31" name="architecture-operations">
            <a:extLst>
              <a:ext uri="{FF2B5EF4-FFF2-40B4-BE49-F238E27FC236}">
                <a16:creationId xmlns:a16="http://schemas.microsoft.com/office/drawing/2014/main" id="{D78A42FC-B090-336D-011A-D4430C4D15AF}"/>
              </a:ext>
            </a:extLst>
          </p:cNvPr>
          <p:cNvSpPr/>
          <p:nvPr/>
        </p:nvSpPr>
        <p:spPr>
          <a:xfrm>
            <a:off x="12509500" y="7073900"/>
            <a:ext cx="3238500" cy="13081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2" name="architecture-operations-heading">
            <a:extLst>
              <a:ext uri="{FF2B5EF4-FFF2-40B4-BE49-F238E27FC236}">
                <a16:creationId xmlns:a16="http://schemas.microsoft.com/office/drawing/2014/main" id="{BFC8C3DC-EC09-1724-FC44-C75E2A91748B}"/>
              </a:ext>
            </a:extLst>
          </p:cNvPr>
          <p:cNvSpPr txBox="1"/>
          <p:nvPr/>
        </p:nvSpPr>
        <p:spPr>
          <a:xfrm>
            <a:off x="12738100" y="7264400"/>
            <a:ext cx="27813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EXECUTION CONTROLS</a:t>
            </a:r>
            <a:endParaRPr lang="en-DE" sz="1400" b="1">
              <a:solidFill>
                <a:srgbClr val="087E83"/>
              </a:solidFill>
              <a:latin typeface="Arial" panose="020B0604020202020204" pitchFamily="34" charset="0"/>
            </a:endParaRPr>
          </a:p>
        </p:txBody>
      </p:sp>
      <p:sp>
        <p:nvSpPr>
          <p:cNvPr id="233" name="architecture-operations-body">
            <a:extLst>
              <a:ext uri="{FF2B5EF4-FFF2-40B4-BE49-F238E27FC236}">
                <a16:creationId xmlns:a16="http://schemas.microsoft.com/office/drawing/2014/main" id="{E2E1D557-AAE3-16CB-5A83-6B10C6FE8F4A}"/>
              </a:ext>
            </a:extLst>
          </p:cNvPr>
          <p:cNvSpPr txBox="1"/>
          <p:nvPr/>
        </p:nvSpPr>
        <p:spPr>
          <a:xfrm>
            <a:off x="12738100" y="7543800"/>
            <a:ext cx="2781300" cy="749300"/>
          </a:xfrm>
          <a:prstGeom prst="rect">
            <a:avLst/>
          </a:prstGeom>
          <a:noFill/>
        </p:spPr>
        <p:txBody>
          <a:bodyPr vert="horz" wrap="square" lIns="0" tIns="0" rIns="0" bIns="0" rtlCol="0" anchor="t">
            <a:noAutofit/>
          </a:bodyPr>
          <a:lstStyle/>
          <a:p>
            <a:r>
              <a:rPr lang="en-US" sz="1250" dirty="0">
                <a:solidFill>
                  <a:srgbClr val="203947"/>
                </a:solidFill>
                <a:latin typeface="Arial" panose="020B0604020202020204" pitchFamily="34" charset="0"/>
              </a:rPr>
              <a:t>Concurrency cap: 20
Node retries: up to 3 attempts
Batch isolates ticket failures</a:t>
            </a:r>
            <a:endParaRPr lang="en-DE" sz="1250" dirty="0">
              <a:solidFill>
                <a:srgbClr val="203947"/>
              </a:solidFill>
              <a:latin typeface="Arial" panose="020B0604020202020204" pitchFamily="34" charset="0"/>
            </a:endParaRPr>
          </a:p>
        </p:txBody>
      </p:sp>
      <p:sp>
        <p:nvSpPr>
          <p:cNvPr id="234" name="footer-rule">
            <a:extLst>
              <a:ext uri="{FF2B5EF4-FFF2-40B4-BE49-F238E27FC236}">
                <a16:creationId xmlns:a16="http://schemas.microsoft.com/office/drawing/2014/main" id="{CD294074-2456-C22B-E5F4-3FD8C5C17C25}"/>
              </a:ext>
            </a:extLst>
          </p:cNvPr>
          <p:cNvSpPr/>
          <p:nvPr/>
        </p:nvSpPr>
        <p:spPr>
          <a:xfrm>
            <a:off x="508000" y="8699500"/>
            <a:ext cx="15240000" cy="12700"/>
          </a:xfrm>
          <a:prstGeom prst="rect">
            <a:avLst/>
          </a:prstGeom>
          <a:solidFill>
            <a:srgbClr val="D9E3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5" name="footer">
            <a:extLst>
              <a:ext uri="{FF2B5EF4-FFF2-40B4-BE49-F238E27FC236}">
                <a16:creationId xmlns:a16="http://schemas.microsoft.com/office/drawing/2014/main" id="{F0891A96-376D-66CE-D27A-51A67BAD3C58}"/>
              </a:ext>
            </a:extLst>
          </p:cNvPr>
          <p:cNvSpPr txBox="1"/>
          <p:nvPr/>
        </p:nvSpPr>
        <p:spPr>
          <a:xfrm>
            <a:off x="508000" y="8826500"/>
            <a:ext cx="15240000" cy="215900"/>
          </a:xfrm>
          <a:prstGeom prst="rect">
            <a:avLst/>
          </a:prstGeom>
          <a:noFill/>
        </p:spPr>
        <p:txBody>
          <a:bodyPr vert="horz" wrap="square" lIns="0" tIns="0" rIns="0" bIns="0" rtlCol="0" anchor="t">
            <a:noAutofit/>
          </a:bodyPr>
          <a:lstStyle/>
          <a:p>
            <a:r>
              <a:rPr lang="en-US" sz="1150">
                <a:solidFill>
                  <a:srgbClr val="536873"/>
                </a:solidFill>
                <a:latin typeface="Arial" panose="020B0604020202020204" pitchFamily="34" charset="0"/>
              </a:rPr>
              <a:t>Teal = pipeline  |  Blue = workspace  |  Gold dashed = model calls / fallback  |  Purple = SQL / persistence  |  Grey dashed = planned</a:t>
            </a:r>
            <a:endParaRPr lang="en-DE" sz="1150">
              <a:solidFill>
                <a:srgbClr val="536873"/>
              </a:solidFill>
              <a:latin typeface="Arial" panose="020B0604020202020204" pitchFamily="34" charset="0"/>
            </a:endParaRPr>
          </a:p>
        </p:txBody>
      </p:sp>
      <p:pic>
        <p:nvPicPr>
          <p:cNvPr id="54" name="Picture 53" descr="LangChain logo in PNG and vector formats (SVG, EPS, PDF)">
            <a:extLst>
              <a:ext uri="{FF2B5EF4-FFF2-40B4-BE49-F238E27FC236}">
                <a16:creationId xmlns:a16="http://schemas.microsoft.com/office/drawing/2014/main" id="{506A04E5-CBFC-28D3-F339-E8D002AB094E}"/>
              </a:ext>
            </a:extLst>
          </p:cNvPr>
          <p:cNvPicPr>
            <a:picLocks noChangeAspect="1"/>
          </p:cNvPicPr>
          <p:nvPr/>
        </p:nvPicPr>
        <p:blipFill>
          <a:blip r:embed="rId3"/>
          <a:srcRect t="38704" b="38889"/>
          <a:stretch>
            <a:fillRect/>
          </a:stretch>
        </p:blipFill>
        <p:spPr>
          <a:xfrm>
            <a:off x="10326757" y="3728164"/>
            <a:ext cx="1597992" cy="358069"/>
          </a:xfrm>
          <a:prstGeom prst="rect">
            <a:avLst/>
          </a:prstGeom>
        </p:spPr>
      </p:pic>
      <p:pic>
        <p:nvPicPr>
          <p:cNvPr id="55" name="Picture 54" descr="Logo vite js Sticker">
            <a:extLst>
              <a:ext uri="{FF2B5EF4-FFF2-40B4-BE49-F238E27FC236}">
                <a16:creationId xmlns:a16="http://schemas.microsoft.com/office/drawing/2014/main" id="{87CE34D3-7F22-32CF-119E-512F1420436B}"/>
              </a:ext>
            </a:extLst>
          </p:cNvPr>
          <p:cNvPicPr>
            <a:picLocks noChangeAspect="1"/>
          </p:cNvPicPr>
          <p:nvPr/>
        </p:nvPicPr>
        <p:blipFill>
          <a:blip r:embed="rId4"/>
          <a:stretch>
            <a:fillRect/>
          </a:stretch>
        </p:blipFill>
        <p:spPr>
          <a:xfrm>
            <a:off x="3526735" y="2311951"/>
            <a:ext cx="342487" cy="456649"/>
          </a:xfrm>
          <a:prstGeom prst="rect">
            <a:avLst/>
          </a:prstGeom>
        </p:spPr>
      </p:pic>
      <p:pic>
        <p:nvPicPr>
          <p:cNvPr id="57" name="Picture 56">
            <a:extLst>
              <a:ext uri="{FF2B5EF4-FFF2-40B4-BE49-F238E27FC236}">
                <a16:creationId xmlns:a16="http://schemas.microsoft.com/office/drawing/2014/main" id="{9392DE02-B43F-0B92-1D71-AEE399116964}"/>
              </a:ext>
            </a:extLst>
          </p:cNvPr>
          <p:cNvPicPr>
            <a:picLocks noChangeAspect="1"/>
          </p:cNvPicPr>
          <p:nvPr/>
        </p:nvPicPr>
        <p:blipFill>
          <a:blip r:embed="rId5"/>
          <a:stretch>
            <a:fillRect/>
          </a:stretch>
        </p:blipFill>
        <p:spPr>
          <a:xfrm>
            <a:off x="6825491" y="2344246"/>
            <a:ext cx="1157218" cy="341804"/>
          </a:xfrm>
          <a:prstGeom prst="rect">
            <a:avLst/>
          </a:prstGeom>
        </p:spPr>
      </p:pic>
      <p:pic>
        <p:nvPicPr>
          <p:cNvPr id="61" name="Picture 60" descr="PostgreSQL logo and symbol, meaning, history, PNG">
            <a:extLst>
              <a:ext uri="{FF2B5EF4-FFF2-40B4-BE49-F238E27FC236}">
                <a16:creationId xmlns:a16="http://schemas.microsoft.com/office/drawing/2014/main" id="{3127E37A-1C88-048F-D332-72E8BAD72206}"/>
              </a:ext>
            </a:extLst>
          </p:cNvPr>
          <p:cNvPicPr>
            <a:picLocks noChangeAspect="1"/>
          </p:cNvPicPr>
          <p:nvPr/>
        </p:nvPicPr>
        <p:blipFill>
          <a:blip r:embed="rId6"/>
          <a:srcRect t="29259" b="32963"/>
          <a:stretch>
            <a:fillRect/>
          </a:stretch>
        </p:blipFill>
        <p:spPr>
          <a:xfrm>
            <a:off x="10446854" y="5765800"/>
            <a:ext cx="1432892" cy="338322"/>
          </a:xfrm>
          <a:prstGeom prst="rect">
            <a:avLst/>
          </a:prstGeom>
        </p:spPr>
      </p:pic>
      <p:pic>
        <p:nvPicPr>
          <p:cNvPr id="62" name="Picture 61" descr="Datei:Google Gemini logo.svg – Wikipedia">
            <a:extLst>
              <a:ext uri="{FF2B5EF4-FFF2-40B4-BE49-F238E27FC236}">
                <a16:creationId xmlns:a16="http://schemas.microsoft.com/office/drawing/2014/main" id="{8B73909A-F995-29A3-0921-81A34420CA9C}"/>
              </a:ext>
            </a:extLst>
          </p:cNvPr>
          <p:cNvPicPr>
            <a:picLocks noChangeAspect="1"/>
          </p:cNvPicPr>
          <p:nvPr/>
        </p:nvPicPr>
        <p:blipFill>
          <a:blip r:embed="rId7"/>
          <a:stretch>
            <a:fillRect/>
          </a:stretch>
        </p:blipFill>
        <p:spPr>
          <a:xfrm>
            <a:off x="4718739" y="5812115"/>
            <a:ext cx="833507" cy="307790"/>
          </a:xfrm>
          <a:prstGeom prst="rect">
            <a:avLst/>
          </a:prstGeom>
        </p:spPr>
      </p:pic>
    </p:spTree>
    <p:extLst>
      <p:ext uri="{BB962C8B-B14F-4D97-AF65-F5344CB8AC3E}">
        <p14:creationId xmlns:p14="http://schemas.microsoft.com/office/powerpoint/2010/main" val="207365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7"/>
        </a:solidFill>
        <a:effectLst/>
      </p:bgPr>
    </p:bg>
    <p:spTree>
      <p:nvGrpSpPr>
        <p:cNvPr id="1" name=""/>
        <p:cNvGrpSpPr/>
        <p:nvPr/>
      </p:nvGrpSpPr>
      <p:grpSpPr>
        <a:xfrm>
          <a:off x="0" y="0"/>
          <a:ext cx="0" cy="0"/>
          <a:chOff x="0" y="0"/>
          <a:chExt cx="0" cy="0"/>
        </a:xfrm>
      </p:grpSpPr>
      <p:sp>
        <p:nvSpPr>
          <p:cNvPr id="2" name="header">
            <a:extLst>
              <a:ext uri="{FF2B5EF4-FFF2-40B4-BE49-F238E27FC236}">
                <a16:creationId xmlns:a16="http://schemas.microsoft.com/office/drawing/2014/main" id="{02267B88-278A-B411-3895-A41393FA0E6B}"/>
              </a:ext>
            </a:extLst>
          </p:cNvPr>
          <p:cNvSpPr/>
          <p:nvPr/>
        </p:nvSpPr>
        <p:spPr>
          <a:xfrm>
            <a:off x="0" y="0"/>
            <a:ext cx="16256000" cy="14732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accent">
            <a:extLst>
              <a:ext uri="{FF2B5EF4-FFF2-40B4-BE49-F238E27FC236}">
                <a16:creationId xmlns:a16="http://schemas.microsoft.com/office/drawing/2014/main" id="{61D5F2A6-EBB8-4CCF-9123-7A4DDD1FC9BA}"/>
              </a:ext>
            </a:extLst>
          </p:cNvPr>
          <p:cNvSpPr/>
          <p:nvPr/>
        </p:nvSpPr>
        <p:spPr>
          <a:xfrm>
            <a:off x="0" y="1422400"/>
            <a:ext cx="16256000" cy="50800"/>
          </a:xfrm>
          <a:prstGeom prst="rect">
            <a:avLst/>
          </a:prstGeom>
          <a:solidFill>
            <a:srgbClr val="087E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eyebrow">
            <a:extLst>
              <a:ext uri="{FF2B5EF4-FFF2-40B4-BE49-F238E27FC236}">
                <a16:creationId xmlns:a16="http://schemas.microsoft.com/office/drawing/2014/main" id="{EECFBC09-3D78-E0D5-0925-2836B1F37AE4}"/>
              </a:ext>
            </a:extLst>
          </p:cNvPr>
          <p:cNvSpPr txBox="1"/>
          <p:nvPr/>
        </p:nvSpPr>
        <p:spPr>
          <a:xfrm>
            <a:off x="508000" y="203200"/>
            <a:ext cx="13970000" cy="241300"/>
          </a:xfrm>
          <a:prstGeom prst="rect">
            <a:avLst/>
          </a:prstGeom>
          <a:noFill/>
        </p:spPr>
        <p:txBody>
          <a:bodyPr vert="horz" wrap="square" lIns="0" tIns="0" rIns="0" bIns="0" rtlCol="0" anchor="t">
            <a:noAutofit/>
          </a:bodyPr>
          <a:lstStyle/>
          <a:p>
            <a:r>
              <a:rPr lang="en-US" sz="1200" b="1">
                <a:solidFill>
                  <a:srgbClr val="B5DCD9"/>
                </a:solidFill>
                <a:latin typeface="Arial" panose="020B0604020202020204" pitchFamily="34" charset="0"/>
              </a:rPr>
              <a:t>SAIF ALMALIKI  /  FAZAA  /  TOPIC 06: SUPPORT PIPELINE AUTOMATION</a:t>
            </a:r>
            <a:endParaRPr lang="en-DE" sz="1200" b="1">
              <a:solidFill>
                <a:srgbClr val="B5DCD9"/>
              </a:solidFill>
              <a:latin typeface="Arial" panose="020B0604020202020204" pitchFamily="34" charset="0"/>
            </a:endParaRPr>
          </a:p>
        </p:txBody>
      </p:sp>
      <p:sp>
        <p:nvSpPr>
          <p:cNvPr id="5" name="title">
            <a:extLst>
              <a:ext uri="{FF2B5EF4-FFF2-40B4-BE49-F238E27FC236}">
                <a16:creationId xmlns:a16="http://schemas.microsoft.com/office/drawing/2014/main" id="{0271D280-CA98-621A-EBA7-88A3765BC571}"/>
              </a:ext>
            </a:extLst>
          </p:cNvPr>
          <p:cNvSpPr txBox="1"/>
          <p:nvPr/>
        </p:nvSpPr>
        <p:spPr>
          <a:xfrm>
            <a:off x="508000" y="520700"/>
            <a:ext cx="14859000" cy="546100"/>
          </a:xfrm>
          <a:prstGeom prst="rect">
            <a:avLst/>
          </a:prstGeom>
          <a:noFill/>
        </p:spPr>
        <p:txBody>
          <a:bodyPr vert="horz" wrap="square" lIns="0" tIns="0" rIns="0" bIns="0" rtlCol="0" anchor="t">
            <a:noAutofit/>
          </a:bodyPr>
          <a:lstStyle/>
          <a:p>
            <a:r>
              <a:rPr lang="en-US" sz="3200" b="1">
                <a:solidFill>
                  <a:srgbClr val="FFFFFF"/>
                </a:solidFill>
                <a:latin typeface="Arial" panose="020B0604020202020204" pitchFamily="34" charset="0"/>
              </a:rPr>
              <a:t>How a ticket flows</a:t>
            </a:r>
            <a:endParaRPr lang="en-DE" sz="3200" b="1">
              <a:solidFill>
                <a:srgbClr val="FFFFFF"/>
              </a:solidFill>
              <a:latin typeface="Arial" panose="020B0604020202020204" pitchFamily="34" charset="0"/>
            </a:endParaRPr>
          </a:p>
        </p:txBody>
      </p:sp>
      <p:sp>
        <p:nvSpPr>
          <p:cNvPr id="6" name="subtitle">
            <a:extLst>
              <a:ext uri="{FF2B5EF4-FFF2-40B4-BE49-F238E27FC236}">
                <a16:creationId xmlns:a16="http://schemas.microsoft.com/office/drawing/2014/main" id="{4B14B629-7D6E-AE2E-4799-4074442C68E2}"/>
              </a:ext>
            </a:extLst>
          </p:cNvPr>
          <p:cNvSpPr txBox="1"/>
          <p:nvPr/>
        </p:nvSpPr>
        <p:spPr>
          <a:xfrm>
            <a:off x="508000" y="1104900"/>
            <a:ext cx="14859000" cy="279400"/>
          </a:xfrm>
          <a:prstGeom prst="rect">
            <a:avLst/>
          </a:prstGeom>
          <a:noFill/>
        </p:spPr>
        <p:txBody>
          <a:bodyPr vert="horz" wrap="square" lIns="0" tIns="0" rIns="0" bIns="0" rtlCol="0" anchor="t">
            <a:noAutofit/>
          </a:bodyPr>
          <a:lstStyle/>
          <a:p>
            <a:r>
              <a:rPr lang="en-US" sz="1600">
                <a:solidFill>
                  <a:srgbClr val="DDE8EB"/>
                </a:solidFill>
                <a:latin typeface="Arial" panose="020B0604020202020204" pitchFamily="34" charset="0"/>
              </a:rPr>
              <a:t>Confidence gates, evidence checks and a person at the final decision.</a:t>
            </a:r>
            <a:endParaRPr lang="en-DE" sz="1600">
              <a:solidFill>
                <a:srgbClr val="DDE8EB"/>
              </a:solidFill>
              <a:latin typeface="Arial" panose="020B0604020202020204" pitchFamily="34" charset="0"/>
            </a:endParaRPr>
          </a:p>
        </p:txBody>
      </p:sp>
      <p:sp>
        <p:nvSpPr>
          <p:cNvPr id="7" name="page">
            <a:extLst>
              <a:ext uri="{FF2B5EF4-FFF2-40B4-BE49-F238E27FC236}">
                <a16:creationId xmlns:a16="http://schemas.microsoft.com/office/drawing/2014/main" id="{89811924-5F94-D584-28AB-AB103B3C2B1A}"/>
              </a:ext>
            </a:extLst>
          </p:cNvPr>
          <p:cNvSpPr txBox="1"/>
          <p:nvPr/>
        </p:nvSpPr>
        <p:spPr>
          <a:xfrm>
            <a:off x="14986000" y="215900"/>
            <a:ext cx="762000" cy="241300"/>
          </a:xfrm>
          <a:prstGeom prst="rect">
            <a:avLst/>
          </a:prstGeom>
          <a:noFill/>
        </p:spPr>
        <p:txBody>
          <a:bodyPr vert="horz" wrap="square" lIns="0" tIns="0" rIns="0" bIns="0" rtlCol="0" anchor="t">
            <a:noAutofit/>
          </a:bodyPr>
          <a:lstStyle/>
          <a:p>
            <a:pPr algn="r"/>
            <a:r>
              <a:rPr lang="en-DE" sz="1200">
                <a:solidFill>
                  <a:srgbClr val="B5DCD9"/>
                </a:solidFill>
                <a:latin typeface="Arial" panose="020B0604020202020204" pitchFamily="34" charset="0"/>
              </a:rPr>
              <a:t>02 / 05</a:t>
            </a:r>
          </a:p>
        </p:txBody>
      </p:sp>
      <p:sp>
        <p:nvSpPr>
          <p:cNvPr id="8" name="intake">
            <a:extLst>
              <a:ext uri="{FF2B5EF4-FFF2-40B4-BE49-F238E27FC236}">
                <a16:creationId xmlns:a16="http://schemas.microsoft.com/office/drawing/2014/main" id="{EFC56F52-B7B3-7A58-869D-BDF98EDC553B}"/>
              </a:ext>
            </a:extLst>
          </p:cNvPr>
          <p:cNvSpPr/>
          <p:nvPr/>
        </p:nvSpPr>
        <p:spPr>
          <a:xfrm>
            <a:off x="508000" y="1917700"/>
            <a:ext cx="1968500" cy="965200"/>
          </a:xfrm>
          <a:prstGeom prst="roundRect">
            <a:avLst/>
          </a:prstGeom>
          <a:solidFill>
            <a:srgbClr val="EAF4D4"/>
          </a:solidFill>
          <a:ln w="12700">
            <a:solidFill>
              <a:srgbClr val="6B8F3C"/>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500">
                <a:solidFill>
                  <a:srgbClr val="203947"/>
                </a:solidFill>
                <a:latin typeface="Arial" panose="020B0604020202020204" pitchFamily="34" charset="0"/>
              </a:rPr>
              <a:t>Ticket intake
paste / upload
CLI batch</a:t>
            </a:r>
            <a:endParaRPr lang="en-DE" sz="1500">
              <a:solidFill>
                <a:srgbClr val="203947"/>
              </a:solidFill>
              <a:latin typeface="Arial" panose="020B0604020202020204" pitchFamily="34" charset="0"/>
            </a:endParaRPr>
          </a:p>
        </p:txBody>
      </p:sp>
      <p:sp>
        <p:nvSpPr>
          <p:cNvPr id="9" name="normalize">
            <a:extLst>
              <a:ext uri="{FF2B5EF4-FFF2-40B4-BE49-F238E27FC236}">
                <a16:creationId xmlns:a16="http://schemas.microsoft.com/office/drawing/2014/main" id="{C37A05DC-2E33-B817-F367-ACA10EB391B9}"/>
              </a:ext>
            </a:extLst>
          </p:cNvPr>
          <p:cNvSpPr/>
          <p:nvPr/>
        </p:nvSpPr>
        <p:spPr>
          <a:xfrm>
            <a:off x="2870200" y="1917700"/>
            <a:ext cx="1968500" cy="9652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600">
                <a:solidFill>
                  <a:srgbClr val="203947"/>
                </a:solidFill>
                <a:latin typeface="Arial" panose="020B0604020202020204" pitchFamily="34" charset="0"/>
              </a:rPr>
              <a:t>Clean text
Digits 0-9
Mask cards</a:t>
            </a:r>
            <a:endParaRPr lang="en-DE" sz="1600">
              <a:solidFill>
                <a:srgbClr val="203947"/>
              </a:solidFill>
              <a:latin typeface="Arial" panose="020B0604020202020204" pitchFamily="34" charset="0"/>
            </a:endParaRPr>
          </a:p>
        </p:txBody>
      </p:sp>
      <p:sp>
        <p:nvSpPr>
          <p:cNvPr id="10" name="jev">
            <a:extLst>
              <a:ext uri="{FF2B5EF4-FFF2-40B4-BE49-F238E27FC236}">
                <a16:creationId xmlns:a16="http://schemas.microsoft.com/office/drawing/2014/main" id="{EB6769E3-F8F5-9D8C-D46B-51115E826FBA}"/>
              </a:ext>
            </a:extLst>
          </p:cNvPr>
          <p:cNvSpPr/>
          <p:nvPr/>
        </p:nvSpPr>
        <p:spPr>
          <a:xfrm>
            <a:off x="5232400" y="1917700"/>
            <a:ext cx="2159000" cy="9652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600">
                <a:solidFill>
                  <a:srgbClr val="203947"/>
                </a:solidFill>
                <a:latin typeface="Arial" panose="020B0604020202020204" pitchFamily="34" charset="0"/>
              </a:rPr>
              <a:t>Jev reads ticket
category / priority
flags + field picks</a:t>
            </a:r>
            <a:endParaRPr lang="en-DE" sz="1600">
              <a:solidFill>
                <a:srgbClr val="203947"/>
              </a:solidFill>
              <a:latin typeface="Arial" panose="020B0604020202020204" pitchFamily="34" charset="0"/>
            </a:endParaRPr>
          </a:p>
        </p:txBody>
      </p:sp>
      <p:sp>
        <p:nvSpPr>
          <p:cNvPr id="11" name="jev-gate">
            <a:extLst>
              <a:ext uri="{FF2B5EF4-FFF2-40B4-BE49-F238E27FC236}">
                <a16:creationId xmlns:a16="http://schemas.microsoft.com/office/drawing/2014/main" id="{F36496EC-CF2C-615C-D5F8-87839348607A}"/>
              </a:ext>
            </a:extLst>
          </p:cNvPr>
          <p:cNvSpPr/>
          <p:nvPr/>
        </p:nvSpPr>
        <p:spPr>
          <a:xfrm>
            <a:off x="7772400" y="1854200"/>
            <a:ext cx="1397000" cy="1092200"/>
          </a:xfrm>
          <a:prstGeom prst="diamond">
            <a:avLst/>
          </a:prstGeom>
          <a:solidFill>
            <a:srgbClr val="E4F0FB"/>
          </a:solidFill>
          <a:ln w="12700">
            <a:solidFill>
              <a:srgbClr val="347E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jev-gate-label">
            <a:extLst>
              <a:ext uri="{FF2B5EF4-FFF2-40B4-BE49-F238E27FC236}">
                <a16:creationId xmlns:a16="http://schemas.microsoft.com/office/drawing/2014/main" id="{318F91FB-D440-12FF-9BFF-B71A205F6D98}"/>
              </a:ext>
            </a:extLst>
          </p:cNvPr>
          <p:cNvSpPr txBox="1"/>
          <p:nvPr/>
        </p:nvSpPr>
        <p:spPr>
          <a:xfrm>
            <a:off x="7835900" y="1981200"/>
            <a:ext cx="1270000" cy="838200"/>
          </a:xfrm>
          <a:prstGeom prst="rect">
            <a:avLst/>
          </a:prstGeom>
          <a:noFill/>
        </p:spPr>
        <p:txBody>
          <a:bodyPr vert="horz" wrap="square" lIns="0" tIns="0" rIns="0" bIns="0" rtlCol="0" anchor="ctr">
            <a:noAutofit/>
          </a:bodyPr>
          <a:lstStyle/>
          <a:p>
            <a:pPr algn="ctr"/>
            <a:r>
              <a:rPr lang="en-US" sz="1500" dirty="0" err="1">
                <a:solidFill>
                  <a:srgbClr val="203947"/>
                </a:solidFill>
                <a:latin typeface="Arial" panose="020B0604020202020204" pitchFamily="34" charset="0"/>
              </a:rPr>
              <a:t>Jev</a:t>
            </a:r>
            <a:r>
              <a:rPr lang="en-US" sz="1500" dirty="0">
                <a:solidFill>
                  <a:srgbClr val="203947"/>
                </a:solidFill>
                <a:latin typeface="Arial" panose="020B0604020202020204" pitchFamily="34" charset="0"/>
              </a:rPr>
              <a:t>
confident?</a:t>
            </a:r>
            <a:endParaRPr lang="en-DE" sz="1500" dirty="0">
              <a:solidFill>
                <a:srgbClr val="203947"/>
              </a:solidFill>
              <a:latin typeface="Arial" panose="020B0604020202020204" pitchFamily="34" charset="0"/>
            </a:endParaRPr>
          </a:p>
        </p:txBody>
      </p:sp>
      <p:sp>
        <p:nvSpPr>
          <p:cNvPr id="13" name="gemini">
            <a:extLst>
              <a:ext uri="{FF2B5EF4-FFF2-40B4-BE49-F238E27FC236}">
                <a16:creationId xmlns:a16="http://schemas.microsoft.com/office/drawing/2014/main" id="{F53CE413-C472-4CD2-6BE0-D682CE52CEF5}"/>
              </a:ext>
            </a:extLst>
          </p:cNvPr>
          <p:cNvSpPr/>
          <p:nvPr/>
        </p:nvSpPr>
        <p:spPr>
          <a:xfrm>
            <a:off x="9715500" y="1917700"/>
            <a:ext cx="2286000" cy="9652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600">
                <a:solidFill>
                  <a:srgbClr val="203947"/>
                </a:solidFill>
                <a:latin typeface="Arial" panose="020B0604020202020204" pitchFamily="34" charset="0"/>
              </a:rPr>
              <a:t>Gemini checks
3 samples</a:t>
            </a:r>
            <a:endParaRPr lang="en-DE" sz="1600">
              <a:solidFill>
                <a:srgbClr val="203947"/>
              </a:solidFill>
              <a:latin typeface="Arial" panose="020B0604020202020204" pitchFamily="34" charset="0"/>
            </a:endParaRPr>
          </a:p>
        </p:txBody>
      </p:sp>
      <p:sp>
        <p:nvSpPr>
          <p:cNvPr id="14" name="gemini-gate">
            <a:extLst>
              <a:ext uri="{FF2B5EF4-FFF2-40B4-BE49-F238E27FC236}">
                <a16:creationId xmlns:a16="http://schemas.microsoft.com/office/drawing/2014/main" id="{D9CBB1A4-8F66-B11C-A1C7-484A54E9E929}"/>
              </a:ext>
            </a:extLst>
          </p:cNvPr>
          <p:cNvSpPr/>
          <p:nvPr/>
        </p:nvSpPr>
        <p:spPr>
          <a:xfrm>
            <a:off x="12509500" y="1854200"/>
            <a:ext cx="1803400" cy="1092200"/>
          </a:xfrm>
          <a:prstGeom prst="diamond">
            <a:avLst/>
          </a:prstGeom>
          <a:solidFill>
            <a:srgbClr val="E4F0FB"/>
          </a:solidFill>
          <a:ln w="12700">
            <a:solidFill>
              <a:srgbClr val="347E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gemini-gate-label">
            <a:extLst>
              <a:ext uri="{FF2B5EF4-FFF2-40B4-BE49-F238E27FC236}">
                <a16:creationId xmlns:a16="http://schemas.microsoft.com/office/drawing/2014/main" id="{EC8CF07B-8334-AB66-CCB7-4FC0AC37D74F}"/>
              </a:ext>
            </a:extLst>
          </p:cNvPr>
          <p:cNvSpPr txBox="1"/>
          <p:nvPr/>
        </p:nvSpPr>
        <p:spPr>
          <a:xfrm>
            <a:off x="12573000" y="1981200"/>
            <a:ext cx="1676400" cy="838200"/>
          </a:xfrm>
          <a:prstGeom prst="rect">
            <a:avLst/>
          </a:prstGeom>
          <a:noFill/>
        </p:spPr>
        <p:txBody>
          <a:bodyPr vert="horz" wrap="square" lIns="0" tIns="0" rIns="0" bIns="0" rtlCol="0" anchor="ctr">
            <a:noAutofit/>
          </a:bodyPr>
          <a:lstStyle/>
          <a:p>
            <a:pPr algn="ctr"/>
            <a:r>
              <a:rPr lang="en-US" sz="1500">
                <a:solidFill>
                  <a:srgbClr val="203947"/>
                </a:solidFill>
                <a:latin typeface="Arial" panose="020B0604020202020204" pitchFamily="34" charset="0"/>
              </a:rPr>
              <a:t>Checks
pass?</a:t>
            </a:r>
            <a:endParaRPr lang="en-DE" sz="1500">
              <a:solidFill>
                <a:srgbClr val="203947"/>
              </a:solidFill>
              <a:latin typeface="Arial" panose="020B0604020202020204" pitchFamily="34" charset="0"/>
            </a:endParaRPr>
          </a:p>
        </p:txBody>
      </p:sp>
      <p:cxnSp>
        <p:nvCxnSpPr>
          <p:cNvPr id="16" name="intake-clean">
            <a:extLst>
              <a:ext uri="{FF2B5EF4-FFF2-40B4-BE49-F238E27FC236}">
                <a16:creationId xmlns:a16="http://schemas.microsoft.com/office/drawing/2014/main" id="{A9E20087-10EC-53FB-0B19-EE0E0F191EE1}"/>
              </a:ext>
            </a:extLst>
          </p:cNvPr>
          <p:cNvCxnSpPr>
            <a:cxnSpLocks/>
            <a:stCxn id="8" idx="3"/>
            <a:endCxn id="9" idx="1"/>
          </p:cNvCxnSpPr>
          <p:nvPr/>
        </p:nvCxnSpPr>
        <p:spPr>
          <a:xfrm>
            <a:off x="2476500" y="2400300"/>
            <a:ext cx="3937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17" name="clean-jev">
            <a:extLst>
              <a:ext uri="{FF2B5EF4-FFF2-40B4-BE49-F238E27FC236}">
                <a16:creationId xmlns:a16="http://schemas.microsoft.com/office/drawing/2014/main" id="{FB035090-4DB9-1163-0BCF-C2AA811835BD}"/>
              </a:ext>
            </a:extLst>
          </p:cNvPr>
          <p:cNvCxnSpPr>
            <a:cxnSpLocks/>
            <a:stCxn id="9" idx="3"/>
            <a:endCxn id="10" idx="1"/>
          </p:cNvCxnSpPr>
          <p:nvPr/>
        </p:nvCxnSpPr>
        <p:spPr>
          <a:xfrm>
            <a:off x="4838700" y="2400300"/>
            <a:ext cx="3937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18" name="jev-confidence">
            <a:extLst>
              <a:ext uri="{FF2B5EF4-FFF2-40B4-BE49-F238E27FC236}">
                <a16:creationId xmlns:a16="http://schemas.microsoft.com/office/drawing/2014/main" id="{CE0D3D01-F7D6-54DA-6AB9-A047C734B304}"/>
              </a:ext>
            </a:extLst>
          </p:cNvPr>
          <p:cNvCxnSpPr>
            <a:cxnSpLocks/>
            <a:stCxn id="10" idx="3"/>
            <a:endCxn id="11" idx="1"/>
          </p:cNvCxnSpPr>
          <p:nvPr/>
        </p:nvCxnSpPr>
        <p:spPr>
          <a:xfrm>
            <a:off x="7391400" y="2400300"/>
            <a:ext cx="381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19" name="uncertain-fallback">
            <a:extLst>
              <a:ext uri="{FF2B5EF4-FFF2-40B4-BE49-F238E27FC236}">
                <a16:creationId xmlns:a16="http://schemas.microsoft.com/office/drawing/2014/main" id="{DC97A01C-7A13-C876-3099-2B94F2A1D5DA}"/>
              </a:ext>
            </a:extLst>
          </p:cNvPr>
          <p:cNvCxnSpPr>
            <a:cxnSpLocks/>
            <a:stCxn id="11" idx="3"/>
            <a:endCxn id="13" idx="1"/>
          </p:cNvCxnSpPr>
          <p:nvPr/>
        </p:nvCxnSpPr>
        <p:spPr>
          <a:xfrm>
            <a:off x="9169400" y="2400300"/>
            <a:ext cx="546100" cy="0"/>
          </a:xfrm>
          <a:prstGeom prst="straightConnector1">
            <a:avLst/>
          </a:prstGeom>
          <a:ln w="22860">
            <a:solidFill>
              <a:srgbClr val="347EBD"/>
            </a:solidFill>
            <a:tailEnd type="arrow"/>
          </a:ln>
        </p:spPr>
        <p:style>
          <a:lnRef idx="2">
            <a:schemeClr val="accent1"/>
          </a:lnRef>
          <a:fillRef idx="0">
            <a:schemeClr val="accent1"/>
          </a:fillRef>
          <a:effectRef idx="1">
            <a:schemeClr val="accent1"/>
          </a:effectRef>
          <a:fontRef idx="minor">
            <a:schemeClr val="tx1"/>
          </a:fontRef>
        </p:style>
      </p:cxnSp>
      <p:sp>
        <p:nvSpPr>
          <p:cNvPr id="20" name="fallback-no">
            <a:extLst>
              <a:ext uri="{FF2B5EF4-FFF2-40B4-BE49-F238E27FC236}">
                <a16:creationId xmlns:a16="http://schemas.microsoft.com/office/drawing/2014/main" id="{1A5A71DF-1C4A-8AE0-8CBD-578E877A2002}"/>
              </a:ext>
            </a:extLst>
          </p:cNvPr>
          <p:cNvSpPr txBox="1"/>
          <p:nvPr/>
        </p:nvSpPr>
        <p:spPr>
          <a:xfrm>
            <a:off x="9245600" y="2146300"/>
            <a:ext cx="393700" cy="254000"/>
          </a:xfrm>
          <a:prstGeom prst="rect">
            <a:avLst/>
          </a:prstGeom>
          <a:noFill/>
        </p:spPr>
        <p:txBody>
          <a:bodyPr vert="horz" wrap="square" lIns="0" tIns="0" rIns="0" bIns="0" rtlCol="0" anchor="t">
            <a:noAutofit/>
          </a:bodyPr>
          <a:lstStyle/>
          <a:p>
            <a:pPr algn="ctr"/>
            <a:r>
              <a:rPr lang="en-US" sz="1350" b="1">
                <a:solidFill>
                  <a:srgbClr val="347EBD"/>
                </a:solidFill>
                <a:latin typeface="Arial" panose="020B0604020202020204" pitchFamily="34" charset="0"/>
              </a:rPr>
              <a:t>No</a:t>
            </a:r>
            <a:endParaRPr lang="en-DE" sz="1350" b="1">
              <a:solidFill>
                <a:srgbClr val="347EBD"/>
              </a:solidFill>
              <a:latin typeface="Arial" panose="020B0604020202020204" pitchFamily="34" charset="0"/>
            </a:endParaRPr>
          </a:p>
        </p:txBody>
      </p:sp>
      <p:cxnSp>
        <p:nvCxnSpPr>
          <p:cNvPr id="21" name="fallback-check">
            <a:extLst>
              <a:ext uri="{FF2B5EF4-FFF2-40B4-BE49-F238E27FC236}">
                <a16:creationId xmlns:a16="http://schemas.microsoft.com/office/drawing/2014/main" id="{44C1BCE9-3228-B802-93C6-9D6840A6EB05}"/>
              </a:ext>
            </a:extLst>
          </p:cNvPr>
          <p:cNvCxnSpPr>
            <a:cxnSpLocks/>
            <a:stCxn id="13" idx="3"/>
            <a:endCxn id="14" idx="1"/>
          </p:cNvCxnSpPr>
          <p:nvPr/>
        </p:nvCxnSpPr>
        <p:spPr>
          <a:xfrm>
            <a:off x="12001500" y="2400300"/>
            <a:ext cx="508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22" name="evidence">
            <a:extLst>
              <a:ext uri="{FF2B5EF4-FFF2-40B4-BE49-F238E27FC236}">
                <a16:creationId xmlns:a16="http://schemas.microsoft.com/office/drawing/2014/main" id="{C66E00B4-F92A-9E94-27ED-898CE0342D92}"/>
              </a:ext>
            </a:extLst>
          </p:cNvPr>
          <p:cNvSpPr/>
          <p:nvPr/>
        </p:nvSpPr>
        <p:spPr>
          <a:xfrm>
            <a:off x="508000" y="4051300"/>
            <a:ext cx="2628900" cy="10414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Validate fields +
match synthetic
transactions</a:t>
            </a:r>
            <a:endParaRPr lang="en-DE" sz="1700">
              <a:solidFill>
                <a:srgbClr val="203947"/>
              </a:solidFill>
              <a:latin typeface="Arial" panose="020B0604020202020204" pitchFamily="34" charset="0"/>
            </a:endParaRPr>
          </a:p>
        </p:txBody>
      </p:sp>
      <p:sp>
        <p:nvSpPr>
          <p:cNvPr id="23" name="route">
            <a:extLst>
              <a:ext uri="{FF2B5EF4-FFF2-40B4-BE49-F238E27FC236}">
                <a16:creationId xmlns:a16="http://schemas.microsoft.com/office/drawing/2014/main" id="{8EA3678B-C014-2637-A378-DA1698FCA82D}"/>
              </a:ext>
            </a:extLst>
          </p:cNvPr>
          <p:cNvSpPr/>
          <p:nvPr/>
        </p:nvSpPr>
        <p:spPr>
          <a:xfrm>
            <a:off x="3530600" y="4051300"/>
            <a:ext cx="2286000" cy="10414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Code sets team
and priority
from the rulebook</a:t>
            </a:r>
            <a:endParaRPr lang="en-DE" sz="1700">
              <a:solidFill>
                <a:srgbClr val="203947"/>
              </a:solidFill>
              <a:latin typeface="Arial" panose="020B0604020202020204" pitchFamily="34" charset="0"/>
            </a:endParaRPr>
          </a:p>
        </p:txBody>
      </p:sp>
      <p:sp>
        <p:nvSpPr>
          <p:cNvPr id="24" name="risk-gate">
            <a:extLst>
              <a:ext uri="{FF2B5EF4-FFF2-40B4-BE49-F238E27FC236}">
                <a16:creationId xmlns:a16="http://schemas.microsoft.com/office/drawing/2014/main" id="{2CFA1846-0209-E41C-5313-1688ECB4892E}"/>
              </a:ext>
            </a:extLst>
          </p:cNvPr>
          <p:cNvSpPr/>
          <p:nvPr/>
        </p:nvSpPr>
        <p:spPr>
          <a:xfrm>
            <a:off x="6248400" y="4013200"/>
            <a:ext cx="1536700" cy="1117600"/>
          </a:xfrm>
          <a:prstGeom prst="diamond">
            <a:avLst/>
          </a:prstGeom>
          <a:solidFill>
            <a:srgbClr val="E4F0FB"/>
          </a:solidFill>
          <a:ln w="12700">
            <a:solidFill>
              <a:srgbClr val="347E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5" name="risk-gate-label">
            <a:extLst>
              <a:ext uri="{FF2B5EF4-FFF2-40B4-BE49-F238E27FC236}">
                <a16:creationId xmlns:a16="http://schemas.microsoft.com/office/drawing/2014/main" id="{42B111B2-6680-DA18-6D70-FE055A0F3EE2}"/>
              </a:ext>
            </a:extLst>
          </p:cNvPr>
          <p:cNvSpPr txBox="1"/>
          <p:nvPr/>
        </p:nvSpPr>
        <p:spPr>
          <a:xfrm>
            <a:off x="6311900" y="4140200"/>
            <a:ext cx="1409700" cy="863600"/>
          </a:xfrm>
          <a:prstGeom prst="rect">
            <a:avLst/>
          </a:prstGeom>
          <a:noFill/>
        </p:spPr>
        <p:txBody>
          <a:bodyPr vert="horz" wrap="square" lIns="0" tIns="0" rIns="0" bIns="0" rtlCol="0" anchor="ctr">
            <a:noAutofit/>
          </a:bodyPr>
          <a:lstStyle/>
          <a:p>
            <a:pPr algn="ctr"/>
            <a:r>
              <a:rPr lang="en-US" sz="1500">
                <a:solidFill>
                  <a:srgbClr val="203947"/>
                </a:solidFill>
                <a:latin typeface="Arial" panose="020B0604020202020204" pitchFamily="34" charset="0"/>
              </a:rPr>
              <a:t>Red
flags?</a:t>
            </a:r>
            <a:endParaRPr lang="en-DE" sz="1500">
              <a:solidFill>
                <a:srgbClr val="203947"/>
              </a:solidFill>
              <a:latin typeface="Arial" panose="020B0604020202020204" pitchFamily="34" charset="0"/>
            </a:endParaRPr>
          </a:p>
        </p:txBody>
      </p:sp>
      <p:sp>
        <p:nvSpPr>
          <p:cNvPr id="26" name="draft">
            <a:extLst>
              <a:ext uri="{FF2B5EF4-FFF2-40B4-BE49-F238E27FC236}">
                <a16:creationId xmlns:a16="http://schemas.microsoft.com/office/drawing/2014/main" id="{D867DF97-48F7-8AF5-E108-CEEDFB69C789}"/>
              </a:ext>
            </a:extLst>
          </p:cNvPr>
          <p:cNvSpPr/>
          <p:nvPr/>
        </p:nvSpPr>
        <p:spPr>
          <a:xfrm>
            <a:off x="8280400" y="4051300"/>
            <a:ext cx="2959100" cy="10414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PLANNED
Policy search + grounded
Iraqi Arabic draft</a:t>
            </a:r>
            <a:endParaRPr lang="en-DE" sz="1700">
              <a:solidFill>
                <a:srgbClr val="203947"/>
              </a:solidFill>
              <a:latin typeface="Arial" panose="020B0604020202020204" pitchFamily="34" charset="0"/>
            </a:endParaRPr>
          </a:p>
        </p:txBody>
      </p:sp>
      <p:sp>
        <p:nvSpPr>
          <p:cNvPr id="27" name="draft-gate">
            <a:extLst>
              <a:ext uri="{FF2B5EF4-FFF2-40B4-BE49-F238E27FC236}">
                <a16:creationId xmlns:a16="http://schemas.microsoft.com/office/drawing/2014/main" id="{6B8AEF68-C8A2-41BD-A433-0C7FF324B8BC}"/>
              </a:ext>
            </a:extLst>
          </p:cNvPr>
          <p:cNvSpPr/>
          <p:nvPr/>
        </p:nvSpPr>
        <p:spPr>
          <a:xfrm>
            <a:off x="11684000" y="4013200"/>
            <a:ext cx="1498600" cy="1117600"/>
          </a:xfrm>
          <a:prstGeom prst="diamond">
            <a:avLst/>
          </a:prstGeom>
          <a:solidFill>
            <a:srgbClr val="E4F0FB"/>
          </a:solidFill>
          <a:ln w="12700">
            <a:solidFill>
              <a:srgbClr val="347E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draft-gate-label">
            <a:extLst>
              <a:ext uri="{FF2B5EF4-FFF2-40B4-BE49-F238E27FC236}">
                <a16:creationId xmlns:a16="http://schemas.microsoft.com/office/drawing/2014/main" id="{436CE9B4-23FD-3448-5D43-A4FF3A28B921}"/>
              </a:ext>
            </a:extLst>
          </p:cNvPr>
          <p:cNvSpPr txBox="1"/>
          <p:nvPr/>
        </p:nvSpPr>
        <p:spPr>
          <a:xfrm>
            <a:off x="11747500" y="4140200"/>
            <a:ext cx="1371600" cy="863600"/>
          </a:xfrm>
          <a:prstGeom prst="rect">
            <a:avLst/>
          </a:prstGeom>
          <a:noFill/>
        </p:spPr>
        <p:txBody>
          <a:bodyPr vert="horz" wrap="square" lIns="0" tIns="0" rIns="0" bIns="0" rtlCol="0" anchor="ctr">
            <a:noAutofit/>
          </a:bodyPr>
          <a:lstStyle/>
          <a:p>
            <a:pPr algn="ctr"/>
            <a:r>
              <a:rPr lang="en-US" sz="1450">
                <a:solidFill>
                  <a:srgbClr val="203947"/>
                </a:solidFill>
                <a:latin typeface="Arial" panose="020B0604020202020204" pitchFamily="34" charset="0"/>
              </a:rPr>
              <a:t>Draft
checks
pass?</a:t>
            </a:r>
            <a:endParaRPr lang="en-DE" sz="1450">
              <a:solidFill>
                <a:srgbClr val="203947"/>
              </a:solidFill>
              <a:latin typeface="Arial" panose="020B0604020202020204" pitchFamily="34" charset="0"/>
            </a:endParaRPr>
          </a:p>
        </p:txBody>
      </p:sp>
      <p:sp>
        <p:nvSpPr>
          <p:cNvPr id="29" name="review-ready">
            <a:extLst>
              <a:ext uri="{FF2B5EF4-FFF2-40B4-BE49-F238E27FC236}">
                <a16:creationId xmlns:a16="http://schemas.microsoft.com/office/drawing/2014/main" id="{2501F090-6475-0B70-41DB-E241151EFB8E}"/>
              </a:ext>
            </a:extLst>
          </p:cNvPr>
          <p:cNvSpPr/>
          <p:nvPr/>
        </p:nvSpPr>
        <p:spPr>
          <a:xfrm>
            <a:off x="13614400" y="4051300"/>
            <a:ext cx="2133600" cy="1041400"/>
          </a:xfrm>
          <a:prstGeom prst="rect">
            <a:avLst/>
          </a:prstGeom>
          <a:solidFill>
            <a:srgbClr val="E7F3F1"/>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Ready for review
with draft
and evidence</a:t>
            </a:r>
            <a:endParaRPr lang="en-DE" sz="1700">
              <a:solidFill>
                <a:srgbClr val="203947"/>
              </a:solidFill>
              <a:latin typeface="Arial" panose="020B0604020202020204" pitchFamily="34" charset="0"/>
            </a:endParaRPr>
          </a:p>
        </p:txBody>
      </p:sp>
      <p:cxnSp>
        <p:nvCxnSpPr>
          <p:cNvPr id="30" name="lookup-route">
            <a:extLst>
              <a:ext uri="{FF2B5EF4-FFF2-40B4-BE49-F238E27FC236}">
                <a16:creationId xmlns:a16="http://schemas.microsoft.com/office/drawing/2014/main" id="{8FB7DF9B-FBE4-7E52-F1E5-7A4DB2804298}"/>
              </a:ext>
            </a:extLst>
          </p:cNvPr>
          <p:cNvCxnSpPr>
            <a:cxnSpLocks/>
            <a:stCxn id="22" idx="3"/>
            <a:endCxn id="23" idx="1"/>
          </p:cNvCxnSpPr>
          <p:nvPr/>
        </p:nvCxnSpPr>
        <p:spPr>
          <a:xfrm>
            <a:off x="3136900" y="4572000"/>
            <a:ext cx="3937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31" name="route-risk">
            <a:extLst>
              <a:ext uri="{FF2B5EF4-FFF2-40B4-BE49-F238E27FC236}">
                <a16:creationId xmlns:a16="http://schemas.microsoft.com/office/drawing/2014/main" id="{6EB223AB-55CE-5AC9-6149-F9AF9232C0E9}"/>
              </a:ext>
            </a:extLst>
          </p:cNvPr>
          <p:cNvCxnSpPr>
            <a:cxnSpLocks/>
            <a:stCxn id="23" idx="3"/>
            <a:endCxn id="24" idx="1"/>
          </p:cNvCxnSpPr>
          <p:nvPr/>
        </p:nvCxnSpPr>
        <p:spPr>
          <a:xfrm>
            <a:off x="5816600" y="4572000"/>
            <a:ext cx="431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32" name="risk-draft">
            <a:extLst>
              <a:ext uri="{FF2B5EF4-FFF2-40B4-BE49-F238E27FC236}">
                <a16:creationId xmlns:a16="http://schemas.microsoft.com/office/drawing/2014/main" id="{75BE2F3F-ED65-0998-5AA1-26F02E1EF265}"/>
              </a:ext>
            </a:extLst>
          </p:cNvPr>
          <p:cNvCxnSpPr>
            <a:cxnSpLocks/>
            <a:stCxn id="24" idx="3"/>
            <a:endCxn id="26" idx="1"/>
          </p:cNvCxnSpPr>
          <p:nvPr/>
        </p:nvCxnSpPr>
        <p:spPr>
          <a:xfrm>
            <a:off x="7785100" y="4572000"/>
            <a:ext cx="4953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3" name="risk-no">
            <a:extLst>
              <a:ext uri="{FF2B5EF4-FFF2-40B4-BE49-F238E27FC236}">
                <a16:creationId xmlns:a16="http://schemas.microsoft.com/office/drawing/2014/main" id="{22E2CFE9-9FC1-4CA7-1502-E5864E16BA3E}"/>
              </a:ext>
            </a:extLst>
          </p:cNvPr>
          <p:cNvSpPr txBox="1"/>
          <p:nvPr/>
        </p:nvSpPr>
        <p:spPr>
          <a:xfrm>
            <a:off x="7823200" y="4241800"/>
            <a:ext cx="431800" cy="254000"/>
          </a:xfrm>
          <a:prstGeom prst="rect">
            <a:avLst/>
          </a:prstGeom>
          <a:noFill/>
        </p:spPr>
        <p:txBody>
          <a:bodyPr vert="horz" wrap="square" lIns="0" tIns="0" rIns="0" bIns="0" rtlCol="0" anchor="t">
            <a:noAutofit/>
          </a:bodyPr>
          <a:lstStyle/>
          <a:p>
            <a:pPr algn="ctr"/>
            <a:r>
              <a:rPr lang="en-US" sz="1350" b="1">
                <a:solidFill>
                  <a:srgbClr val="347EBD"/>
                </a:solidFill>
                <a:latin typeface="Arial" panose="020B0604020202020204" pitchFamily="34" charset="0"/>
              </a:rPr>
              <a:t>No</a:t>
            </a:r>
            <a:endParaRPr lang="en-DE" sz="1350" b="1">
              <a:solidFill>
                <a:srgbClr val="347EBD"/>
              </a:solidFill>
              <a:latin typeface="Arial" panose="020B0604020202020204" pitchFamily="34" charset="0"/>
            </a:endParaRPr>
          </a:p>
        </p:txBody>
      </p:sp>
      <p:cxnSp>
        <p:nvCxnSpPr>
          <p:cNvPr id="34" name="draft-check">
            <a:extLst>
              <a:ext uri="{FF2B5EF4-FFF2-40B4-BE49-F238E27FC236}">
                <a16:creationId xmlns:a16="http://schemas.microsoft.com/office/drawing/2014/main" id="{A8CB4102-8CFF-AC26-06C7-BA199B1051C2}"/>
              </a:ext>
            </a:extLst>
          </p:cNvPr>
          <p:cNvCxnSpPr>
            <a:cxnSpLocks/>
            <a:stCxn id="26" idx="3"/>
            <a:endCxn id="27" idx="1"/>
          </p:cNvCxnSpPr>
          <p:nvPr/>
        </p:nvCxnSpPr>
        <p:spPr>
          <a:xfrm>
            <a:off x="11239500" y="4572000"/>
            <a:ext cx="444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35" name="check-ready">
            <a:extLst>
              <a:ext uri="{FF2B5EF4-FFF2-40B4-BE49-F238E27FC236}">
                <a16:creationId xmlns:a16="http://schemas.microsoft.com/office/drawing/2014/main" id="{6669F17C-71BD-B3E5-2195-26F32A38C6E6}"/>
              </a:ext>
            </a:extLst>
          </p:cNvPr>
          <p:cNvCxnSpPr>
            <a:cxnSpLocks/>
            <a:stCxn id="27" idx="3"/>
            <a:endCxn id="29" idx="1"/>
          </p:cNvCxnSpPr>
          <p:nvPr/>
        </p:nvCxnSpPr>
        <p:spPr>
          <a:xfrm>
            <a:off x="13182600" y="4572000"/>
            <a:ext cx="4318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6" name="check-yes">
            <a:extLst>
              <a:ext uri="{FF2B5EF4-FFF2-40B4-BE49-F238E27FC236}">
                <a16:creationId xmlns:a16="http://schemas.microsoft.com/office/drawing/2014/main" id="{B5A5AFAB-8515-C6BA-72F8-6268A53B433F}"/>
              </a:ext>
            </a:extLst>
          </p:cNvPr>
          <p:cNvSpPr txBox="1"/>
          <p:nvPr/>
        </p:nvSpPr>
        <p:spPr>
          <a:xfrm>
            <a:off x="13169900" y="4241800"/>
            <a:ext cx="444500" cy="254000"/>
          </a:xfrm>
          <a:prstGeom prst="rect">
            <a:avLst/>
          </a:prstGeom>
          <a:noFill/>
        </p:spPr>
        <p:txBody>
          <a:bodyPr vert="horz" wrap="square" lIns="0" tIns="0" rIns="0" bIns="0" rtlCol="0" anchor="t">
            <a:noAutofit/>
          </a:bodyPr>
          <a:lstStyle/>
          <a:p>
            <a:pPr algn="ctr"/>
            <a:r>
              <a:rPr lang="en-US" sz="1350" b="1">
                <a:solidFill>
                  <a:srgbClr val="347EBD"/>
                </a:solidFill>
                <a:latin typeface="Arial" panose="020B0604020202020204" pitchFamily="34" charset="0"/>
              </a:rPr>
              <a:t>Yes</a:t>
            </a:r>
            <a:endParaRPr lang="en-DE" sz="1350" b="1">
              <a:solidFill>
                <a:srgbClr val="347EBD"/>
              </a:solidFill>
              <a:latin typeface="Arial" panose="020B0604020202020204" pitchFamily="34" charset="0"/>
            </a:endParaRPr>
          </a:p>
        </p:txBody>
      </p:sp>
      <p:cxnSp>
        <p:nvCxnSpPr>
          <p:cNvPr id="37" name="jev-yes-down">
            <a:extLst>
              <a:ext uri="{FF2B5EF4-FFF2-40B4-BE49-F238E27FC236}">
                <a16:creationId xmlns:a16="http://schemas.microsoft.com/office/drawing/2014/main" id="{344B2F2B-1002-9E32-57FA-FDE1BE6C9357}"/>
              </a:ext>
            </a:extLst>
          </p:cNvPr>
          <p:cNvCxnSpPr/>
          <p:nvPr/>
        </p:nvCxnSpPr>
        <p:spPr>
          <a:xfrm>
            <a:off x="8470900" y="2946400"/>
            <a:ext cx="0" cy="457200"/>
          </a:xfrm>
          <a:prstGeom prst="straightConnector1">
            <a:avLst/>
          </a:prstGeom>
          <a:ln w="22860">
            <a:solidFill>
              <a:srgbClr val="347EBD"/>
            </a:solidFill>
          </a:ln>
        </p:spPr>
        <p:style>
          <a:lnRef idx="2">
            <a:schemeClr val="accent1"/>
          </a:lnRef>
          <a:fillRef idx="0">
            <a:schemeClr val="accent1"/>
          </a:fillRef>
          <a:effectRef idx="1">
            <a:schemeClr val="accent1"/>
          </a:effectRef>
          <a:fontRef idx="minor">
            <a:schemeClr val="tx1"/>
          </a:fontRef>
        </p:style>
      </p:cxnSp>
      <p:sp>
        <p:nvSpPr>
          <p:cNvPr id="38" name="jev-yes">
            <a:extLst>
              <a:ext uri="{FF2B5EF4-FFF2-40B4-BE49-F238E27FC236}">
                <a16:creationId xmlns:a16="http://schemas.microsoft.com/office/drawing/2014/main" id="{F39ED23E-C608-4C48-60EF-EF116599357F}"/>
              </a:ext>
            </a:extLst>
          </p:cNvPr>
          <p:cNvSpPr txBox="1"/>
          <p:nvPr/>
        </p:nvSpPr>
        <p:spPr>
          <a:xfrm>
            <a:off x="8559800" y="3035300"/>
            <a:ext cx="508000" cy="254000"/>
          </a:xfrm>
          <a:prstGeom prst="rect">
            <a:avLst/>
          </a:prstGeom>
          <a:noFill/>
        </p:spPr>
        <p:txBody>
          <a:bodyPr vert="horz" wrap="square" lIns="0" tIns="0" rIns="0" bIns="0" rtlCol="0" anchor="t">
            <a:noAutofit/>
          </a:bodyPr>
          <a:lstStyle/>
          <a:p>
            <a:r>
              <a:rPr lang="en-US" sz="1350" b="1">
                <a:solidFill>
                  <a:srgbClr val="347EBD"/>
                </a:solidFill>
                <a:latin typeface="Arial" panose="020B0604020202020204" pitchFamily="34" charset="0"/>
              </a:rPr>
              <a:t>Yes</a:t>
            </a:r>
            <a:endParaRPr lang="en-DE" sz="1350" b="1">
              <a:solidFill>
                <a:srgbClr val="347EBD"/>
              </a:solidFill>
              <a:latin typeface="Arial" panose="020B0604020202020204" pitchFamily="34" charset="0"/>
            </a:endParaRPr>
          </a:p>
        </p:txBody>
      </p:sp>
      <p:cxnSp>
        <p:nvCxnSpPr>
          <p:cNvPr id="39" name="gemini-yes-down">
            <a:extLst>
              <a:ext uri="{FF2B5EF4-FFF2-40B4-BE49-F238E27FC236}">
                <a16:creationId xmlns:a16="http://schemas.microsoft.com/office/drawing/2014/main" id="{51D24C30-F652-93C9-C0A4-6050524DCA20}"/>
              </a:ext>
            </a:extLst>
          </p:cNvPr>
          <p:cNvCxnSpPr/>
          <p:nvPr/>
        </p:nvCxnSpPr>
        <p:spPr>
          <a:xfrm>
            <a:off x="13411200" y="2946400"/>
            <a:ext cx="0" cy="457200"/>
          </a:xfrm>
          <a:prstGeom prst="straightConnector1">
            <a:avLst/>
          </a:prstGeom>
          <a:ln w="22860">
            <a:solidFill>
              <a:srgbClr val="347EBD"/>
            </a:solidFill>
          </a:ln>
        </p:spPr>
        <p:style>
          <a:lnRef idx="2">
            <a:schemeClr val="accent1"/>
          </a:lnRef>
          <a:fillRef idx="0">
            <a:schemeClr val="accent1"/>
          </a:fillRef>
          <a:effectRef idx="1">
            <a:schemeClr val="accent1"/>
          </a:effectRef>
          <a:fontRef idx="minor">
            <a:schemeClr val="tx1"/>
          </a:fontRef>
        </p:style>
      </p:cxnSp>
      <p:sp>
        <p:nvSpPr>
          <p:cNvPr id="40" name="gemini-yes">
            <a:extLst>
              <a:ext uri="{FF2B5EF4-FFF2-40B4-BE49-F238E27FC236}">
                <a16:creationId xmlns:a16="http://schemas.microsoft.com/office/drawing/2014/main" id="{F3C2EC23-AD95-DB6D-FB1D-1E32F5638D3C}"/>
              </a:ext>
            </a:extLst>
          </p:cNvPr>
          <p:cNvSpPr txBox="1"/>
          <p:nvPr/>
        </p:nvSpPr>
        <p:spPr>
          <a:xfrm>
            <a:off x="13525500" y="3035300"/>
            <a:ext cx="508000" cy="254000"/>
          </a:xfrm>
          <a:prstGeom prst="rect">
            <a:avLst/>
          </a:prstGeom>
          <a:noFill/>
        </p:spPr>
        <p:txBody>
          <a:bodyPr vert="horz" wrap="square" lIns="0" tIns="0" rIns="0" bIns="0" rtlCol="0" anchor="t">
            <a:noAutofit/>
          </a:bodyPr>
          <a:lstStyle/>
          <a:p>
            <a:r>
              <a:rPr lang="en-US" sz="1350" b="1">
                <a:solidFill>
                  <a:srgbClr val="347EBD"/>
                </a:solidFill>
                <a:latin typeface="Arial" panose="020B0604020202020204" pitchFamily="34" charset="0"/>
              </a:rPr>
              <a:t>Yes</a:t>
            </a:r>
            <a:endParaRPr lang="en-DE" sz="1350" b="1">
              <a:solidFill>
                <a:srgbClr val="347EBD"/>
              </a:solidFill>
              <a:latin typeface="Arial" panose="020B0604020202020204" pitchFamily="34" charset="0"/>
            </a:endParaRPr>
          </a:p>
        </p:txBody>
      </p:sp>
      <p:cxnSp>
        <p:nvCxnSpPr>
          <p:cNvPr id="41" name="confidence-bus">
            <a:extLst>
              <a:ext uri="{FF2B5EF4-FFF2-40B4-BE49-F238E27FC236}">
                <a16:creationId xmlns:a16="http://schemas.microsoft.com/office/drawing/2014/main" id="{FE4F7C32-475F-0EFE-8144-3E9BD45CB13E}"/>
              </a:ext>
            </a:extLst>
          </p:cNvPr>
          <p:cNvCxnSpPr/>
          <p:nvPr/>
        </p:nvCxnSpPr>
        <p:spPr>
          <a:xfrm flipH="1">
            <a:off x="1828800" y="3403600"/>
            <a:ext cx="11582400" cy="0"/>
          </a:xfrm>
          <a:prstGeom prst="straightConnector1">
            <a:avLst/>
          </a:prstGeom>
          <a:ln w="22860">
            <a:solidFill>
              <a:srgbClr val="347EBD"/>
            </a:solidFill>
          </a:ln>
        </p:spPr>
        <p:style>
          <a:lnRef idx="2">
            <a:schemeClr val="accent1"/>
          </a:lnRef>
          <a:fillRef idx="0">
            <a:schemeClr val="accent1"/>
          </a:fillRef>
          <a:effectRef idx="1">
            <a:schemeClr val="accent1"/>
          </a:effectRef>
          <a:fontRef idx="minor">
            <a:schemeClr val="tx1"/>
          </a:fontRef>
        </p:style>
      </p:cxnSp>
      <p:cxnSp>
        <p:nvCxnSpPr>
          <p:cNvPr id="42" name="confidence-evidence">
            <a:extLst>
              <a:ext uri="{FF2B5EF4-FFF2-40B4-BE49-F238E27FC236}">
                <a16:creationId xmlns:a16="http://schemas.microsoft.com/office/drawing/2014/main" id="{EC5DB7FE-9140-D012-91B6-43E2B5068528}"/>
              </a:ext>
            </a:extLst>
          </p:cNvPr>
          <p:cNvCxnSpPr/>
          <p:nvPr/>
        </p:nvCxnSpPr>
        <p:spPr>
          <a:xfrm>
            <a:off x="1828800" y="3403600"/>
            <a:ext cx="0" cy="647700"/>
          </a:xfrm>
          <a:prstGeom prst="straightConnector1">
            <a:avLst/>
          </a:prstGeom>
          <a:ln w="22860">
            <a:solidFill>
              <a:srgbClr val="347EBD"/>
            </a:solidFill>
            <a:tailEnd type="arrow"/>
          </a:ln>
        </p:spPr>
        <p:style>
          <a:lnRef idx="2">
            <a:schemeClr val="accent1"/>
          </a:lnRef>
          <a:fillRef idx="0">
            <a:schemeClr val="accent1"/>
          </a:fillRef>
          <a:effectRef idx="1">
            <a:schemeClr val="accent1"/>
          </a:effectRef>
          <a:fontRef idx="minor">
            <a:schemeClr val="tx1"/>
          </a:fontRef>
        </p:style>
      </p:cxnSp>
      <p:sp>
        <p:nvSpPr>
          <p:cNvPr id="43" name="escalate">
            <a:extLst>
              <a:ext uri="{FF2B5EF4-FFF2-40B4-BE49-F238E27FC236}">
                <a16:creationId xmlns:a16="http://schemas.microsoft.com/office/drawing/2014/main" id="{5C724702-4C0B-6C5A-3842-6C46978C1C54}"/>
              </a:ext>
            </a:extLst>
          </p:cNvPr>
          <p:cNvSpPr/>
          <p:nvPr/>
        </p:nvSpPr>
        <p:spPr>
          <a:xfrm>
            <a:off x="4953000" y="6426200"/>
            <a:ext cx="2971800" cy="9652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Escalate to a person
with reasons and
missing information</a:t>
            </a:r>
            <a:endParaRPr lang="en-DE" sz="1700">
              <a:solidFill>
                <a:srgbClr val="203947"/>
              </a:solidFill>
              <a:latin typeface="Arial" panose="020B0604020202020204" pitchFamily="34" charset="0"/>
            </a:endParaRPr>
          </a:p>
        </p:txBody>
      </p:sp>
      <p:sp>
        <p:nvSpPr>
          <p:cNvPr id="44" name="human-review">
            <a:extLst>
              <a:ext uri="{FF2B5EF4-FFF2-40B4-BE49-F238E27FC236}">
                <a16:creationId xmlns:a16="http://schemas.microsoft.com/office/drawing/2014/main" id="{2A8AB3DE-6357-3AFC-6BB3-1F3F3B859418}"/>
              </a:ext>
            </a:extLst>
          </p:cNvPr>
          <p:cNvSpPr/>
          <p:nvPr/>
        </p:nvSpPr>
        <p:spPr>
          <a:xfrm>
            <a:off x="8890000" y="6426200"/>
            <a:ext cx="2971800" cy="9652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Employee reviews
approve / edit / reject
reassign team</a:t>
            </a:r>
            <a:endParaRPr lang="en-DE" sz="1700">
              <a:solidFill>
                <a:srgbClr val="203947"/>
              </a:solidFill>
              <a:latin typeface="Arial" panose="020B0604020202020204" pitchFamily="34" charset="0"/>
            </a:endParaRPr>
          </a:p>
        </p:txBody>
      </p:sp>
      <p:sp>
        <p:nvSpPr>
          <p:cNvPr id="45" name="approved-copy">
            <a:extLst>
              <a:ext uri="{FF2B5EF4-FFF2-40B4-BE49-F238E27FC236}">
                <a16:creationId xmlns:a16="http://schemas.microsoft.com/office/drawing/2014/main" id="{1F8D51A8-A658-6C73-437B-6CBDC306C569}"/>
              </a:ext>
            </a:extLst>
          </p:cNvPr>
          <p:cNvSpPr/>
          <p:nvPr/>
        </p:nvSpPr>
        <p:spPr>
          <a:xfrm>
            <a:off x="12700000" y="6426200"/>
            <a:ext cx="3048000" cy="965200"/>
          </a:xfrm>
          <a:prstGeom prst="roundRect">
            <a:avLst/>
          </a:prstGeom>
          <a:solidFill>
            <a:srgbClr val="EAF4D4"/>
          </a:solidFill>
          <a:ln w="12700">
            <a:solidFill>
              <a:srgbClr val="6B8F3C"/>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63500" rIns="127000" bIns="63500" rtlCol="0" anchor="ctr">
            <a:noAutofit/>
          </a:bodyPr>
          <a:lstStyle/>
          <a:p>
            <a:pPr algn="ctr"/>
            <a:r>
              <a:rPr lang="en-US" sz="1700">
                <a:solidFill>
                  <a:srgbClr val="203947"/>
                </a:solidFill>
                <a:latin typeface="Arial" panose="020B0604020202020204" pitchFamily="34" charset="0"/>
              </a:rPr>
              <a:t>Approved reply
available for manual copy
No automatic sending</a:t>
            </a:r>
            <a:endParaRPr lang="en-DE" sz="1700">
              <a:solidFill>
                <a:srgbClr val="203947"/>
              </a:solidFill>
              <a:latin typeface="Arial" panose="020B0604020202020204" pitchFamily="34" charset="0"/>
            </a:endParaRPr>
          </a:p>
        </p:txBody>
      </p:sp>
      <p:cxnSp>
        <p:nvCxnSpPr>
          <p:cNvPr id="46" name="gemini-no-out">
            <a:extLst>
              <a:ext uri="{FF2B5EF4-FFF2-40B4-BE49-F238E27FC236}">
                <a16:creationId xmlns:a16="http://schemas.microsoft.com/office/drawing/2014/main" id="{9E610BD1-BAF8-90C2-7DC4-F3352A5A9AAF}"/>
              </a:ext>
            </a:extLst>
          </p:cNvPr>
          <p:cNvCxnSpPr/>
          <p:nvPr/>
        </p:nvCxnSpPr>
        <p:spPr>
          <a:xfrm>
            <a:off x="14312900" y="2400300"/>
            <a:ext cx="1587500" cy="0"/>
          </a:xfrm>
          <a:prstGeom prst="straightConnector1">
            <a:avLst/>
          </a:prstGeom>
          <a:ln w="22860">
            <a:solidFill>
              <a:srgbClr val="B88431"/>
            </a:solidFill>
          </a:ln>
        </p:spPr>
        <p:style>
          <a:lnRef idx="2">
            <a:schemeClr val="accent1"/>
          </a:lnRef>
          <a:fillRef idx="0">
            <a:schemeClr val="accent1"/>
          </a:fillRef>
          <a:effectRef idx="1">
            <a:schemeClr val="accent1"/>
          </a:effectRef>
          <a:fontRef idx="minor">
            <a:schemeClr val="tx1"/>
          </a:fontRef>
        </p:style>
      </p:cxnSp>
      <p:sp>
        <p:nvSpPr>
          <p:cNvPr id="47" name="gemini-no">
            <a:extLst>
              <a:ext uri="{FF2B5EF4-FFF2-40B4-BE49-F238E27FC236}">
                <a16:creationId xmlns:a16="http://schemas.microsoft.com/office/drawing/2014/main" id="{B6CE1DF8-ECD9-015C-5937-DF01190EAA35}"/>
              </a:ext>
            </a:extLst>
          </p:cNvPr>
          <p:cNvSpPr txBox="1"/>
          <p:nvPr/>
        </p:nvSpPr>
        <p:spPr>
          <a:xfrm>
            <a:off x="14528800" y="2082800"/>
            <a:ext cx="508000" cy="254000"/>
          </a:xfrm>
          <a:prstGeom prst="rect">
            <a:avLst/>
          </a:prstGeom>
          <a:noFill/>
        </p:spPr>
        <p:txBody>
          <a:bodyPr vert="horz" wrap="square" lIns="0" tIns="0" rIns="0" bIns="0" rtlCol="0" anchor="t">
            <a:noAutofit/>
          </a:bodyPr>
          <a:lstStyle/>
          <a:p>
            <a:r>
              <a:rPr lang="en-US" sz="1350" b="1">
                <a:solidFill>
                  <a:srgbClr val="B88431"/>
                </a:solidFill>
                <a:latin typeface="Arial" panose="020B0604020202020204" pitchFamily="34" charset="0"/>
              </a:rPr>
              <a:t>No</a:t>
            </a:r>
            <a:endParaRPr lang="en-DE" sz="1350" b="1">
              <a:solidFill>
                <a:srgbClr val="B88431"/>
              </a:solidFill>
              <a:latin typeface="Arial" panose="020B0604020202020204" pitchFamily="34" charset="0"/>
            </a:endParaRPr>
          </a:p>
        </p:txBody>
      </p:sp>
      <p:cxnSp>
        <p:nvCxnSpPr>
          <p:cNvPr id="48" name="gemini-no-down">
            <a:extLst>
              <a:ext uri="{FF2B5EF4-FFF2-40B4-BE49-F238E27FC236}">
                <a16:creationId xmlns:a16="http://schemas.microsoft.com/office/drawing/2014/main" id="{C88044A3-8EF5-47FE-1048-EF81437FF660}"/>
              </a:ext>
            </a:extLst>
          </p:cNvPr>
          <p:cNvCxnSpPr/>
          <p:nvPr/>
        </p:nvCxnSpPr>
        <p:spPr>
          <a:xfrm>
            <a:off x="15900400" y="2400300"/>
            <a:ext cx="0" cy="3365500"/>
          </a:xfrm>
          <a:prstGeom prst="straightConnector1">
            <a:avLst/>
          </a:prstGeom>
          <a:ln w="22860">
            <a:solidFill>
              <a:srgbClr val="B88431"/>
            </a:solidFill>
          </a:ln>
        </p:spPr>
        <p:style>
          <a:lnRef idx="2">
            <a:schemeClr val="accent1"/>
          </a:lnRef>
          <a:fillRef idx="0">
            <a:schemeClr val="accent1"/>
          </a:fillRef>
          <a:effectRef idx="1">
            <a:schemeClr val="accent1"/>
          </a:effectRef>
          <a:fontRef idx="minor">
            <a:schemeClr val="tx1"/>
          </a:fontRef>
        </p:style>
      </p:cxnSp>
      <p:cxnSp>
        <p:nvCxnSpPr>
          <p:cNvPr id="49" name="failure-rail">
            <a:extLst>
              <a:ext uri="{FF2B5EF4-FFF2-40B4-BE49-F238E27FC236}">
                <a16:creationId xmlns:a16="http://schemas.microsoft.com/office/drawing/2014/main" id="{B47CA1C0-FB8E-72BE-7E1E-3D5394E07A96}"/>
              </a:ext>
            </a:extLst>
          </p:cNvPr>
          <p:cNvCxnSpPr/>
          <p:nvPr/>
        </p:nvCxnSpPr>
        <p:spPr>
          <a:xfrm flipH="1">
            <a:off x="6438900" y="5765800"/>
            <a:ext cx="9461500" cy="0"/>
          </a:xfrm>
          <a:prstGeom prst="straightConnector1">
            <a:avLst/>
          </a:prstGeom>
          <a:ln w="22860">
            <a:solidFill>
              <a:srgbClr val="B88431"/>
            </a:solidFill>
          </a:ln>
        </p:spPr>
        <p:style>
          <a:lnRef idx="2">
            <a:schemeClr val="accent1"/>
          </a:lnRef>
          <a:fillRef idx="0">
            <a:schemeClr val="accent1"/>
          </a:fillRef>
          <a:effectRef idx="1">
            <a:schemeClr val="accent1"/>
          </a:effectRef>
          <a:fontRef idx="minor">
            <a:schemeClr val="tx1"/>
          </a:fontRef>
        </p:style>
      </p:cxnSp>
      <p:cxnSp>
        <p:nvCxnSpPr>
          <p:cNvPr id="50" name="risk-yes-down">
            <a:extLst>
              <a:ext uri="{FF2B5EF4-FFF2-40B4-BE49-F238E27FC236}">
                <a16:creationId xmlns:a16="http://schemas.microsoft.com/office/drawing/2014/main" id="{86969D1E-9620-EC07-6CB3-C6A9E6613BCC}"/>
              </a:ext>
            </a:extLst>
          </p:cNvPr>
          <p:cNvCxnSpPr/>
          <p:nvPr/>
        </p:nvCxnSpPr>
        <p:spPr>
          <a:xfrm>
            <a:off x="7010400" y="5130800"/>
            <a:ext cx="0" cy="635000"/>
          </a:xfrm>
          <a:prstGeom prst="straightConnector1">
            <a:avLst/>
          </a:prstGeom>
          <a:ln w="22860">
            <a:solidFill>
              <a:srgbClr val="B88431"/>
            </a:solidFill>
          </a:ln>
        </p:spPr>
        <p:style>
          <a:lnRef idx="2">
            <a:schemeClr val="accent1"/>
          </a:lnRef>
          <a:fillRef idx="0">
            <a:schemeClr val="accent1"/>
          </a:fillRef>
          <a:effectRef idx="1">
            <a:schemeClr val="accent1"/>
          </a:effectRef>
          <a:fontRef idx="minor">
            <a:schemeClr val="tx1"/>
          </a:fontRef>
        </p:style>
      </p:cxnSp>
      <p:sp>
        <p:nvSpPr>
          <p:cNvPr id="51" name="risk-yes">
            <a:extLst>
              <a:ext uri="{FF2B5EF4-FFF2-40B4-BE49-F238E27FC236}">
                <a16:creationId xmlns:a16="http://schemas.microsoft.com/office/drawing/2014/main" id="{F8FA30EA-69A1-F11C-DFEB-AE8467446A1B}"/>
              </a:ext>
            </a:extLst>
          </p:cNvPr>
          <p:cNvSpPr txBox="1"/>
          <p:nvPr/>
        </p:nvSpPr>
        <p:spPr>
          <a:xfrm>
            <a:off x="7112000" y="5283200"/>
            <a:ext cx="508000" cy="254000"/>
          </a:xfrm>
          <a:prstGeom prst="rect">
            <a:avLst/>
          </a:prstGeom>
          <a:noFill/>
        </p:spPr>
        <p:txBody>
          <a:bodyPr vert="horz" wrap="square" lIns="0" tIns="0" rIns="0" bIns="0" rtlCol="0" anchor="t">
            <a:noAutofit/>
          </a:bodyPr>
          <a:lstStyle/>
          <a:p>
            <a:r>
              <a:rPr lang="en-US" sz="1350" b="1">
                <a:solidFill>
                  <a:srgbClr val="B88431"/>
                </a:solidFill>
                <a:latin typeface="Arial" panose="020B0604020202020204" pitchFamily="34" charset="0"/>
              </a:rPr>
              <a:t>Yes</a:t>
            </a:r>
            <a:endParaRPr lang="en-DE" sz="1350" b="1">
              <a:solidFill>
                <a:srgbClr val="B88431"/>
              </a:solidFill>
              <a:latin typeface="Arial" panose="020B0604020202020204" pitchFamily="34" charset="0"/>
            </a:endParaRPr>
          </a:p>
        </p:txBody>
      </p:sp>
      <p:cxnSp>
        <p:nvCxnSpPr>
          <p:cNvPr id="52" name="draft-no-down">
            <a:extLst>
              <a:ext uri="{FF2B5EF4-FFF2-40B4-BE49-F238E27FC236}">
                <a16:creationId xmlns:a16="http://schemas.microsoft.com/office/drawing/2014/main" id="{F906AC33-D554-B9BF-C3D4-C188693C5042}"/>
              </a:ext>
            </a:extLst>
          </p:cNvPr>
          <p:cNvCxnSpPr/>
          <p:nvPr/>
        </p:nvCxnSpPr>
        <p:spPr>
          <a:xfrm>
            <a:off x="12433300" y="5130800"/>
            <a:ext cx="0" cy="635000"/>
          </a:xfrm>
          <a:prstGeom prst="straightConnector1">
            <a:avLst/>
          </a:prstGeom>
          <a:ln w="22860">
            <a:solidFill>
              <a:srgbClr val="B88431"/>
            </a:solidFill>
          </a:ln>
        </p:spPr>
        <p:style>
          <a:lnRef idx="2">
            <a:schemeClr val="accent1"/>
          </a:lnRef>
          <a:fillRef idx="0">
            <a:schemeClr val="accent1"/>
          </a:fillRef>
          <a:effectRef idx="1">
            <a:schemeClr val="accent1"/>
          </a:effectRef>
          <a:fontRef idx="minor">
            <a:schemeClr val="tx1"/>
          </a:fontRef>
        </p:style>
      </p:cxnSp>
      <p:sp>
        <p:nvSpPr>
          <p:cNvPr id="53" name="draft-no">
            <a:extLst>
              <a:ext uri="{FF2B5EF4-FFF2-40B4-BE49-F238E27FC236}">
                <a16:creationId xmlns:a16="http://schemas.microsoft.com/office/drawing/2014/main" id="{8D9F739B-48BF-0208-CF5A-90E5DDD73971}"/>
              </a:ext>
            </a:extLst>
          </p:cNvPr>
          <p:cNvSpPr txBox="1"/>
          <p:nvPr/>
        </p:nvSpPr>
        <p:spPr>
          <a:xfrm>
            <a:off x="12534900" y="5283200"/>
            <a:ext cx="508000" cy="254000"/>
          </a:xfrm>
          <a:prstGeom prst="rect">
            <a:avLst/>
          </a:prstGeom>
          <a:noFill/>
        </p:spPr>
        <p:txBody>
          <a:bodyPr vert="horz" wrap="square" lIns="0" tIns="0" rIns="0" bIns="0" rtlCol="0" anchor="t">
            <a:noAutofit/>
          </a:bodyPr>
          <a:lstStyle/>
          <a:p>
            <a:r>
              <a:rPr lang="en-US" sz="1350" b="1">
                <a:solidFill>
                  <a:srgbClr val="B88431"/>
                </a:solidFill>
                <a:latin typeface="Arial" panose="020B0604020202020204" pitchFamily="34" charset="0"/>
              </a:rPr>
              <a:t>No</a:t>
            </a:r>
            <a:endParaRPr lang="en-DE" sz="1350" b="1">
              <a:solidFill>
                <a:srgbClr val="B88431"/>
              </a:solidFill>
              <a:latin typeface="Arial" panose="020B0604020202020204" pitchFamily="34" charset="0"/>
            </a:endParaRPr>
          </a:p>
        </p:txBody>
      </p:sp>
      <p:cxnSp>
        <p:nvCxnSpPr>
          <p:cNvPr id="54" name="failure-to-human">
            <a:extLst>
              <a:ext uri="{FF2B5EF4-FFF2-40B4-BE49-F238E27FC236}">
                <a16:creationId xmlns:a16="http://schemas.microsoft.com/office/drawing/2014/main" id="{4860DA48-59A5-3C0A-408B-B47A6013E5E1}"/>
              </a:ext>
            </a:extLst>
          </p:cNvPr>
          <p:cNvCxnSpPr/>
          <p:nvPr/>
        </p:nvCxnSpPr>
        <p:spPr>
          <a:xfrm>
            <a:off x="6438900" y="5765800"/>
            <a:ext cx="0" cy="660400"/>
          </a:xfrm>
          <a:prstGeom prst="straightConnector1">
            <a:avLst/>
          </a:prstGeom>
          <a:ln w="22860">
            <a:solidFill>
              <a:srgbClr val="B88431"/>
            </a:solidFill>
            <a:tailEnd type="arrow"/>
          </a:ln>
        </p:spPr>
        <p:style>
          <a:lnRef idx="2">
            <a:schemeClr val="accent1"/>
          </a:lnRef>
          <a:fillRef idx="0">
            <a:schemeClr val="accent1"/>
          </a:fillRef>
          <a:effectRef idx="1">
            <a:schemeClr val="accent1"/>
          </a:effectRef>
          <a:fontRef idx="minor">
            <a:schemeClr val="tx1"/>
          </a:fontRef>
        </p:style>
      </p:cxnSp>
      <p:cxnSp>
        <p:nvCxnSpPr>
          <p:cNvPr id="55" name="ready-down">
            <a:extLst>
              <a:ext uri="{FF2B5EF4-FFF2-40B4-BE49-F238E27FC236}">
                <a16:creationId xmlns:a16="http://schemas.microsoft.com/office/drawing/2014/main" id="{ABC7E0B3-2099-3DD4-41A3-33854BE267D4}"/>
              </a:ext>
            </a:extLst>
          </p:cNvPr>
          <p:cNvCxnSpPr/>
          <p:nvPr/>
        </p:nvCxnSpPr>
        <p:spPr>
          <a:xfrm>
            <a:off x="14681200" y="5092700"/>
            <a:ext cx="0" cy="38100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cxnSp>
        <p:nvCxnSpPr>
          <p:cNvPr id="56" name="ready-left">
            <a:extLst>
              <a:ext uri="{FF2B5EF4-FFF2-40B4-BE49-F238E27FC236}">
                <a16:creationId xmlns:a16="http://schemas.microsoft.com/office/drawing/2014/main" id="{BE95FF88-F781-BE56-9C36-5DA11C569009}"/>
              </a:ext>
            </a:extLst>
          </p:cNvPr>
          <p:cNvCxnSpPr/>
          <p:nvPr/>
        </p:nvCxnSpPr>
        <p:spPr>
          <a:xfrm flipH="1">
            <a:off x="10375900" y="5473700"/>
            <a:ext cx="4305300" cy="0"/>
          </a:xfrm>
          <a:prstGeom prst="straightConnector1">
            <a:avLst/>
          </a:prstGeom>
          <a:ln w="22860">
            <a:solidFill>
              <a:srgbClr val="087E83"/>
            </a:solidFill>
          </a:ln>
        </p:spPr>
        <p:style>
          <a:lnRef idx="2">
            <a:schemeClr val="accent1"/>
          </a:lnRef>
          <a:fillRef idx="0">
            <a:schemeClr val="accent1"/>
          </a:fillRef>
          <a:effectRef idx="1">
            <a:schemeClr val="accent1"/>
          </a:effectRef>
          <a:fontRef idx="minor">
            <a:schemeClr val="tx1"/>
          </a:fontRef>
        </p:style>
      </p:cxnSp>
      <p:cxnSp>
        <p:nvCxnSpPr>
          <p:cNvPr id="57" name="ready-review">
            <a:extLst>
              <a:ext uri="{FF2B5EF4-FFF2-40B4-BE49-F238E27FC236}">
                <a16:creationId xmlns:a16="http://schemas.microsoft.com/office/drawing/2014/main" id="{7ED78C24-52A5-EA86-137D-112AAD4A86A6}"/>
              </a:ext>
            </a:extLst>
          </p:cNvPr>
          <p:cNvCxnSpPr/>
          <p:nvPr/>
        </p:nvCxnSpPr>
        <p:spPr>
          <a:xfrm>
            <a:off x="10375900" y="5473700"/>
            <a:ext cx="0" cy="95250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58" name="escalation-review">
            <a:extLst>
              <a:ext uri="{FF2B5EF4-FFF2-40B4-BE49-F238E27FC236}">
                <a16:creationId xmlns:a16="http://schemas.microsoft.com/office/drawing/2014/main" id="{BEAED2FB-276E-5E81-0EB8-DB67B68BA5B3}"/>
              </a:ext>
            </a:extLst>
          </p:cNvPr>
          <p:cNvCxnSpPr>
            <a:cxnSpLocks/>
            <a:stCxn id="43" idx="3"/>
            <a:endCxn id="44" idx="1"/>
          </p:cNvCxnSpPr>
          <p:nvPr/>
        </p:nvCxnSpPr>
        <p:spPr>
          <a:xfrm>
            <a:off x="7924800" y="6908800"/>
            <a:ext cx="965200" cy="0"/>
          </a:xfrm>
          <a:prstGeom prst="straightConnector1">
            <a:avLst/>
          </a:prstGeom>
          <a:ln w="22860">
            <a:solidFill>
              <a:srgbClr val="B88431"/>
            </a:solidFill>
            <a:tailEnd type="arrow"/>
          </a:ln>
        </p:spPr>
        <p:style>
          <a:lnRef idx="2">
            <a:schemeClr val="accent1"/>
          </a:lnRef>
          <a:fillRef idx="0">
            <a:schemeClr val="accent1"/>
          </a:fillRef>
          <a:effectRef idx="1">
            <a:schemeClr val="accent1"/>
          </a:effectRef>
          <a:fontRef idx="minor">
            <a:schemeClr val="tx1"/>
          </a:fontRef>
        </p:style>
      </p:cxnSp>
      <p:cxnSp>
        <p:nvCxnSpPr>
          <p:cNvPr id="59" name="approval-copy">
            <a:extLst>
              <a:ext uri="{FF2B5EF4-FFF2-40B4-BE49-F238E27FC236}">
                <a16:creationId xmlns:a16="http://schemas.microsoft.com/office/drawing/2014/main" id="{CB8A4C1C-FB15-F01B-454D-38CB9A3BE1D3}"/>
              </a:ext>
            </a:extLst>
          </p:cNvPr>
          <p:cNvCxnSpPr>
            <a:cxnSpLocks/>
            <a:stCxn id="44" idx="3"/>
            <a:endCxn id="45" idx="1"/>
          </p:cNvCxnSpPr>
          <p:nvPr/>
        </p:nvCxnSpPr>
        <p:spPr>
          <a:xfrm>
            <a:off x="11861800" y="6908800"/>
            <a:ext cx="838200" cy="0"/>
          </a:xfrm>
          <a:prstGeom prst="straightConnector1">
            <a:avLst/>
          </a:prstGeom>
          <a:ln w="22860">
            <a:solidFill>
              <a:srgbClr val="6B8F3C"/>
            </a:solidFill>
            <a:tailEnd type="arrow"/>
          </a:ln>
        </p:spPr>
        <p:style>
          <a:lnRef idx="2">
            <a:schemeClr val="accent1"/>
          </a:lnRef>
          <a:fillRef idx="0">
            <a:schemeClr val="accent1"/>
          </a:fillRef>
          <a:effectRef idx="1">
            <a:schemeClr val="accent1"/>
          </a:effectRef>
          <a:fontRef idx="minor">
            <a:schemeClr val="tx1"/>
          </a:fontRef>
        </p:style>
      </p:cxnSp>
      <p:sp>
        <p:nvSpPr>
          <p:cNvPr id="60" name="approved-edge">
            <a:extLst>
              <a:ext uri="{FF2B5EF4-FFF2-40B4-BE49-F238E27FC236}">
                <a16:creationId xmlns:a16="http://schemas.microsoft.com/office/drawing/2014/main" id="{EBE2EA5E-5210-651A-5178-D8C9751AFE01}"/>
              </a:ext>
            </a:extLst>
          </p:cNvPr>
          <p:cNvSpPr txBox="1"/>
          <p:nvPr/>
        </p:nvSpPr>
        <p:spPr>
          <a:xfrm>
            <a:off x="11912600" y="6578600"/>
            <a:ext cx="736600" cy="254000"/>
          </a:xfrm>
          <a:prstGeom prst="rect">
            <a:avLst/>
          </a:prstGeom>
          <a:noFill/>
        </p:spPr>
        <p:txBody>
          <a:bodyPr vert="horz" wrap="square" lIns="0" tIns="0" rIns="0" bIns="0" rtlCol="0" anchor="t">
            <a:noAutofit/>
          </a:bodyPr>
          <a:lstStyle/>
          <a:p>
            <a:pPr algn="ctr"/>
            <a:r>
              <a:rPr lang="en-US" sz="1200" b="1">
                <a:solidFill>
                  <a:srgbClr val="6B8F3C"/>
                </a:solidFill>
                <a:latin typeface="Arial" panose="020B0604020202020204" pitchFamily="34" charset="0"/>
              </a:rPr>
              <a:t>Approved</a:t>
            </a:r>
            <a:endParaRPr lang="en-DE" sz="1200" b="1">
              <a:solidFill>
                <a:srgbClr val="6B8F3C"/>
              </a:solidFill>
              <a:latin typeface="Arial" panose="020B0604020202020204" pitchFamily="34" charset="0"/>
            </a:endParaRPr>
          </a:p>
        </p:txBody>
      </p:sp>
      <p:sp>
        <p:nvSpPr>
          <p:cNvPr id="61" name="flow-note">
            <a:extLst>
              <a:ext uri="{FF2B5EF4-FFF2-40B4-BE49-F238E27FC236}">
                <a16:creationId xmlns:a16="http://schemas.microsoft.com/office/drawing/2014/main" id="{E3A55D9B-B004-DB3E-816A-D4CA9F07F303}"/>
              </a:ext>
            </a:extLst>
          </p:cNvPr>
          <p:cNvSpPr txBox="1"/>
          <p:nvPr/>
        </p:nvSpPr>
        <p:spPr>
          <a:xfrm>
            <a:off x="508000" y="7632700"/>
            <a:ext cx="15240000" cy="546100"/>
          </a:xfrm>
          <a:prstGeom prst="rect">
            <a:avLst/>
          </a:prstGeom>
          <a:noFill/>
        </p:spPr>
        <p:txBody>
          <a:bodyPr vert="horz" wrap="square" lIns="0" tIns="0" rIns="0" bIns="0" rtlCol="0" anchor="t">
            <a:noAutofit/>
          </a:bodyPr>
          <a:lstStyle/>
          <a:p>
            <a:r>
              <a:rPr lang="en-US" sz="1700" dirty="0">
                <a:solidFill>
                  <a:srgbClr val="203947"/>
                </a:solidFill>
                <a:latin typeface="Arial" panose="020B0604020202020204" pitchFamily="34" charset="0"/>
              </a:rPr>
              <a:t>Red flags: fraud, several issues, missing details, ambiguous / missing transaction or amount / date mismatch. </a:t>
            </a:r>
          </a:p>
          <a:p>
            <a:r>
              <a:rPr lang="en-US" sz="1700" dirty="0">
                <a:solidFill>
                  <a:srgbClr val="203947"/>
                </a:solidFill>
                <a:latin typeface="Arial" panose="020B0604020202020204" pitchFamily="34" charset="0"/>
              </a:rPr>
              <a:t>Draft checks: valid citations, supported numbers and no requests for OTP, PIN or passwords.</a:t>
            </a:r>
            <a:endParaRPr lang="en-DE" sz="1700" dirty="0">
              <a:solidFill>
                <a:srgbClr val="203947"/>
              </a:solidFill>
              <a:latin typeface="Arial" panose="020B0604020202020204" pitchFamily="34" charset="0"/>
            </a:endParaRPr>
          </a:p>
        </p:txBody>
      </p:sp>
      <p:sp>
        <p:nvSpPr>
          <p:cNvPr id="62" name="footer-rule">
            <a:extLst>
              <a:ext uri="{FF2B5EF4-FFF2-40B4-BE49-F238E27FC236}">
                <a16:creationId xmlns:a16="http://schemas.microsoft.com/office/drawing/2014/main" id="{52A90B3B-3873-4246-AE12-22CB451E845B}"/>
              </a:ext>
            </a:extLst>
          </p:cNvPr>
          <p:cNvSpPr/>
          <p:nvPr/>
        </p:nvSpPr>
        <p:spPr>
          <a:xfrm>
            <a:off x="508000" y="8699500"/>
            <a:ext cx="15240000" cy="12700"/>
          </a:xfrm>
          <a:prstGeom prst="rect">
            <a:avLst/>
          </a:prstGeom>
          <a:solidFill>
            <a:srgbClr val="D9E3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3" name="footer">
            <a:extLst>
              <a:ext uri="{FF2B5EF4-FFF2-40B4-BE49-F238E27FC236}">
                <a16:creationId xmlns:a16="http://schemas.microsoft.com/office/drawing/2014/main" id="{EC459E5C-EC9C-0259-A541-E6A15B0FB65B}"/>
              </a:ext>
            </a:extLst>
          </p:cNvPr>
          <p:cNvSpPr txBox="1"/>
          <p:nvPr/>
        </p:nvSpPr>
        <p:spPr>
          <a:xfrm>
            <a:off x="508000" y="8826500"/>
            <a:ext cx="15240000" cy="215900"/>
          </a:xfrm>
          <a:prstGeom prst="rect">
            <a:avLst/>
          </a:prstGeom>
          <a:noFill/>
        </p:spPr>
        <p:txBody>
          <a:bodyPr vert="horz" wrap="square" lIns="0" tIns="0" rIns="0" bIns="0" rtlCol="0" anchor="t">
            <a:noAutofit/>
          </a:bodyPr>
          <a:lstStyle/>
          <a:p>
            <a:r>
              <a:rPr lang="en-US" sz="1150" dirty="0">
                <a:solidFill>
                  <a:srgbClr val="536873"/>
                </a:solidFill>
                <a:latin typeface="Arial" panose="020B0604020202020204" pitchFamily="34" charset="0"/>
              </a:rPr>
              <a:t>Purple = automated step  |  Blue = decision  |  Gold = human handling  |  Green = intake / approved output</a:t>
            </a:r>
            <a:endParaRPr lang="en-DE" sz="1150" dirty="0">
              <a:solidFill>
                <a:srgbClr val="536873"/>
              </a:solidFill>
              <a:latin typeface="Arial" panose="020B0604020202020204" pitchFamily="34" charset="0"/>
            </a:endParaRPr>
          </a:p>
        </p:txBody>
      </p:sp>
    </p:spTree>
    <p:extLst>
      <p:ext uri="{BB962C8B-B14F-4D97-AF65-F5344CB8AC3E}">
        <p14:creationId xmlns:p14="http://schemas.microsoft.com/office/powerpoint/2010/main" val="109229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7"/>
        </a:solidFill>
        <a:effectLst/>
      </p:bgPr>
    </p:bg>
    <p:spTree>
      <p:nvGrpSpPr>
        <p:cNvPr id="1" name=""/>
        <p:cNvGrpSpPr/>
        <p:nvPr/>
      </p:nvGrpSpPr>
      <p:grpSpPr>
        <a:xfrm>
          <a:off x="0" y="0"/>
          <a:ext cx="0" cy="0"/>
          <a:chOff x="0" y="0"/>
          <a:chExt cx="0" cy="0"/>
        </a:xfrm>
      </p:grpSpPr>
      <p:sp>
        <p:nvSpPr>
          <p:cNvPr id="2" name="header">
            <a:extLst>
              <a:ext uri="{FF2B5EF4-FFF2-40B4-BE49-F238E27FC236}">
                <a16:creationId xmlns:a16="http://schemas.microsoft.com/office/drawing/2014/main" id="{85AF940A-FDFA-AB54-0B99-122865918416}"/>
              </a:ext>
            </a:extLst>
          </p:cNvPr>
          <p:cNvSpPr/>
          <p:nvPr/>
        </p:nvSpPr>
        <p:spPr>
          <a:xfrm>
            <a:off x="0" y="0"/>
            <a:ext cx="16256000" cy="14732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accent">
            <a:extLst>
              <a:ext uri="{FF2B5EF4-FFF2-40B4-BE49-F238E27FC236}">
                <a16:creationId xmlns:a16="http://schemas.microsoft.com/office/drawing/2014/main" id="{F7E0F4F2-E31E-792B-6E3F-FF079DCBC87B}"/>
              </a:ext>
            </a:extLst>
          </p:cNvPr>
          <p:cNvSpPr/>
          <p:nvPr/>
        </p:nvSpPr>
        <p:spPr>
          <a:xfrm>
            <a:off x="0" y="1422400"/>
            <a:ext cx="16256000" cy="50800"/>
          </a:xfrm>
          <a:prstGeom prst="rect">
            <a:avLst/>
          </a:prstGeom>
          <a:solidFill>
            <a:srgbClr val="087E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eyebrow">
            <a:extLst>
              <a:ext uri="{FF2B5EF4-FFF2-40B4-BE49-F238E27FC236}">
                <a16:creationId xmlns:a16="http://schemas.microsoft.com/office/drawing/2014/main" id="{7DCEDCD5-A423-4FA1-F4CC-FC5966099BB4}"/>
              </a:ext>
            </a:extLst>
          </p:cNvPr>
          <p:cNvSpPr txBox="1"/>
          <p:nvPr/>
        </p:nvSpPr>
        <p:spPr>
          <a:xfrm>
            <a:off x="508000" y="203200"/>
            <a:ext cx="13970000" cy="241300"/>
          </a:xfrm>
          <a:prstGeom prst="rect">
            <a:avLst/>
          </a:prstGeom>
          <a:noFill/>
        </p:spPr>
        <p:txBody>
          <a:bodyPr vert="horz" wrap="square" lIns="0" tIns="0" rIns="0" bIns="0" rtlCol="0" anchor="t">
            <a:noAutofit/>
          </a:bodyPr>
          <a:lstStyle/>
          <a:p>
            <a:r>
              <a:rPr lang="en-US" sz="1200" b="1" dirty="0">
                <a:solidFill>
                  <a:srgbClr val="B5DCD9"/>
                </a:solidFill>
                <a:latin typeface="Arial" panose="020B0604020202020204" pitchFamily="34" charset="0"/>
              </a:rPr>
              <a:t>SAIF ALMALIKI  /  FAZAA  /  TOPIC 06: SUPPORT PIPELINE AUTOMATION</a:t>
            </a:r>
            <a:endParaRPr lang="en-DE" sz="1200" b="1" dirty="0">
              <a:solidFill>
                <a:srgbClr val="B5DCD9"/>
              </a:solidFill>
              <a:latin typeface="Arial" panose="020B0604020202020204" pitchFamily="34" charset="0"/>
            </a:endParaRPr>
          </a:p>
        </p:txBody>
      </p:sp>
      <p:sp>
        <p:nvSpPr>
          <p:cNvPr id="5" name="title">
            <a:extLst>
              <a:ext uri="{FF2B5EF4-FFF2-40B4-BE49-F238E27FC236}">
                <a16:creationId xmlns:a16="http://schemas.microsoft.com/office/drawing/2014/main" id="{4E7BBB33-9DA9-4375-96A1-0A8AF63C32B3}"/>
              </a:ext>
            </a:extLst>
          </p:cNvPr>
          <p:cNvSpPr txBox="1"/>
          <p:nvPr/>
        </p:nvSpPr>
        <p:spPr>
          <a:xfrm>
            <a:off x="508000" y="520700"/>
            <a:ext cx="14859000" cy="546100"/>
          </a:xfrm>
          <a:prstGeom prst="rect">
            <a:avLst/>
          </a:prstGeom>
          <a:noFill/>
        </p:spPr>
        <p:txBody>
          <a:bodyPr vert="horz" wrap="square" lIns="0" tIns="0" rIns="0" bIns="0" rtlCol="0" anchor="t">
            <a:noAutofit/>
          </a:bodyPr>
          <a:lstStyle/>
          <a:p>
            <a:r>
              <a:rPr lang="en-US" sz="3200" b="1">
                <a:solidFill>
                  <a:srgbClr val="FFFFFF"/>
                </a:solidFill>
                <a:latin typeface="Arial" panose="020B0604020202020204" pitchFamily="34" charset="0"/>
              </a:rPr>
              <a:t>12 categories. 7 teams. Clear priorities.</a:t>
            </a:r>
            <a:endParaRPr lang="en-DE" sz="3200" b="1">
              <a:solidFill>
                <a:srgbClr val="FFFFFF"/>
              </a:solidFill>
              <a:latin typeface="Arial" panose="020B0604020202020204" pitchFamily="34" charset="0"/>
            </a:endParaRPr>
          </a:p>
        </p:txBody>
      </p:sp>
      <p:sp>
        <p:nvSpPr>
          <p:cNvPr id="6" name="subtitle">
            <a:extLst>
              <a:ext uri="{FF2B5EF4-FFF2-40B4-BE49-F238E27FC236}">
                <a16:creationId xmlns:a16="http://schemas.microsoft.com/office/drawing/2014/main" id="{44549D5D-13C2-A719-B4D7-A10EB1CD85BC}"/>
              </a:ext>
            </a:extLst>
          </p:cNvPr>
          <p:cNvSpPr txBox="1"/>
          <p:nvPr/>
        </p:nvSpPr>
        <p:spPr>
          <a:xfrm>
            <a:off x="508000" y="1104900"/>
            <a:ext cx="14859000" cy="279400"/>
          </a:xfrm>
          <a:prstGeom prst="rect">
            <a:avLst/>
          </a:prstGeom>
          <a:noFill/>
        </p:spPr>
        <p:txBody>
          <a:bodyPr vert="horz" wrap="square" lIns="0" tIns="0" rIns="0" bIns="0" rtlCol="0" anchor="t">
            <a:noAutofit/>
          </a:bodyPr>
          <a:lstStyle/>
          <a:p>
            <a:r>
              <a:rPr lang="en-US" sz="1600">
                <a:solidFill>
                  <a:srgbClr val="DDE8EB"/>
                </a:solidFill>
                <a:latin typeface="Arial" panose="020B0604020202020204" pitchFamily="34" charset="0"/>
              </a:rPr>
              <a:t>AI identifies the issue. The rulebook assigns ownership and minimum urgency. A person reviews the outcome.</a:t>
            </a:r>
            <a:endParaRPr lang="en-DE" sz="1600">
              <a:solidFill>
                <a:srgbClr val="DDE8EB"/>
              </a:solidFill>
              <a:latin typeface="Arial" panose="020B0604020202020204" pitchFamily="34" charset="0"/>
            </a:endParaRPr>
          </a:p>
        </p:txBody>
      </p:sp>
      <p:sp>
        <p:nvSpPr>
          <p:cNvPr id="7" name="page">
            <a:extLst>
              <a:ext uri="{FF2B5EF4-FFF2-40B4-BE49-F238E27FC236}">
                <a16:creationId xmlns:a16="http://schemas.microsoft.com/office/drawing/2014/main" id="{A83CA3B6-DB56-3518-4669-7ED74A404081}"/>
              </a:ext>
            </a:extLst>
          </p:cNvPr>
          <p:cNvSpPr txBox="1"/>
          <p:nvPr/>
        </p:nvSpPr>
        <p:spPr>
          <a:xfrm>
            <a:off x="14986000" y="215900"/>
            <a:ext cx="762000" cy="241300"/>
          </a:xfrm>
          <a:prstGeom prst="rect">
            <a:avLst/>
          </a:prstGeom>
          <a:noFill/>
        </p:spPr>
        <p:txBody>
          <a:bodyPr vert="horz" wrap="square" lIns="0" tIns="0" rIns="0" bIns="0" rtlCol="0" anchor="t">
            <a:noAutofit/>
          </a:bodyPr>
          <a:lstStyle/>
          <a:p>
            <a:pPr algn="r"/>
            <a:r>
              <a:rPr lang="en-DE" sz="1200">
                <a:solidFill>
                  <a:srgbClr val="B5DCD9"/>
                </a:solidFill>
                <a:latin typeface="Arial" panose="020B0604020202020204" pitchFamily="34" charset="0"/>
              </a:rPr>
              <a:t>03 / 05</a:t>
            </a:r>
          </a:p>
        </p:txBody>
      </p:sp>
      <p:sp>
        <p:nvSpPr>
          <p:cNvPr id="8" name="routing-classify">
            <a:extLst>
              <a:ext uri="{FF2B5EF4-FFF2-40B4-BE49-F238E27FC236}">
                <a16:creationId xmlns:a16="http://schemas.microsoft.com/office/drawing/2014/main" id="{0CA774EB-3D10-3FFB-FCF8-B3A57A46C450}"/>
              </a:ext>
            </a:extLst>
          </p:cNvPr>
          <p:cNvSpPr/>
          <p:nvPr/>
        </p:nvSpPr>
        <p:spPr>
          <a:xfrm>
            <a:off x="508000" y="1727200"/>
            <a:ext cx="3429000" cy="16764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routing-classify-heading">
            <a:extLst>
              <a:ext uri="{FF2B5EF4-FFF2-40B4-BE49-F238E27FC236}">
                <a16:creationId xmlns:a16="http://schemas.microsoft.com/office/drawing/2014/main" id="{9F8F9F2A-482F-4E2E-F528-DC8A63F43B46}"/>
              </a:ext>
            </a:extLst>
          </p:cNvPr>
          <p:cNvSpPr txBox="1"/>
          <p:nvPr/>
        </p:nvSpPr>
        <p:spPr>
          <a:xfrm>
            <a:off x="685800" y="1892300"/>
            <a:ext cx="3073400" cy="342900"/>
          </a:xfrm>
          <a:prstGeom prst="rect">
            <a:avLst/>
          </a:prstGeom>
          <a:noFill/>
        </p:spPr>
        <p:txBody>
          <a:bodyPr vert="horz" wrap="square" lIns="0" tIns="0" rIns="0" bIns="0" rtlCol="0" anchor="t">
            <a:noAutofit/>
          </a:bodyPr>
          <a:lstStyle/>
          <a:p>
            <a:r>
              <a:rPr lang="en-US" sz="2000" b="1">
                <a:solidFill>
                  <a:srgbClr val="203947"/>
                </a:solidFill>
                <a:latin typeface="Arial" panose="020B0604020202020204" pitchFamily="34" charset="0"/>
              </a:rPr>
              <a:t>AI classifies</a:t>
            </a:r>
            <a:endParaRPr lang="en-DE" sz="2000" b="1">
              <a:solidFill>
                <a:srgbClr val="203947"/>
              </a:solidFill>
              <a:latin typeface="Arial" panose="020B0604020202020204" pitchFamily="34" charset="0"/>
            </a:endParaRPr>
          </a:p>
        </p:txBody>
      </p:sp>
      <p:sp>
        <p:nvSpPr>
          <p:cNvPr id="10" name="routing-classify-description">
            <a:extLst>
              <a:ext uri="{FF2B5EF4-FFF2-40B4-BE49-F238E27FC236}">
                <a16:creationId xmlns:a16="http://schemas.microsoft.com/office/drawing/2014/main" id="{D84CD903-79E4-8B3D-44B2-F65859D5C61E}"/>
              </a:ext>
            </a:extLst>
          </p:cNvPr>
          <p:cNvSpPr txBox="1"/>
          <p:nvPr/>
        </p:nvSpPr>
        <p:spPr>
          <a:xfrm>
            <a:off x="685800" y="2336800"/>
            <a:ext cx="3073400" cy="965200"/>
          </a:xfrm>
          <a:prstGeom prst="rect">
            <a:avLst/>
          </a:prstGeom>
          <a:noFill/>
        </p:spPr>
        <p:txBody>
          <a:bodyPr vert="horz" wrap="square" lIns="0" tIns="0" rIns="0" bIns="0" rtlCol="0" anchor="t">
            <a:noAutofit/>
          </a:bodyPr>
          <a:lstStyle/>
          <a:p>
            <a:r>
              <a:rPr lang="en-US" sz="1550" dirty="0" err="1">
                <a:solidFill>
                  <a:srgbClr val="203947"/>
                </a:solidFill>
                <a:latin typeface="Arial" panose="020B0604020202020204" pitchFamily="34" charset="0"/>
              </a:rPr>
              <a:t>Jev</a:t>
            </a:r>
            <a:r>
              <a:rPr lang="en-US" sz="1550" dirty="0">
                <a:solidFill>
                  <a:srgbClr val="203947"/>
                </a:solidFill>
                <a:latin typeface="Arial" panose="020B0604020202020204" pitchFamily="34" charset="0"/>
              </a:rPr>
              <a:t> proposes category, urgency
and risk flags. If uncertain,
Gemini gives a second opinion
using 3 samples.</a:t>
            </a:r>
            <a:endParaRPr lang="en-DE" sz="1550" dirty="0">
              <a:solidFill>
                <a:srgbClr val="203947"/>
              </a:solidFill>
              <a:latin typeface="Arial" panose="020B0604020202020204" pitchFamily="34" charset="0"/>
            </a:endParaRPr>
          </a:p>
        </p:txBody>
      </p:sp>
      <p:sp>
        <p:nvSpPr>
          <p:cNvPr id="11" name="routing-rules">
            <a:extLst>
              <a:ext uri="{FF2B5EF4-FFF2-40B4-BE49-F238E27FC236}">
                <a16:creationId xmlns:a16="http://schemas.microsoft.com/office/drawing/2014/main" id="{3468418D-0A49-132E-F694-9242211BF649}"/>
              </a:ext>
            </a:extLst>
          </p:cNvPr>
          <p:cNvSpPr/>
          <p:nvPr/>
        </p:nvSpPr>
        <p:spPr>
          <a:xfrm>
            <a:off x="4445000" y="1727200"/>
            <a:ext cx="3429000" cy="1676400"/>
          </a:xfrm>
          <a:prstGeom prst="rect">
            <a:avLst/>
          </a:prstGeom>
          <a:solidFill>
            <a:srgbClr val="EFE9FB"/>
          </a:solidFill>
          <a:ln w="12700">
            <a:solidFill>
              <a:srgbClr val="746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outing-rules-heading">
            <a:extLst>
              <a:ext uri="{FF2B5EF4-FFF2-40B4-BE49-F238E27FC236}">
                <a16:creationId xmlns:a16="http://schemas.microsoft.com/office/drawing/2014/main" id="{C869EC72-9A59-9C0B-9635-30DC8AD6B5B7}"/>
              </a:ext>
            </a:extLst>
          </p:cNvPr>
          <p:cNvSpPr txBox="1"/>
          <p:nvPr/>
        </p:nvSpPr>
        <p:spPr>
          <a:xfrm>
            <a:off x="4622800" y="1892300"/>
            <a:ext cx="3073400" cy="342900"/>
          </a:xfrm>
          <a:prstGeom prst="rect">
            <a:avLst/>
          </a:prstGeom>
          <a:noFill/>
        </p:spPr>
        <p:txBody>
          <a:bodyPr vert="horz" wrap="square" lIns="0" tIns="0" rIns="0" bIns="0" rtlCol="0" anchor="t">
            <a:noAutofit/>
          </a:bodyPr>
          <a:lstStyle/>
          <a:p>
            <a:r>
              <a:rPr lang="en-US" sz="2000" b="1">
                <a:solidFill>
                  <a:srgbClr val="203947"/>
                </a:solidFill>
                <a:latin typeface="Arial" panose="020B0604020202020204" pitchFamily="34" charset="0"/>
              </a:rPr>
              <a:t>Code checks evidence</a:t>
            </a:r>
            <a:endParaRPr lang="en-DE" sz="2000" b="1">
              <a:solidFill>
                <a:srgbClr val="203947"/>
              </a:solidFill>
              <a:latin typeface="Arial" panose="020B0604020202020204" pitchFamily="34" charset="0"/>
            </a:endParaRPr>
          </a:p>
        </p:txBody>
      </p:sp>
      <p:sp>
        <p:nvSpPr>
          <p:cNvPr id="13" name="routing-rules-description">
            <a:extLst>
              <a:ext uri="{FF2B5EF4-FFF2-40B4-BE49-F238E27FC236}">
                <a16:creationId xmlns:a16="http://schemas.microsoft.com/office/drawing/2014/main" id="{9F2CB7D0-56E2-BB33-25BC-1410600F0666}"/>
              </a:ext>
            </a:extLst>
          </p:cNvPr>
          <p:cNvSpPr txBox="1"/>
          <p:nvPr/>
        </p:nvSpPr>
        <p:spPr>
          <a:xfrm>
            <a:off x="4622800" y="2336800"/>
            <a:ext cx="3073400" cy="965200"/>
          </a:xfrm>
          <a:prstGeom prst="rect">
            <a:avLst/>
          </a:prstGeom>
          <a:noFill/>
        </p:spPr>
        <p:txBody>
          <a:bodyPr vert="horz" wrap="square" lIns="0" tIns="0" rIns="0" bIns="0" rtlCol="0" anchor="t">
            <a:noAutofit/>
          </a:bodyPr>
          <a:lstStyle/>
          <a:p>
            <a:r>
              <a:rPr lang="en-US" sz="1550">
                <a:solidFill>
                  <a:srgbClr val="203947"/>
                </a:solidFill>
                <a:latin typeface="Arial" panose="020B0604020202020204" pitchFamily="34" charset="0"/>
              </a:rPr>
              <a:t>Verify details from the ticket.
Match required transactions by
reference or phone, amount, date.
Flag gaps and mismatches.</a:t>
            </a:r>
            <a:endParaRPr lang="en-DE" sz="1550">
              <a:solidFill>
                <a:srgbClr val="203947"/>
              </a:solidFill>
              <a:latin typeface="Arial" panose="020B0604020202020204" pitchFamily="34" charset="0"/>
            </a:endParaRPr>
          </a:p>
        </p:txBody>
      </p:sp>
      <p:sp>
        <p:nvSpPr>
          <p:cNvPr id="14" name="routing-assigned">
            <a:extLst>
              <a:ext uri="{FF2B5EF4-FFF2-40B4-BE49-F238E27FC236}">
                <a16:creationId xmlns:a16="http://schemas.microsoft.com/office/drawing/2014/main" id="{AB7BBA5C-8784-F8EB-0DEB-43033A618DB5}"/>
              </a:ext>
            </a:extLst>
          </p:cNvPr>
          <p:cNvSpPr/>
          <p:nvPr/>
        </p:nvSpPr>
        <p:spPr>
          <a:xfrm>
            <a:off x="8382000" y="1727200"/>
            <a:ext cx="3429000" cy="1676400"/>
          </a:xfrm>
          <a:prstGeom prst="rect">
            <a:avLst/>
          </a:prstGeom>
          <a:solidFill>
            <a:srgbClr val="E7F3F1"/>
          </a:solidFill>
          <a:ln w="12700">
            <a:solidFill>
              <a:srgbClr val="087E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routing-assigned-heading">
            <a:extLst>
              <a:ext uri="{FF2B5EF4-FFF2-40B4-BE49-F238E27FC236}">
                <a16:creationId xmlns:a16="http://schemas.microsoft.com/office/drawing/2014/main" id="{55758E55-39AF-F418-ADA5-F7E04BBE4B7C}"/>
              </a:ext>
            </a:extLst>
          </p:cNvPr>
          <p:cNvSpPr txBox="1"/>
          <p:nvPr/>
        </p:nvSpPr>
        <p:spPr>
          <a:xfrm>
            <a:off x="8559800" y="1892300"/>
            <a:ext cx="3073400" cy="342900"/>
          </a:xfrm>
          <a:prstGeom prst="rect">
            <a:avLst/>
          </a:prstGeom>
          <a:noFill/>
        </p:spPr>
        <p:txBody>
          <a:bodyPr vert="horz" wrap="square" lIns="0" tIns="0" rIns="0" bIns="0" rtlCol="0" anchor="t">
            <a:noAutofit/>
          </a:bodyPr>
          <a:lstStyle/>
          <a:p>
            <a:r>
              <a:rPr lang="en-US" sz="2000" b="1">
                <a:solidFill>
                  <a:srgbClr val="203947"/>
                </a:solidFill>
                <a:latin typeface="Arial" panose="020B0604020202020204" pitchFamily="34" charset="0"/>
              </a:rPr>
              <a:t>Team + priority</a:t>
            </a:r>
            <a:endParaRPr lang="en-DE" sz="2000" b="1">
              <a:solidFill>
                <a:srgbClr val="203947"/>
              </a:solidFill>
              <a:latin typeface="Arial" panose="020B0604020202020204" pitchFamily="34" charset="0"/>
            </a:endParaRPr>
          </a:p>
        </p:txBody>
      </p:sp>
      <p:sp>
        <p:nvSpPr>
          <p:cNvPr id="16" name="routing-assigned-description">
            <a:extLst>
              <a:ext uri="{FF2B5EF4-FFF2-40B4-BE49-F238E27FC236}">
                <a16:creationId xmlns:a16="http://schemas.microsoft.com/office/drawing/2014/main" id="{C1845B3E-16DE-D0BA-A2DB-33197A472FE8}"/>
              </a:ext>
            </a:extLst>
          </p:cNvPr>
          <p:cNvSpPr txBox="1"/>
          <p:nvPr/>
        </p:nvSpPr>
        <p:spPr>
          <a:xfrm>
            <a:off x="8559800" y="2336800"/>
            <a:ext cx="3073400" cy="965200"/>
          </a:xfrm>
          <a:prstGeom prst="rect">
            <a:avLst/>
          </a:prstGeom>
          <a:noFill/>
        </p:spPr>
        <p:txBody>
          <a:bodyPr vert="horz" wrap="square" lIns="0" tIns="0" rIns="0" bIns="0" rtlCol="0" anchor="t">
            <a:noAutofit/>
          </a:bodyPr>
          <a:lstStyle/>
          <a:p>
            <a:r>
              <a:rPr lang="en-US" sz="1550">
                <a:solidFill>
                  <a:srgbClr val="203947"/>
                </a:solidFill>
                <a:latin typeface="Arial" panose="020B0604020202020204" pitchFamily="34" charset="0"/>
              </a:rPr>
              <a:t>Map category to one of 7 teams.
Apply priority floors + risk rules.
Save the route, final urgency and
reasons for any escalation.</a:t>
            </a:r>
            <a:endParaRPr lang="en-DE" sz="1550">
              <a:solidFill>
                <a:srgbClr val="203947"/>
              </a:solidFill>
              <a:latin typeface="Arial" panose="020B0604020202020204" pitchFamily="34" charset="0"/>
            </a:endParaRPr>
          </a:p>
        </p:txBody>
      </p:sp>
      <p:sp>
        <p:nvSpPr>
          <p:cNvPr id="17" name="routing-review">
            <a:extLst>
              <a:ext uri="{FF2B5EF4-FFF2-40B4-BE49-F238E27FC236}">
                <a16:creationId xmlns:a16="http://schemas.microsoft.com/office/drawing/2014/main" id="{D65B111E-7677-3711-60B1-9FBC059A82F9}"/>
              </a:ext>
            </a:extLst>
          </p:cNvPr>
          <p:cNvSpPr/>
          <p:nvPr/>
        </p:nvSpPr>
        <p:spPr>
          <a:xfrm>
            <a:off x="12319000" y="1727200"/>
            <a:ext cx="3429000" cy="1676400"/>
          </a:xfrm>
          <a:prstGeom prst="rect">
            <a:avLst/>
          </a:prstGeom>
          <a:solidFill>
            <a:srgbClr val="FBF3E4"/>
          </a:solidFill>
          <a:ln w="12700">
            <a:solidFill>
              <a:srgbClr val="B88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8" name="routing-review-heading">
            <a:extLst>
              <a:ext uri="{FF2B5EF4-FFF2-40B4-BE49-F238E27FC236}">
                <a16:creationId xmlns:a16="http://schemas.microsoft.com/office/drawing/2014/main" id="{59AB2C64-075D-9778-D90F-4EFD0229E7F9}"/>
              </a:ext>
            </a:extLst>
          </p:cNvPr>
          <p:cNvSpPr txBox="1"/>
          <p:nvPr/>
        </p:nvSpPr>
        <p:spPr>
          <a:xfrm>
            <a:off x="12496800" y="1892300"/>
            <a:ext cx="3073400" cy="342900"/>
          </a:xfrm>
          <a:prstGeom prst="rect">
            <a:avLst/>
          </a:prstGeom>
          <a:noFill/>
        </p:spPr>
        <p:txBody>
          <a:bodyPr vert="horz" wrap="square" lIns="0" tIns="0" rIns="0" bIns="0" rtlCol="0" anchor="t">
            <a:noAutofit/>
          </a:bodyPr>
          <a:lstStyle/>
          <a:p>
            <a:r>
              <a:rPr lang="en-US" sz="2000" b="1">
                <a:solidFill>
                  <a:srgbClr val="203947"/>
                </a:solidFill>
                <a:latin typeface="Arial" panose="020B0604020202020204" pitchFamily="34" charset="0"/>
              </a:rPr>
              <a:t>Human review</a:t>
            </a:r>
            <a:endParaRPr lang="en-DE" sz="2000" b="1">
              <a:solidFill>
                <a:srgbClr val="203947"/>
              </a:solidFill>
              <a:latin typeface="Arial" panose="020B0604020202020204" pitchFamily="34" charset="0"/>
            </a:endParaRPr>
          </a:p>
        </p:txBody>
      </p:sp>
      <p:sp>
        <p:nvSpPr>
          <p:cNvPr id="19" name="routing-review-description">
            <a:extLst>
              <a:ext uri="{FF2B5EF4-FFF2-40B4-BE49-F238E27FC236}">
                <a16:creationId xmlns:a16="http://schemas.microsoft.com/office/drawing/2014/main" id="{334CC923-E789-BA09-5D73-E7A403E7AA67}"/>
              </a:ext>
            </a:extLst>
          </p:cNvPr>
          <p:cNvSpPr txBox="1"/>
          <p:nvPr/>
        </p:nvSpPr>
        <p:spPr>
          <a:xfrm>
            <a:off x="12496800" y="2336800"/>
            <a:ext cx="3073400" cy="965200"/>
          </a:xfrm>
          <a:prstGeom prst="rect">
            <a:avLst/>
          </a:prstGeom>
          <a:noFill/>
        </p:spPr>
        <p:txBody>
          <a:bodyPr vert="horz" wrap="square" lIns="0" tIns="0" rIns="0" bIns="0" rtlCol="0" anchor="t">
            <a:noAutofit/>
          </a:bodyPr>
          <a:lstStyle/>
          <a:p>
            <a:r>
              <a:rPr lang="en-US" sz="1550">
                <a:solidFill>
                  <a:srgbClr val="203947"/>
                </a:solidFill>
                <a:latin typeface="Arial" panose="020B0604020202020204" pitchFamily="34" charset="0"/>
              </a:rPr>
              <a:t>Review evidence; write or edit.
Approve, reject or reassign.
Each action is saved for audit.
Copy approved text manually.</a:t>
            </a:r>
            <a:endParaRPr lang="en-DE" sz="1550">
              <a:solidFill>
                <a:srgbClr val="203947"/>
              </a:solidFill>
              <a:latin typeface="Arial" panose="020B0604020202020204" pitchFamily="34" charset="0"/>
            </a:endParaRPr>
          </a:p>
        </p:txBody>
      </p:sp>
      <p:cxnSp>
        <p:nvCxnSpPr>
          <p:cNvPr id="20" name="routing-classify-rules">
            <a:extLst>
              <a:ext uri="{FF2B5EF4-FFF2-40B4-BE49-F238E27FC236}">
                <a16:creationId xmlns:a16="http://schemas.microsoft.com/office/drawing/2014/main" id="{B3C72766-309A-3C70-3EB6-68C2BF5A3492}"/>
              </a:ext>
            </a:extLst>
          </p:cNvPr>
          <p:cNvCxnSpPr>
            <a:cxnSpLocks/>
            <a:stCxn id="8" idx="3"/>
            <a:endCxn id="11" idx="1"/>
          </p:cNvCxnSpPr>
          <p:nvPr/>
        </p:nvCxnSpPr>
        <p:spPr>
          <a:xfrm>
            <a:off x="3937000" y="2565400"/>
            <a:ext cx="508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21" name="routing-rules-assigned">
            <a:extLst>
              <a:ext uri="{FF2B5EF4-FFF2-40B4-BE49-F238E27FC236}">
                <a16:creationId xmlns:a16="http://schemas.microsoft.com/office/drawing/2014/main" id="{02D22044-87D8-B1E6-B93F-DA1DEEE84D5D}"/>
              </a:ext>
            </a:extLst>
          </p:cNvPr>
          <p:cNvCxnSpPr>
            <a:cxnSpLocks/>
            <a:stCxn id="11" idx="3"/>
            <a:endCxn id="14" idx="1"/>
          </p:cNvCxnSpPr>
          <p:nvPr/>
        </p:nvCxnSpPr>
        <p:spPr>
          <a:xfrm>
            <a:off x="7874000" y="2565400"/>
            <a:ext cx="508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cxnSp>
        <p:nvCxnSpPr>
          <p:cNvPr id="22" name="routing-assigned-review">
            <a:extLst>
              <a:ext uri="{FF2B5EF4-FFF2-40B4-BE49-F238E27FC236}">
                <a16:creationId xmlns:a16="http://schemas.microsoft.com/office/drawing/2014/main" id="{F45E7518-3B78-C8FC-C74D-FF750F50B6E8}"/>
              </a:ext>
            </a:extLst>
          </p:cNvPr>
          <p:cNvCxnSpPr>
            <a:cxnSpLocks/>
            <a:stCxn id="14" idx="3"/>
            <a:endCxn id="17" idx="1"/>
          </p:cNvCxnSpPr>
          <p:nvPr/>
        </p:nvCxnSpPr>
        <p:spPr>
          <a:xfrm>
            <a:off x="11811000" y="2565400"/>
            <a:ext cx="5080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23" name="routing-table">
            <a:extLst>
              <a:ext uri="{FF2B5EF4-FFF2-40B4-BE49-F238E27FC236}">
                <a16:creationId xmlns:a16="http://schemas.microsoft.com/office/drawing/2014/main" id="{7C501302-5EF4-3A2A-4029-95CD07BE21F4}"/>
              </a:ext>
            </a:extLst>
          </p:cNvPr>
          <p:cNvSpPr/>
          <p:nvPr/>
        </p:nvSpPr>
        <p:spPr>
          <a:xfrm>
            <a:off x="508000" y="3619500"/>
            <a:ext cx="10414000" cy="48387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routing-table-heading">
            <a:extLst>
              <a:ext uri="{FF2B5EF4-FFF2-40B4-BE49-F238E27FC236}">
                <a16:creationId xmlns:a16="http://schemas.microsoft.com/office/drawing/2014/main" id="{6EC5FA99-C545-C9FA-F398-F2C8FA3C6710}"/>
              </a:ext>
            </a:extLst>
          </p:cNvPr>
          <p:cNvSpPr txBox="1"/>
          <p:nvPr/>
        </p:nvSpPr>
        <p:spPr>
          <a:xfrm>
            <a:off x="736600" y="3810000"/>
            <a:ext cx="99568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CATEGORY-TO-TEAM ROUTING</a:t>
            </a:r>
            <a:endParaRPr lang="en-DE" sz="1400" b="1">
              <a:solidFill>
                <a:srgbClr val="087E83"/>
              </a:solidFill>
              <a:latin typeface="Arial" panose="020B0604020202020204" pitchFamily="34" charset="0"/>
            </a:endParaRPr>
          </a:p>
        </p:txBody>
      </p:sp>
      <p:sp>
        <p:nvSpPr>
          <p:cNvPr id="25" name="category-column">
            <a:extLst>
              <a:ext uri="{FF2B5EF4-FFF2-40B4-BE49-F238E27FC236}">
                <a16:creationId xmlns:a16="http://schemas.microsoft.com/office/drawing/2014/main" id="{C4634DB9-7072-1730-6280-CF6477DDA6F3}"/>
              </a:ext>
            </a:extLst>
          </p:cNvPr>
          <p:cNvSpPr txBox="1"/>
          <p:nvPr/>
        </p:nvSpPr>
        <p:spPr>
          <a:xfrm>
            <a:off x="736600" y="4165600"/>
            <a:ext cx="6477000" cy="254000"/>
          </a:xfrm>
          <a:prstGeom prst="rect">
            <a:avLst/>
          </a:prstGeom>
          <a:noFill/>
        </p:spPr>
        <p:txBody>
          <a:bodyPr vert="horz" wrap="square" lIns="0" tIns="0" rIns="0" bIns="0" rtlCol="0" anchor="t">
            <a:noAutofit/>
          </a:bodyPr>
          <a:lstStyle/>
          <a:p>
            <a:r>
              <a:rPr lang="en-US" sz="1250" b="1">
                <a:solidFill>
                  <a:srgbClr val="536873"/>
                </a:solidFill>
                <a:latin typeface="Arial" panose="020B0604020202020204" pitchFamily="34" charset="0"/>
              </a:rPr>
              <a:t>CATEGORIES / MINIMUM URGENCY</a:t>
            </a:r>
            <a:endParaRPr lang="en-DE" sz="1250" b="1">
              <a:solidFill>
                <a:srgbClr val="536873"/>
              </a:solidFill>
              <a:latin typeface="Arial" panose="020B0604020202020204" pitchFamily="34" charset="0"/>
            </a:endParaRPr>
          </a:p>
        </p:txBody>
      </p:sp>
      <p:sp>
        <p:nvSpPr>
          <p:cNvPr id="26" name="team-column">
            <a:extLst>
              <a:ext uri="{FF2B5EF4-FFF2-40B4-BE49-F238E27FC236}">
                <a16:creationId xmlns:a16="http://schemas.microsoft.com/office/drawing/2014/main" id="{B3477969-B7AA-D569-F0F8-386C6B88C541}"/>
              </a:ext>
            </a:extLst>
          </p:cNvPr>
          <p:cNvSpPr txBox="1"/>
          <p:nvPr/>
        </p:nvSpPr>
        <p:spPr>
          <a:xfrm>
            <a:off x="7874000" y="4165600"/>
            <a:ext cx="2819400" cy="254000"/>
          </a:xfrm>
          <a:prstGeom prst="rect">
            <a:avLst/>
          </a:prstGeom>
          <a:noFill/>
        </p:spPr>
        <p:txBody>
          <a:bodyPr vert="horz" wrap="square" lIns="0" tIns="0" rIns="0" bIns="0" rtlCol="0" anchor="t">
            <a:noAutofit/>
          </a:bodyPr>
          <a:lstStyle/>
          <a:p>
            <a:r>
              <a:rPr lang="en-US" sz="1250" b="1">
                <a:solidFill>
                  <a:srgbClr val="536873"/>
                </a:solidFill>
                <a:latin typeface="Arial" panose="020B0604020202020204" pitchFamily="34" charset="0"/>
              </a:rPr>
              <a:t>ASSIGNED TEAM</a:t>
            </a:r>
            <a:endParaRPr lang="en-DE" sz="1250" b="1">
              <a:solidFill>
                <a:srgbClr val="536873"/>
              </a:solidFill>
              <a:latin typeface="Arial" panose="020B0604020202020204" pitchFamily="34" charset="0"/>
            </a:endParaRPr>
          </a:p>
        </p:txBody>
      </p:sp>
      <p:sp>
        <p:nvSpPr>
          <p:cNvPr id="27" name="team-row-0">
            <a:extLst>
              <a:ext uri="{FF2B5EF4-FFF2-40B4-BE49-F238E27FC236}">
                <a16:creationId xmlns:a16="http://schemas.microsoft.com/office/drawing/2014/main" id="{F411769C-072C-4416-1621-AE5962C375F8}"/>
              </a:ext>
            </a:extLst>
          </p:cNvPr>
          <p:cNvSpPr/>
          <p:nvPr/>
        </p:nvSpPr>
        <p:spPr>
          <a:xfrm>
            <a:off x="520700" y="4470400"/>
            <a:ext cx="10388600" cy="520700"/>
          </a:xfrm>
          <a:prstGeom prst="rect">
            <a:avLst/>
          </a:prstGeom>
          <a:solidFill>
            <a:srgbClr val="F3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categories-0">
            <a:extLst>
              <a:ext uri="{FF2B5EF4-FFF2-40B4-BE49-F238E27FC236}">
                <a16:creationId xmlns:a16="http://schemas.microsoft.com/office/drawing/2014/main" id="{B697F5D0-A32D-4D02-EB59-A7816359D8CF}"/>
              </a:ext>
            </a:extLst>
          </p:cNvPr>
          <p:cNvSpPr txBox="1"/>
          <p:nvPr/>
        </p:nvSpPr>
        <p:spPr>
          <a:xfrm>
            <a:off x="736600" y="4584700"/>
            <a:ext cx="6477000" cy="520700"/>
          </a:xfrm>
          <a:prstGeom prst="rect">
            <a:avLst/>
          </a:prstGeom>
          <a:noFill/>
        </p:spPr>
        <p:txBody>
          <a:bodyPr vert="horz" wrap="square" lIns="0" tIns="0" rIns="0" bIns="0" rtlCol="0" anchor="t">
            <a:noAutofit/>
          </a:bodyPr>
          <a:lstStyle/>
          <a:p>
            <a:r>
              <a:rPr lang="en-US" sz="1750" dirty="0">
                <a:solidFill>
                  <a:srgbClr val="203947"/>
                </a:solidFill>
                <a:latin typeface="Arial" panose="020B0604020202020204" pitchFamily="34" charset="0"/>
              </a:rPr>
              <a:t>Failed transfer (P2)  |  Bill payment (P3)</a:t>
            </a:r>
            <a:endParaRPr lang="en-DE" sz="1750" dirty="0">
              <a:solidFill>
                <a:srgbClr val="203947"/>
              </a:solidFill>
              <a:latin typeface="Arial" panose="020B0604020202020204" pitchFamily="34" charset="0"/>
            </a:endParaRPr>
          </a:p>
        </p:txBody>
      </p:sp>
      <p:cxnSp>
        <p:nvCxnSpPr>
          <p:cNvPr id="29" name="category-to-team-0">
            <a:extLst>
              <a:ext uri="{FF2B5EF4-FFF2-40B4-BE49-F238E27FC236}">
                <a16:creationId xmlns:a16="http://schemas.microsoft.com/office/drawing/2014/main" id="{55425720-2C43-9333-E75C-A2EFFBA59E1B}"/>
              </a:ext>
            </a:extLst>
          </p:cNvPr>
          <p:cNvCxnSpPr/>
          <p:nvPr/>
        </p:nvCxnSpPr>
        <p:spPr>
          <a:xfrm>
            <a:off x="7378700" y="47371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0" name="team-0">
            <a:extLst>
              <a:ext uri="{FF2B5EF4-FFF2-40B4-BE49-F238E27FC236}">
                <a16:creationId xmlns:a16="http://schemas.microsoft.com/office/drawing/2014/main" id="{2374F814-AD07-8F04-FA7A-62EBAA4659C5}"/>
              </a:ext>
            </a:extLst>
          </p:cNvPr>
          <p:cNvSpPr txBox="1"/>
          <p:nvPr/>
        </p:nvSpPr>
        <p:spPr>
          <a:xfrm>
            <a:off x="7874000" y="45847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Payments Ops</a:t>
            </a:r>
            <a:endParaRPr lang="en-DE" sz="1900" b="1">
              <a:solidFill>
                <a:srgbClr val="203947"/>
              </a:solidFill>
              <a:latin typeface="Arial" panose="020B0604020202020204" pitchFamily="34" charset="0"/>
            </a:endParaRPr>
          </a:p>
        </p:txBody>
      </p:sp>
      <p:sp>
        <p:nvSpPr>
          <p:cNvPr id="31" name="categories-1">
            <a:extLst>
              <a:ext uri="{FF2B5EF4-FFF2-40B4-BE49-F238E27FC236}">
                <a16:creationId xmlns:a16="http://schemas.microsoft.com/office/drawing/2014/main" id="{0CD1E6AA-4864-53B8-7428-D85A36DCB853}"/>
              </a:ext>
            </a:extLst>
          </p:cNvPr>
          <p:cNvSpPr txBox="1"/>
          <p:nvPr/>
        </p:nvSpPr>
        <p:spPr>
          <a:xfrm>
            <a:off x="736600" y="5105400"/>
            <a:ext cx="6477000" cy="520700"/>
          </a:xfrm>
          <a:prstGeom prst="rect">
            <a:avLst/>
          </a:prstGeom>
          <a:noFill/>
        </p:spPr>
        <p:txBody>
          <a:bodyPr vert="horz" wrap="square" lIns="0" tIns="0" rIns="0" bIns="0" rtlCol="0" anchor="t">
            <a:noAutofit/>
          </a:bodyPr>
          <a:lstStyle/>
          <a:p>
            <a:r>
              <a:rPr lang="en-US" sz="1750" dirty="0">
                <a:solidFill>
                  <a:srgbClr val="203947"/>
                </a:solidFill>
                <a:latin typeface="Arial" panose="020B0604020202020204" pitchFamily="34" charset="0"/>
              </a:rPr>
              <a:t>Wrong recipient (P2)  |  Refund request (P3)</a:t>
            </a:r>
            <a:endParaRPr lang="en-DE" sz="1750" dirty="0">
              <a:solidFill>
                <a:srgbClr val="203947"/>
              </a:solidFill>
              <a:latin typeface="Arial" panose="020B0604020202020204" pitchFamily="34" charset="0"/>
            </a:endParaRPr>
          </a:p>
        </p:txBody>
      </p:sp>
      <p:cxnSp>
        <p:nvCxnSpPr>
          <p:cNvPr id="32" name="category-to-team-1">
            <a:extLst>
              <a:ext uri="{FF2B5EF4-FFF2-40B4-BE49-F238E27FC236}">
                <a16:creationId xmlns:a16="http://schemas.microsoft.com/office/drawing/2014/main" id="{11DF5E3F-F300-0F23-25AE-DEC01598CC31}"/>
              </a:ext>
            </a:extLst>
          </p:cNvPr>
          <p:cNvCxnSpPr/>
          <p:nvPr/>
        </p:nvCxnSpPr>
        <p:spPr>
          <a:xfrm>
            <a:off x="7378700" y="52578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3" name="team-1">
            <a:extLst>
              <a:ext uri="{FF2B5EF4-FFF2-40B4-BE49-F238E27FC236}">
                <a16:creationId xmlns:a16="http://schemas.microsoft.com/office/drawing/2014/main" id="{ACF1ADC1-3545-F443-8DB0-429192F1F61A}"/>
              </a:ext>
            </a:extLst>
          </p:cNvPr>
          <p:cNvSpPr txBox="1"/>
          <p:nvPr/>
        </p:nvSpPr>
        <p:spPr>
          <a:xfrm>
            <a:off x="7874000" y="51054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Disputes</a:t>
            </a:r>
            <a:endParaRPr lang="en-DE" sz="1900" b="1">
              <a:solidFill>
                <a:srgbClr val="203947"/>
              </a:solidFill>
              <a:latin typeface="Arial" panose="020B0604020202020204" pitchFamily="34" charset="0"/>
            </a:endParaRPr>
          </a:p>
        </p:txBody>
      </p:sp>
      <p:sp>
        <p:nvSpPr>
          <p:cNvPr id="34" name="team-row-2">
            <a:extLst>
              <a:ext uri="{FF2B5EF4-FFF2-40B4-BE49-F238E27FC236}">
                <a16:creationId xmlns:a16="http://schemas.microsoft.com/office/drawing/2014/main" id="{520136C9-89A5-4C3E-FBEE-49F10A10A13F}"/>
              </a:ext>
            </a:extLst>
          </p:cNvPr>
          <p:cNvSpPr/>
          <p:nvPr/>
        </p:nvSpPr>
        <p:spPr>
          <a:xfrm>
            <a:off x="520700" y="5511800"/>
            <a:ext cx="10388600" cy="520700"/>
          </a:xfrm>
          <a:prstGeom prst="rect">
            <a:avLst/>
          </a:prstGeom>
          <a:solidFill>
            <a:srgbClr val="F3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categories-2">
            <a:extLst>
              <a:ext uri="{FF2B5EF4-FFF2-40B4-BE49-F238E27FC236}">
                <a16:creationId xmlns:a16="http://schemas.microsoft.com/office/drawing/2014/main" id="{45313B4F-EF89-D315-2CCB-038A178CD052}"/>
              </a:ext>
            </a:extLst>
          </p:cNvPr>
          <p:cNvSpPr txBox="1"/>
          <p:nvPr/>
        </p:nvSpPr>
        <p:spPr>
          <a:xfrm>
            <a:off x="736600" y="5524500"/>
            <a:ext cx="6477000" cy="520700"/>
          </a:xfrm>
          <a:prstGeom prst="rect">
            <a:avLst/>
          </a:prstGeom>
          <a:noFill/>
        </p:spPr>
        <p:txBody>
          <a:bodyPr vert="horz" wrap="square" lIns="0" tIns="0" rIns="0" bIns="0" rtlCol="0" anchor="t">
            <a:noAutofit/>
          </a:bodyPr>
          <a:lstStyle/>
          <a:p>
            <a:r>
              <a:rPr lang="en-US" sz="1750">
                <a:solidFill>
                  <a:srgbClr val="203947"/>
                </a:solidFill>
                <a:latin typeface="Arial" panose="020B0604020202020204" pitchFamily="34" charset="0"/>
              </a:rPr>
              <a:t>Login / access (P3)  |  Account / KYC (P4)
Fraud report (P1)</a:t>
            </a:r>
            <a:endParaRPr lang="en-DE" sz="1750">
              <a:solidFill>
                <a:srgbClr val="203947"/>
              </a:solidFill>
              <a:latin typeface="Arial" panose="020B0604020202020204" pitchFamily="34" charset="0"/>
            </a:endParaRPr>
          </a:p>
        </p:txBody>
      </p:sp>
      <p:cxnSp>
        <p:nvCxnSpPr>
          <p:cNvPr id="36" name="category-to-team-2">
            <a:extLst>
              <a:ext uri="{FF2B5EF4-FFF2-40B4-BE49-F238E27FC236}">
                <a16:creationId xmlns:a16="http://schemas.microsoft.com/office/drawing/2014/main" id="{A94049A2-D20B-7773-E7A5-9C892FB4E662}"/>
              </a:ext>
            </a:extLst>
          </p:cNvPr>
          <p:cNvCxnSpPr/>
          <p:nvPr/>
        </p:nvCxnSpPr>
        <p:spPr>
          <a:xfrm>
            <a:off x="7378700" y="57785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37" name="team-2">
            <a:extLst>
              <a:ext uri="{FF2B5EF4-FFF2-40B4-BE49-F238E27FC236}">
                <a16:creationId xmlns:a16="http://schemas.microsoft.com/office/drawing/2014/main" id="{035B4E2A-F57E-7051-47A6-2B08FAC56294}"/>
              </a:ext>
            </a:extLst>
          </p:cNvPr>
          <p:cNvSpPr txBox="1"/>
          <p:nvPr/>
        </p:nvSpPr>
        <p:spPr>
          <a:xfrm>
            <a:off x="7874000" y="56261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Account &amp; Security</a:t>
            </a:r>
            <a:endParaRPr lang="en-DE" sz="1900" b="1">
              <a:solidFill>
                <a:srgbClr val="203947"/>
              </a:solidFill>
              <a:latin typeface="Arial" panose="020B0604020202020204" pitchFamily="34" charset="0"/>
            </a:endParaRPr>
          </a:p>
        </p:txBody>
      </p:sp>
      <p:sp>
        <p:nvSpPr>
          <p:cNvPr id="38" name="categories-3">
            <a:extLst>
              <a:ext uri="{FF2B5EF4-FFF2-40B4-BE49-F238E27FC236}">
                <a16:creationId xmlns:a16="http://schemas.microsoft.com/office/drawing/2014/main" id="{AACBB3BE-6B64-89C5-9C98-5984AC02C760}"/>
              </a:ext>
            </a:extLst>
          </p:cNvPr>
          <p:cNvSpPr txBox="1"/>
          <p:nvPr/>
        </p:nvSpPr>
        <p:spPr>
          <a:xfrm>
            <a:off x="736600" y="6146800"/>
            <a:ext cx="6477000" cy="520700"/>
          </a:xfrm>
          <a:prstGeom prst="rect">
            <a:avLst/>
          </a:prstGeom>
          <a:noFill/>
        </p:spPr>
        <p:txBody>
          <a:bodyPr vert="horz" wrap="square" lIns="0" tIns="0" rIns="0" bIns="0" rtlCol="0" anchor="t">
            <a:noAutofit/>
          </a:bodyPr>
          <a:lstStyle/>
          <a:p>
            <a:r>
              <a:rPr lang="en-US" sz="1750">
                <a:solidFill>
                  <a:srgbClr val="203947"/>
                </a:solidFill>
                <a:latin typeface="Arial" panose="020B0604020202020204" pitchFamily="34" charset="0"/>
              </a:rPr>
              <a:t>Agent dispute (P2)</a:t>
            </a:r>
            <a:endParaRPr lang="en-DE" sz="1750">
              <a:solidFill>
                <a:srgbClr val="203947"/>
              </a:solidFill>
              <a:latin typeface="Arial" panose="020B0604020202020204" pitchFamily="34" charset="0"/>
            </a:endParaRPr>
          </a:p>
        </p:txBody>
      </p:sp>
      <p:cxnSp>
        <p:nvCxnSpPr>
          <p:cNvPr id="39" name="category-to-team-3">
            <a:extLst>
              <a:ext uri="{FF2B5EF4-FFF2-40B4-BE49-F238E27FC236}">
                <a16:creationId xmlns:a16="http://schemas.microsoft.com/office/drawing/2014/main" id="{FE3D815A-FF56-4D49-6503-E27A84900AFF}"/>
              </a:ext>
            </a:extLst>
          </p:cNvPr>
          <p:cNvCxnSpPr/>
          <p:nvPr/>
        </p:nvCxnSpPr>
        <p:spPr>
          <a:xfrm>
            <a:off x="7378700" y="62992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40" name="team-3">
            <a:extLst>
              <a:ext uri="{FF2B5EF4-FFF2-40B4-BE49-F238E27FC236}">
                <a16:creationId xmlns:a16="http://schemas.microsoft.com/office/drawing/2014/main" id="{DF38FFCF-0972-8F66-26C4-D131C4DE56CE}"/>
              </a:ext>
            </a:extLst>
          </p:cNvPr>
          <p:cNvSpPr txBox="1"/>
          <p:nvPr/>
        </p:nvSpPr>
        <p:spPr>
          <a:xfrm>
            <a:off x="7874000" y="61468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Agent Network</a:t>
            </a:r>
            <a:endParaRPr lang="en-DE" sz="1900" b="1">
              <a:solidFill>
                <a:srgbClr val="203947"/>
              </a:solidFill>
              <a:latin typeface="Arial" panose="020B0604020202020204" pitchFamily="34" charset="0"/>
            </a:endParaRPr>
          </a:p>
        </p:txBody>
      </p:sp>
      <p:sp>
        <p:nvSpPr>
          <p:cNvPr id="41" name="team-row-4">
            <a:extLst>
              <a:ext uri="{FF2B5EF4-FFF2-40B4-BE49-F238E27FC236}">
                <a16:creationId xmlns:a16="http://schemas.microsoft.com/office/drawing/2014/main" id="{3F21DC7F-55B1-99D7-112F-291948386C45}"/>
              </a:ext>
            </a:extLst>
          </p:cNvPr>
          <p:cNvSpPr/>
          <p:nvPr/>
        </p:nvSpPr>
        <p:spPr>
          <a:xfrm>
            <a:off x="520700" y="6553200"/>
            <a:ext cx="10388600" cy="520700"/>
          </a:xfrm>
          <a:prstGeom prst="rect">
            <a:avLst/>
          </a:prstGeom>
          <a:solidFill>
            <a:srgbClr val="F3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2" name="categories-4">
            <a:extLst>
              <a:ext uri="{FF2B5EF4-FFF2-40B4-BE49-F238E27FC236}">
                <a16:creationId xmlns:a16="http://schemas.microsoft.com/office/drawing/2014/main" id="{D86BE7A3-93D4-167D-8D6B-087AE1019C12}"/>
              </a:ext>
            </a:extLst>
          </p:cNvPr>
          <p:cNvSpPr txBox="1"/>
          <p:nvPr/>
        </p:nvSpPr>
        <p:spPr>
          <a:xfrm>
            <a:off x="736600" y="6667500"/>
            <a:ext cx="6477000" cy="520700"/>
          </a:xfrm>
          <a:prstGeom prst="rect">
            <a:avLst/>
          </a:prstGeom>
          <a:noFill/>
        </p:spPr>
        <p:txBody>
          <a:bodyPr vert="horz" wrap="square" lIns="0" tIns="0" rIns="0" bIns="0" rtlCol="0" anchor="t">
            <a:noAutofit/>
          </a:bodyPr>
          <a:lstStyle/>
          <a:p>
            <a:r>
              <a:rPr lang="en-US" sz="1750">
                <a:solidFill>
                  <a:srgbClr val="203947"/>
                </a:solidFill>
                <a:latin typeface="Arial" panose="020B0604020202020204" pitchFamily="34" charset="0"/>
              </a:rPr>
              <a:t>Card issue (P3)</a:t>
            </a:r>
            <a:endParaRPr lang="en-DE" sz="1750">
              <a:solidFill>
                <a:srgbClr val="203947"/>
              </a:solidFill>
              <a:latin typeface="Arial" panose="020B0604020202020204" pitchFamily="34" charset="0"/>
            </a:endParaRPr>
          </a:p>
        </p:txBody>
      </p:sp>
      <p:cxnSp>
        <p:nvCxnSpPr>
          <p:cNvPr id="43" name="category-to-team-4">
            <a:extLst>
              <a:ext uri="{FF2B5EF4-FFF2-40B4-BE49-F238E27FC236}">
                <a16:creationId xmlns:a16="http://schemas.microsoft.com/office/drawing/2014/main" id="{E47F1BB0-D203-C2AB-6A35-540584ED5061}"/>
              </a:ext>
            </a:extLst>
          </p:cNvPr>
          <p:cNvCxnSpPr/>
          <p:nvPr/>
        </p:nvCxnSpPr>
        <p:spPr>
          <a:xfrm>
            <a:off x="7378700" y="68199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44" name="team-4">
            <a:extLst>
              <a:ext uri="{FF2B5EF4-FFF2-40B4-BE49-F238E27FC236}">
                <a16:creationId xmlns:a16="http://schemas.microsoft.com/office/drawing/2014/main" id="{7148E509-E8DD-BDB1-82A2-FED1845102E9}"/>
              </a:ext>
            </a:extLst>
          </p:cNvPr>
          <p:cNvSpPr txBox="1"/>
          <p:nvPr/>
        </p:nvSpPr>
        <p:spPr>
          <a:xfrm>
            <a:off x="7874000" y="66675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Cards</a:t>
            </a:r>
            <a:endParaRPr lang="en-DE" sz="1900" b="1">
              <a:solidFill>
                <a:srgbClr val="203947"/>
              </a:solidFill>
              <a:latin typeface="Arial" panose="020B0604020202020204" pitchFamily="34" charset="0"/>
            </a:endParaRPr>
          </a:p>
        </p:txBody>
      </p:sp>
      <p:sp>
        <p:nvSpPr>
          <p:cNvPr id="45" name="categories-5">
            <a:extLst>
              <a:ext uri="{FF2B5EF4-FFF2-40B4-BE49-F238E27FC236}">
                <a16:creationId xmlns:a16="http://schemas.microsoft.com/office/drawing/2014/main" id="{398A4D17-E33A-FCB7-50DE-BFD3AFDA27A8}"/>
              </a:ext>
            </a:extLst>
          </p:cNvPr>
          <p:cNvSpPr txBox="1"/>
          <p:nvPr/>
        </p:nvSpPr>
        <p:spPr>
          <a:xfrm>
            <a:off x="736600" y="7188200"/>
            <a:ext cx="6477000" cy="520700"/>
          </a:xfrm>
          <a:prstGeom prst="rect">
            <a:avLst/>
          </a:prstGeom>
          <a:noFill/>
        </p:spPr>
        <p:txBody>
          <a:bodyPr vert="horz" wrap="square" lIns="0" tIns="0" rIns="0" bIns="0" rtlCol="0" anchor="t">
            <a:noAutofit/>
          </a:bodyPr>
          <a:lstStyle/>
          <a:p>
            <a:r>
              <a:rPr lang="en-US" sz="1750">
                <a:solidFill>
                  <a:srgbClr val="203947"/>
                </a:solidFill>
                <a:latin typeface="Arial" panose="020B0604020202020204" pitchFamily="34" charset="0"/>
              </a:rPr>
              <a:t>App bug (P3)</a:t>
            </a:r>
            <a:endParaRPr lang="en-DE" sz="1750">
              <a:solidFill>
                <a:srgbClr val="203947"/>
              </a:solidFill>
              <a:latin typeface="Arial" panose="020B0604020202020204" pitchFamily="34" charset="0"/>
            </a:endParaRPr>
          </a:p>
        </p:txBody>
      </p:sp>
      <p:cxnSp>
        <p:nvCxnSpPr>
          <p:cNvPr id="46" name="category-to-team-5">
            <a:extLst>
              <a:ext uri="{FF2B5EF4-FFF2-40B4-BE49-F238E27FC236}">
                <a16:creationId xmlns:a16="http://schemas.microsoft.com/office/drawing/2014/main" id="{72E9918B-0E2E-6462-7B44-25D1E7D0C40B}"/>
              </a:ext>
            </a:extLst>
          </p:cNvPr>
          <p:cNvCxnSpPr/>
          <p:nvPr/>
        </p:nvCxnSpPr>
        <p:spPr>
          <a:xfrm>
            <a:off x="7378700" y="73406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47" name="team-5">
            <a:extLst>
              <a:ext uri="{FF2B5EF4-FFF2-40B4-BE49-F238E27FC236}">
                <a16:creationId xmlns:a16="http://schemas.microsoft.com/office/drawing/2014/main" id="{87EAE7BD-E0CF-0F84-8169-21FFEB351658}"/>
              </a:ext>
            </a:extLst>
          </p:cNvPr>
          <p:cNvSpPr txBox="1"/>
          <p:nvPr/>
        </p:nvSpPr>
        <p:spPr>
          <a:xfrm>
            <a:off x="7874000" y="71882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Tech Support</a:t>
            </a:r>
            <a:endParaRPr lang="en-DE" sz="1900" b="1">
              <a:solidFill>
                <a:srgbClr val="203947"/>
              </a:solidFill>
              <a:latin typeface="Arial" panose="020B0604020202020204" pitchFamily="34" charset="0"/>
            </a:endParaRPr>
          </a:p>
        </p:txBody>
      </p:sp>
      <p:sp>
        <p:nvSpPr>
          <p:cNvPr id="105" name="team-row-6">
            <a:extLst>
              <a:ext uri="{FF2B5EF4-FFF2-40B4-BE49-F238E27FC236}">
                <a16:creationId xmlns:a16="http://schemas.microsoft.com/office/drawing/2014/main" id="{6EABAA03-7452-4759-8F2C-6EA4522F4F47}"/>
              </a:ext>
            </a:extLst>
          </p:cNvPr>
          <p:cNvSpPr/>
          <p:nvPr/>
        </p:nvSpPr>
        <p:spPr>
          <a:xfrm>
            <a:off x="520700" y="7594600"/>
            <a:ext cx="10388600" cy="520700"/>
          </a:xfrm>
          <a:prstGeom prst="rect">
            <a:avLst/>
          </a:prstGeom>
          <a:solidFill>
            <a:srgbClr val="F3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6" name="categories-6">
            <a:extLst>
              <a:ext uri="{FF2B5EF4-FFF2-40B4-BE49-F238E27FC236}">
                <a16:creationId xmlns:a16="http://schemas.microsoft.com/office/drawing/2014/main" id="{EFB6E571-4E12-3953-F749-74965C9563BA}"/>
              </a:ext>
            </a:extLst>
          </p:cNvPr>
          <p:cNvSpPr txBox="1"/>
          <p:nvPr/>
        </p:nvSpPr>
        <p:spPr>
          <a:xfrm>
            <a:off x="736600" y="7708900"/>
            <a:ext cx="6477000" cy="520700"/>
          </a:xfrm>
          <a:prstGeom prst="rect">
            <a:avLst/>
          </a:prstGeom>
          <a:noFill/>
        </p:spPr>
        <p:txBody>
          <a:bodyPr vert="horz" wrap="square" lIns="0" tIns="0" rIns="0" bIns="0" rtlCol="0" anchor="t">
            <a:noAutofit/>
          </a:bodyPr>
          <a:lstStyle/>
          <a:p>
            <a:r>
              <a:rPr lang="en-US" sz="1750">
                <a:solidFill>
                  <a:srgbClr val="203947"/>
                </a:solidFill>
                <a:latin typeface="Arial" panose="020B0604020202020204" pitchFamily="34" charset="0"/>
              </a:rPr>
              <a:t>General inquiry (P4)  |  Other (P4)</a:t>
            </a:r>
            <a:endParaRPr lang="en-DE" sz="1750">
              <a:solidFill>
                <a:srgbClr val="203947"/>
              </a:solidFill>
              <a:latin typeface="Arial" panose="020B0604020202020204" pitchFamily="34" charset="0"/>
            </a:endParaRPr>
          </a:p>
        </p:txBody>
      </p:sp>
      <p:cxnSp>
        <p:nvCxnSpPr>
          <p:cNvPr id="107" name="category-to-team-6">
            <a:extLst>
              <a:ext uri="{FF2B5EF4-FFF2-40B4-BE49-F238E27FC236}">
                <a16:creationId xmlns:a16="http://schemas.microsoft.com/office/drawing/2014/main" id="{C5E63133-6B2B-10D5-E21B-310C2292BCC2}"/>
              </a:ext>
            </a:extLst>
          </p:cNvPr>
          <p:cNvCxnSpPr/>
          <p:nvPr/>
        </p:nvCxnSpPr>
        <p:spPr>
          <a:xfrm>
            <a:off x="7378700" y="7861300"/>
            <a:ext cx="317500" cy="0"/>
          </a:xfrm>
          <a:prstGeom prst="straightConnector1">
            <a:avLst/>
          </a:prstGeom>
          <a:ln w="22860">
            <a:solidFill>
              <a:srgbClr val="087E83"/>
            </a:solidFill>
            <a:tailEnd type="arrow"/>
          </a:ln>
        </p:spPr>
        <p:style>
          <a:lnRef idx="2">
            <a:schemeClr val="accent1"/>
          </a:lnRef>
          <a:fillRef idx="0">
            <a:schemeClr val="accent1"/>
          </a:fillRef>
          <a:effectRef idx="1">
            <a:schemeClr val="accent1"/>
          </a:effectRef>
          <a:fontRef idx="minor">
            <a:schemeClr val="tx1"/>
          </a:fontRef>
        </p:style>
      </p:cxnSp>
      <p:sp>
        <p:nvSpPr>
          <p:cNvPr id="108" name="team-6">
            <a:extLst>
              <a:ext uri="{FF2B5EF4-FFF2-40B4-BE49-F238E27FC236}">
                <a16:creationId xmlns:a16="http://schemas.microsoft.com/office/drawing/2014/main" id="{4BF7D7AF-79CF-B46A-3014-9C0B52DFEC2B}"/>
              </a:ext>
            </a:extLst>
          </p:cNvPr>
          <p:cNvSpPr txBox="1"/>
          <p:nvPr/>
        </p:nvSpPr>
        <p:spPr>
          <a:xfrm>
            <a:off x="7874000" y="7708900"/>
            <a:ext cx="2819400" cy="330200"/>
          </a:xfrm>
          <a:prstGeom prst="rect">
            <a:avLst/>
          </a:prstGeom>
          <a:noFill/>
        </p:spPr>
        <p:txBody>
          <a:bodyPr vert="horz" wrap="square" lIns="0" tIns="0" rIns="0" bIns="0" rtlCol="0" anchor="t">
            <a:noAutofit/>
          </a:bodyPr>
          <a:lstStyle/>
          <a:p>
            <a:r>
              <a:rPr lang="en-US" sz="1900" b="1">
                <a:solidFill>
                  <a:srgbClr val="203947"/>
                </a:solidFill>
                <a:latin typeface="Arial" panose="020B0604020202020204" pitchFamily="34" charset="0"/>
              </a:rPr>
              <a:t>General Care</a:t>
            </a:r>
            <a:endParaRPr lang="en-DE" sz="1900" b="1">
              <a:solidFill>
                <a:srgbClr val="203947"/>
              </a:solidFill>
              <a:latin typeface="Arial" panose="020B0604020202020204" pitchFamily="34" charset="0"/>
            </a:endParaRPr>
          </a:p>
        </p:txBody>
      </p:sp>
      <p:sp>
        <p:nvSpPr>
          <p:cNvPr id="109" name="routing-floor-note">
            <a:extLst>
              <a:ext uri="{FF2B5EF4-FFF2-40B4-BE49-F238E27FC236}">
                <a16:creationId xmlns:a16="http://schemas.microsoft.com/office/drawing/2014/main" id="{6183FC66-AA40-4559-1AC9-156274F0E122}"/>
              </a:ext>
            </a:extLst>
          </p:cNvPr>
          <p:cNvSpPr txBox="1"/>
          <p:nvPr/>
        </p:nvSpPr>
        <p:spPr>
          <a:xfrm>
            <a:off x="736600" y="8191500"/>
            <a:ext cx="9956800" cy="228600"/>
          </a:xfrm>
          <a:prstGeom prst="rect">
            <a:avLst/>
          </a:prstGeom>
          <a:noFill/>
        </p:spPr>
        <p:txBody>
          <a:bodyPr vert="horz" wrap="square" lIns="0" tIns="0" rIns="0" bIns="0" rtlCol="0" anchor="t">
            <a:noAutofit/>
          </a:bodyPr>
          <a:lstStyle/>
          <a:p>
            <a:r>
              <a:rPr lang="en-US" sz="1300" b="1">
                <a:solidFill>
                  <a:srgbClr val="087E83"/>
                </a:solidFill>
                <a:latin typeface="Arial" panose="020B0604020202020204" pitchFamily="34" charset="0"/>
              </a:rPr>
              <a:t>Shown: category minimums. Final priority may be more urgent.</a:t>
            </a:r>
            <a:endParaRPr lang="en-DE" sz="1300" b="1">
              <a:solidFill>
                <a:srgbClr val="087E83"/>
              </a:solidFill>
              <a:latin typeface="Arial" panose="020B0604020202020204" pitchFamily="34" charset="0"/>
            </a:endParaRPr>
          </a:p>
        </p:txBody>
      </p:sp>
      <p:sp>
        <p:nvSpPr>
          <p:cNvPr id="110" name="priority-legend">
            <a:extLst>
              <a:ext uri="{FF2B5EF4-FFF2-40B4-BE49-F238E27FC236}">
                <a16:creationId xmlns:a16="http://schemas.microsoft.com/office/drawing/2014/main" id="{2AD353A7-D444-B6B5-AE73-D8182345B684}"/>
              </a:ext>
            </a:extLst>
          </p:cNvPr>
          <p:cNvSpPr/>
          <p:nvPr/>
        </p:nvSpPr>
        <p:spPr>
          <a:xfrm>
            <a:off x="11239500" y="3619500"/>
            <a:ext cx="4508500" cy="24003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1" name="priority-legend-heading">
            <a:extLst>
              <a:ext uri="{FF2B5EF4-FFF2-40B4-BE49-F238E27FC236}">
                <a16:creationId xmlns:a16="http://schemas.microsoft.com/office/drawing/2014/main" id="{F6D243A8-F967-CA25-4C4E-27B7D9DDF43A}"/>
              </a:ext>
            </a:extLst>
          </p:cNvPr>
          <p:cNvSpPr txBox="1"/>
          <p:nvPr/>
        </p:nvSpPr>
        <p:spPr>
          <a:xfrm>
            <a:off x="11468100" y="3810000"/>
            <a:ext cx="40513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WHAT EACH PRIORITY MEANS</a:t>
            </a:r>
            <a:endParaRPr lang="en-DE" sz="1400" b="1">
              <a:solidFill>
                <a:srgbClr val="087E83"/>
              </a:solidFill>
              <a:latin typeface="Arial" panose="020B0604020202020204" pitchFamily="34" charset="0"/>
            </a:endParaRPr>
          </a:p>
        </p:txBody>
      </p:sp>
      <p:sp>
        <p:nvSpPr>
          <p:cNvPr id="112" name="priority-badge-P1">
            <a:extLst>
              <a:ext uri="{FF2B5EF4-FFF2-40B4-BE49-F238E27FC236}">
                <a16:creationId xmlns:a16="http://schemas.microsoft.com/office/drawing/2014/main" id="{4D8D302E-39CE-BE6C-52F8-767E78D5C193}"/>
              </a:ext>
            </a:extLst>
          </p:cNvPr>
          <p:cNvSpPr/>
          <p:nvPr/>
        </p:nvSpPr>
        <p:spPr>
          <a:xfrm>
            <a:off x="11468100" y="4165600"/>
            <a:ext cx="533400" cy="368300"/>
          </a:xfrm>
          <a:prstGeom prst="rect">
            <a:avLst/>
          </a:prstGeom>
          <a:solidFill>
            <a:srgbClr val="FBE9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3" name="priority-code-P1">
            <a:extLst>
              <a:ext uri="{FF2B5EF4-FFF2-40B4-BE49-F238E27FC236}">
                <a16:creationId xmlns:a16="http://schemas.microsoft.com/office/drawing/2014/main" id="{FC8C4FA9-A25E-E93B-78F4-F921AC0634A1}"/>
              </a:ext>
            </a:extLst>
          </p:cNvPr>
          <p:cNvSpPr txBox="1"/>
          <p:nvPr/>
        </p:nvSpPr>
        <p:spPr>
          <a:xfrm>
            <a:off x="11518900" y="4216400"/>
            <a:ext cx="431800" cy="279400"/>
          </a:xfrm>
          <a:prstGeom prst="rect">
            <a:avLst/>
          </a:prstGeom>
          <a:noFill/>
        </p:spPr>
        <p:txBody>
          <a:bodyPr vert="horz" wrap="square" lIns="0" tIns="0" rIns="0" bIns="0" rtlCol="0" anchor="t">
            <a:noAutofit/>
          </a:bodyPr>
          <a:lstStyle/>
          <a:p>
            <a:pPr algn="ctr"/>
            <a:r>
              <a:rPr lang="en-US" sz="1700" b="1">
                <a:solidFill>
                  <a:srgbClr val="A33C36"/>
                </a:solidFill>
                <a:latin typeface="Arial" panose="020B0604020202020204" pitchFamily="34" charset="0"/>
              </a:rPr>
              <a:t>P1</a:t>
            </a:r>
            <a:endParaRPr lang="en-DE" sz="1700" b="1">
              <a:solidFill>
                <a:srgbClr val="A33C36"/>
              </a:solidFill>
              <a:latin typeface="Arial" panose="020B0604020202020204" pitchFamily="34" charset="0"/>
            </a:endParaRPr>
          </a:p>
        </p:txBody>
      </p:sp>
      <p:sp>
        <p:nvSpPr>
          <p:cNvPr id="114" name="priority-label-P1">
            <a:extLst>
              <a:ext uri="{FF2B5EF4-FFF2-40B4-BE49-F238E27FC236}">
                <a16:creationId xmlns:a16="http://schemas.microsoft.com/office/drawing/2014/main" id="{5DAEB821-01A6-F90E-07C7-5D04FF1A9E4E}"/>
              </a:ext>
            </a:extLst>
          </p:cNvPr>
          <p:cNvSpPr txBox="1"/>
          <p:nvPr/>
        </p:nvSpPr>
        <p:spPr>
          <a:xfrm>
            <a:off x="12166600" y="4216400"/>
            <a:ext cx="3352800" cy="304800"/>
          </a:xfrm>
          <a:prstGeom prst="rect">
            <a:avLst/>
          </a:prstGeom>
          <a:noFill/>
        </p:spPr>
        <p:txBody>
          <a:bodyPr vert="horz" wrap="square" lIns="0" tIns="0" rIns="0" bIns="0" rtlCol="0" anchor="t">
            <a:noAutofit/>
          </a:bodyPr>
          <a:lstStyle/>
          <a:p>
            <a:r>
              <a:rPr lang="en-US" sz="1700">
                <a:solidFill>
                  <a:srgbClr val="203947"/>
                </a:solidFill>
                <a:latin typeface="Arial" panose="020B0604020202020204" pitchFamily="34" charset="0"/>
              </a:rPr>
              <a:t>Money at risk now / fraud</a:t>
            </a:r>
            <a:endParaRPr lang="en-DE" sz="1700">
              <a:solidFill>
                <a:srgbClr val="203947"/>
              </a:solidFill>
              <a:latin typeface="Arial" panose="020B0604020202020204" pitchFamily="34" charset="0"/>
            </a:endParaRPr>
          </a:p>
        </p:txBody>
      </p:sp>
      <p:sp>
        <p:nvSpPr>
          <p:cNvPr id="115" name="priority-badge-P2">
            <a:extLst>
              <a:ext uri="{FF2B5EF4-FFF2-40B4-BE49-F238E27FC236}">
                <a16:creationId xmlns:a16="http://schemas.microsoft.com/office/drawing/2014/main" id="{D6A27F55-6180-D7C0-087F-85342BA43CFF}"/>
              </a:ext>
            </a:extLst>
          </p:cNvPr>
          <p:cNvSpPr/>
          <p:nvPr/>
        </p:nvSpPr>
        <p:spPr>
          <a:xfrm>
            <a:off x="11468100" y="4597400"/>
            <a:ext cx="533400" cy="368300"/>
          </a:xfrm>
          <a:prstGeom prst="rect">
            <a:avLst/>
          </a:prstGeom>
          <a:solidFill>
            <a:srgbClr val="FBF3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6" name="priority-code-P2">
            <a:extLst>
              <a:ext uri="{FF2B5EF4-FFF2-40B4-BE49-F238E27FC236}">
                <a16:creationId xmlns:a16="http://schemas.microsoft.com/office/drawing/2014/main" id="{4A707803-0186-F0D8-2985-D918EE1EBCA5}"/>
              </a:ext>
            </a:extLst>
          </p:cNvPr>
          <p:cNvSpPr txBox="1"/>
          <p:nvPr/>
        </p:nvSpPr>
        <p:spPr>
          <a:xfrm>
            <a:off x="11518900" y="4648200"/>
            <a:ext cx="431800" cy="279400"/>
          </a:xfrm>
          <a:prstGeom prst="rect">
            <a:avLst/>
          </a:prstGeom>
          <a:noFill/>
        </p:spPr>
        <p:txBody>
          <a:bodyPr vert="horz" wrap="square" lIns="0" tIns="0" rIns="0" bIns="0" rtlCol="0" anchor="t">
            <a:noAutofit/>
          </a:bodyPr>
          <a:lstStyle/>
          <a:p>
            <a:pPr algn="ctr"/>
            <a:r>
              <a:rPr lang="en-US" sz="1700" b="1">
                <a:solidFill>
                  <a:srgbClr val="B88431"/>
                </a:solidFill>
                <a:latin typeface="Arial" panose="020B0604020202020204" pitchFamily="34" charset="0"/>
              </a:rPr>
              <a:t>P2</a:t>
            </a:r>
            <a:endParaRPr lang="en-DE" sz="1700" b="1">
              <a:solidFill>
                <a:srgbClr val="B88431"/>
              </a:solidFill>
              <a:latin typeface="Arial" panose="020B0604020202020204" pitchFamily="34" charset="0"/>
            </a:endParaRPr>
          </a:p>
        </p:txBody>
      </p:sp>
      <p:sp>
        <p:nvSpPr>
          <p:cNvPr id="117" name="priority-label-P2">
            <a:extLst>
              <a:ext uri="{FF2B5EF4-FFF2-40B4-BE49-F238E27FC236}">
                <a16:creationId xmlns:a16="http://schemas.microsoft.com/office/drawing/2014/main" id="{4821AB00-DEB1-6440-3165-2D05FF43F83B}"/>
              </a:ext>
            </a:extLst>
          </p:cNvPr>
          <p:cNvSpPr txBox="1"/>
          <p:nvPr/>
        </p:nvSpPr>
        <p:spPr>
          <a:xfrm>
            <a:off x="12166600" y="4648200"/>
            <a:ext cx="3352800" cy="304800"/>
          </a:xfrm>
          <a:prstGeom prst="rect">
            <a:avLst/>
          </a:prstGeom>
          <a:noFill/>
        </p:spPr>
        <p:txBody>
          <a:bodyPr vert="horz" wrap="square" lIns="0" tIns="0" rIns="0" bIns="0" rtlCol="0" anchor="t">
            <a:noAutofit/>
          </a:bodyPr>
          <a:lstStyle/>
          <a:p>
            <a:r>
              <a:rPr lang="en-US" sz="1700">
                <a:solidFill>
                  <a:srgbClr val="203947"/>
                </a:solidFill>
                <a:latin typeface="Arial" panose="020B0604020202020204" pitchFamily="34" charset="0"/>
              </a:rPr>
              <a:t>Money lost or stuck</a:t>
            </a:r>
            <a:endParaRPr lang="en-DE" sz="1700">
              <a:solidFill>
                <a:srgbClr val="203947"/>
              </a:solidFill>
              <a:latin typeface="Arial" panose="020B0604020202020204" pitchFamily="34" charset="0"/>
            </a:endParaRPr>
          </a:p>
        </p:txBody>
      </p:sp>
      <p:sp>
        <p:nvSpPr>
          <p:cNvPr id="118" name="priority-badge-P3">
            <a:extLst>
              <a:ext uri="{FF2B5EF4-FFF2-40B4-BE49-F238E27FC236}">
                <a16:creationId xmlns:a16="http://schemas.microsoft.com/office/drawing/2014/main" id="{05B71666-95BF-A852-12F8-17E213CD8B35}"/>
              </a:ext>
            </a:extLst>
          </p:cNvPr>
          <p:cNvSpPr/>
          <p:nvPr/>
        </p:nvSpPr>
        <p:spPr>
          <a:xfrm>
            <a:off x="11468100" y="5029200"/>
            <a:ext cx="533400" cy="368300"/>
          </a:xfrm>
          <a:prstGeom prst="rect">
            <a:avLst/>
          </a:prstGeom>
          <a:solidFill>
            <a:srgbClr val="E4F0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9" name="priority-code-P3">
            <a:extLst>
              <a:ext uri="{FF2B5EF4-FFF2-40B4-BE49-F238E27FC236}">
                <a16:creationId xmlns:a16="http://schemas.microsoft.com/office/drawing/2014/main" id="{76AF279D-D5DD-524A-01C9-D97FFAE75187}"/>
              </a:ext>
            </a:extLst>
          </p:cNvPr>
          <p:cNvSpPr txBox="1"/>
          <p:nvPr/>
        </p:nvSpPr>
        <p:spPr>
          <a:xfrm>
            <a:off x="11518900" y="5080000"/>
            <a:ext cx="431800" cy="279400"/>
          </a:xfrm>
          <a:prstGeom prst="rect">
            <a:avLst/>
          </a:prstGeom>
          <a:noFill/>
        </p:spPr>
        <p:txBody>
          <a:bodyPr vert="horz" wrap="square" lIns="0" tIns="0" rIns="0" bIns="0" rtlCol="0" anchor="t">
            <a:noAutofit/>
          </a:bodyPr>
          <a:lstStyle/>
          <a:p>
            <a:pPr algn="ctr"/>
            <a:r>
              <a:rPr lang="en-US" sz="1700" b="1">
                <a:solidFill>
                  <a:srgbClr val="347EBD"/>
                </a:solidFill>
                <a:latin typeface="Arial" panose="020B0604020202020204" pitchFamily="34" charset="0"/>
              </a:rPr>
              <a:t>P3</a:t>
            </a:r>
            <a:endParaRPr lang="en-DE" sz="1700" b="1">
              <a:solidFill>
                <a:srgbClr val="347EBD"/>
              </a:solidFill>
              <a:latin typeface="Arial" panose="020B0604020202020204" pitchFamily="34" charset="0"/>
            </a:endParaRPr>
          </a:p>
        </p:txBody>
      </p:sp>
      <p:sp>
        <p:nvSpPr>
          <p:cNvPr id="120" name="priority-label-P3">
            <a:extLst>
              <a:ext uri="{FF2B5EF4-FFF2-40B4-BE49-F238E27FC236}">
                <a16:creationId xmlns:a16="http://schemas.microsoft.com/office/drawing/2014/main" id="{E3B3725A-02EB-D1DB-EE6F-7EEAB06E2B1E}"/>
              </a:ext>
            </a:extLst>
          </p:cNvPr>
          <p:cNvSpPr txBox="1"/>
          <p:nvPr/>
        </p:nvSpPr>
        <p:spPr>
          <a:xfrm>
            <a:off x="12166600" y="5080000"/>
            <a:ext cx="3352800" cy="304800"/>
          </a:xfrm>
          <a:prstGeom prst="rect">
            <a:avLst/>
          </a:prstGeom>
          <a:noFill/>
        </p:spPr>
        <p:txBody>
          <a:bodyPr vert="horz" wrap="square" lIns="0" tIns="0" rIns="0" bIns="0" rtlCol="0" anchor="t">
            <a:noAutofit/>
          </a:bodyPr>
          <a:lstStyle/>
          <a:p>
            <a:r>
              <a:rPr lang="en-US" sz="1700">
                <a:solidFill>
                  <a:srgbClr val="203947"/>
                </a:solidFill>
                <a:latin typeface="Arial" panose="020B0604020202020204" pitchFamily="34" charset="0"/>
              </a:rPr>
              <a:t>Service blocked</a:t>
            </a:r>
            <a:endParaRPr lang="en-DE" sz="1700">
              <a:solidFill>
                <a:srgbClr val="203947"/>
              </a:solidFill>
              <a:latin typeface="Arial" panose="020B0604020202020204" pitchFamily="34" charset="0"/>
            </a:endParaRPr>
          </a:p>
        </p:txBody>
      </p:sp>
      <p:sp>
        <p:nvSpPr>
          <p:cNvPr id="121" name="priority-badge-P4">
            <a:extLst>
              <a:ext uri="{FF2B5EF4-FFF2-40B4-BE49-F238E27FC236}">
                <a16:creationId xmlns:a16="http://schemas.microsoft.com/office/drawing/2014/main" id="{F37E21BD-E628-1BF3-68BF-51824D93C552}"/>
              </a:ext>
            </a:extLst>
          </p:cNvPr>
          <p:cNvSpPr/>
          <p:nvPr/>
        </p:nvSpPr>
        <p:spPr>
          <a:xfrm>
            <a:off x="11468100" y="5461000"/>
            <a:ext cx="533400" cy="368300"/>
          </a:xfrm>
          <a:prstGeom prst="rect">
            <a:avLst/>
          </a:prstGeom>
          <a:solidFill>
            <a:srgbClr val="E7F3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2" name="priority-code-P4">
            <a:extLst>
              <a:ext uri="{FF2B5EF4-FFF2-40B4-BE49-F238E27FC236}">
                <a16:creationId xmlns:a16="http://schemas.microsoft.com/office/drawing/2014/main" id="{BB85B16A-79A5-9556-68CE-9674E3D184FF}"/>
              </a:ext>
            </a:extLst>
          </p:cNvPr>
          <p:cNvSpPr txBox="1"/>
          <p:nvPr/>
        </p:nvSpPr>
        <p:spPr>
          <a:xfrm>
            <a:off x="11518900" y="5511800"/>
            <a:ext cx="431800" cy="279400"/>
          </a:xfrm>
          <a:prstGeom prst="rect">
            <a:avLst/>
          </a:prstGeom>
          <a:noFill/>
        </p:spPr>
        <p:txBody>
          <a:bodyPr vert="horz" wrap="square" lIns="0" tIns="0" rIns="0" bIns="0" rtlCol="0" anchor="t">
            <a:noAutofit/>
          </a:bodyPr>
          <a:lstStyle/>
          <a:p>
            <a:pPr algn="ctr"/>
            <a:r>
              <a:rPr lang="en-US" sz="1700" b="1">
                <a:solidFill>
                  <a:srgbClr val="087E83"/>
                </a:solidFill>
                <a:latin typeface="Arial" panose="020B0604020202020204" pitchFamily="34" charset="0"/>
              </a:rPr>
              <a:t>P4</a:t>
            </a:r>
            <a:endParaRPr lang="en-DE" sz="1700" b="1">
              <a:solidFill>
                <a:srgbClr val="087E83"/>
              </a:solidFill>
              <a:latin typeface="Arial" panose="020B0604020202020204" pitchFamily="34" charset="0"/>
            </a:endParaRPr>
          </a:p>
        </p:txBody>
      </p:sp>
      <p:sp>
        <p:nvSpPr>
          <p:cNvPr id="123" name="priority-label-P4">
            <a:extLst>
              <a:ext uri="{FF2B5EF4-FFF2-40B4-BE49-F238E27FC236}">
                <a16:creationId xmlns:a16="http://schemas.microsoft.com/office/drawing/2014/main" id="{8A3BABE1-983A-FA85-C71A-6F22F0845893}"/>
              </a:ext>
            </a:extLst>
          </p:cNvPr>
          <p:cNvSpPr txBox="1"/>
          <p:nvPr/>
        </p:nvSpPr>
        <p:spPr>
          <a:xfrm>
            <a:off x="12166600" y="5511800"/>
            <a:ext cx="3352800" cy="304800"/>
          </a:xfrm>
          <a:prstGeom prst="rect">
            <a:avLst/>
          </a:prstGeom>
          <a:noFill/>
        </p:spPr>
        <p:txBody>
          <a:bodyPr vert="horz" wrap="square" lIns="0" tIns="0" rIns="0" bIns="0" rtlCol="0" anchor="t">
            <a:noAutofit/>
          </a:bodyPr>
          <a:lstStyle/>
          <a:p>
            <a:r>
              <a:rPr lang="en-US" sz="1700">
                <a:solidFill>
                  <a:srgbClr val="203947"/>
                </a:solidFill>
                <a:latin typeface="Arial" panose="020B0604020202020204" pitchFamily="34" charset="0"/>
              </a:rPr>
              <a:t>Information</a:t>
            </a:r>
            <a:endParaRPr lang="en-DE" sz="1700">
              <a:solidFill>
                <a:srgbClr val="203947"/>
              </a:solidFill>
              <a:latin typeface="Arial" panose="020B0604020202020204" pitchFamily="34" charset="0"/>
            </a:endParaRPr>
          </a:p>
        </p:txBody>
      </p:sp>
      <p:sp>
        <p:nvSpPr>
          <p:cNvPr id="124" name="risk-overrides">
            <a:extLst>
              <a:ext uri="{FF2B5EF4-FFF2-40B4-BE49-F238E27FC236}">
                <a16:creationId xmlns:a16="http://schemas.microsoft.com/office/drawing/2014/main" id="{17C63D01-AA9B-5EDD-7BAE-90D7D4BCBAAF}"/>
              </a:ext>
            </a:extLst>
          </p:cNvPr>
          <p:cNvSpPr/>
          <p:nvPr/>
        </p:nvSpPr>
        <p:spPr>
          <a:xfrm>
            <a:off x="11239500" y="6223000"/>
            <a:ext cx="4508500" cy="2235200"/>
          </a:xfrm>
          <a:prstGeom prst="rect">
            <a:avLst/>
          </a:prstGeom>
          <a:solidFill>
            <a:srgbClr val="FBF3E4"/>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5" name="risk-overrides-heading">
            <a:extLst>
              <a:ext uri="{FF2B5EF4-FFF2-40B4-BE49-F238E27FC236}">
                <a16:creationId xmlns:a16="http://schemas.microsoft.com/office/drawing/2014/main" id="{54EEE8B1-C2A4-7C61-183E-FC57E4C3DF3F}"/>
              </a:ext>
            </a:extLst>
          </p:cNvPr>
          <p:cNvSpPr txBox="1"/>
          <p:nvPr/>
        </p:nvSpPr>
        <p:spPr>
          <a:xfrm>
            <a:off x="11468100" y="6413500"/>
            <a:ext cx="40513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RISK CAN RAISE URGENCY</a:t>
            </a:r>
            <a:endParaRPr lang="en-DE" sz="1400" b="1">
              <a:solidFill>
                <a:srgbClr val="087E83"/>
              </a:solidFill>
              <a:latin typeface="Arial" panose="020B0604020202020204" pitchFamily="34" charset="0"/>
            </a:endParaRPr>
          </a:p>
        </p:txBody>
      </p:sp>
      <p:sp>
        <p:nvSpPr>
          <p:cNvPr id="126" name="risk-urgency">
            <a:extLst>
              <a:ext uri="{FF2B5EF4-FFF2-40B4-BE49-F238E27FC236}">
                <a16:creationId xmlns:a16="http://schemas.microsoft.com/office/drawing/2014/main" id="{BE77367F-5846-9A72-2941-DD5DFC4256F8}"/>
              </a:ext>
            </a:extLst>
          </p:cNvPr>
          <p:cNvSpPr txBox="1"/>
          <p:nvPr/>
        </p:nvSpPr>
        <p:spPr>
          <a:xfrm>
            <a:off x="11468100" y="6756400"/>
            <a:ext cx="4051300" cy="571500"/>
          </a:xfrm>
          <a:prstGeom prst="rect">
            <a:avLst/>
          </a:prstGeom>
          <a:noFill/>
        </p:spPr>
        <p:txBody>
          <a:bodyPr vert="horz" wrap="square" lIns="0" tIns="0" rIns="0" bIns="0" rtlCol="0" anchor="t">
            <a:noAutofit/>
          </a:bodyPr>
          <a:lstStyle/>
          <a:p>
            <a:r>
              <a:rPr lang="en-US" sz="1700" b="1">
                <a:solidFill>
                  <a:srgbClr val="203947"/>
                </a:solidFill>
                <a:latin typeface="Arial" panose="020B0604020202020204" pitchFamily="34" charset="0"/>
              </a:rPr>
              <a:t>Fraud flag: P1
Money lost: P2 or higher urgency</a:t>
            </a:r>
            <a:endParaRPr lang="en-DE" sz="1700" b="1">
              <a:solidFill>
                <a:srgbClr val="203947"/>
              </a:solidFill>
              <a:latin typeface="Arial" panose="020B0604020202020204" pitchFamily="34" charset="0"/>
            </a:endParaRPr>
          </a:p>
        </p:txBody>
      </p:sp>
      <p:sp>
        <p:nvSpPr>
          <p:cNvPr id="127" name="risk-divider">
            <a:extLst>
              <a:ext uri="{FF2B5EF4-FFF2-40B4-BE49-F238E27FC236}">
                <a16:creationId xmlns:a16="http://schemas.microsoft.com/office/drawing/2014/main" id="{BB02AB9B-DE82-32F2-DCD0-203DF4CC83E3}"/>
              </a:ext>
            </a:extLst>
          </p:cNvPr>
          <p:cNvSpPr/>
          <p:nvPr/>
        </p:nvSpPr>
        <p:spPr>
          <a:xfrm>
            <a:off x="11468100" y="7404100"/>
            <a:ext cx="4051300" cy="12700"/>
          </a:xfrm>
          <a:prstGeom prst="rect">
            <a:avLst/>
          </a:prstGeom>
          <a:solidFill>
            <a:srgbClr val="E8D8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8" name="risk-escalation">
            <a:extLst>
              <a:ext uri="{FF2B5EF4-FFF2-40B4-BE49-F238E27FC236}">
                <a16:creationId xmlns:a16="http://schemas.microsoft.com/office/drawing/2014/main" id="{23B213B9-A279-CDBF-AF2D-6A4CD0D3098D}"/>
              </a:ext>
            </a:extLst>
          </p:cNvPr>
          <p:cNvSpPr txBox="1"/>
          <p:nvPr/>
        </p:nvSpPr>
        <p:spPr>
          <a:xfrm>
            <a:off x="11468100" y="7569200"/>
            <a:ext cx="4051300" cy="825500"/>
          </a:xfrm>
          <a:prstGeom prst="rect">
            <a:avLst/>
          </a:prstGeom>
          <a:noFill/>
        </p:spPr>
        <p:txBody>
          <a:bodyPr vert="horz" wrap="square" lIns="0" tIns="0" rIns="0" bIns="0" rtlCol="0" anchor="t">
            <a:noAutofit/>
          </a:bodyPr>
          <a:lstStyle/>
          <a:p>
            <a:r>
              <a:rPr lang="en-US" sz="1700">
                <a:solidFill>
                  <a:srgbClr val="203947"/>
                </a:solidFill>
                <a:latin typeface="Arial" panose="020B0604020202020204" pitchFamily="34" charset="0"/>
              </a:rPr>
              <a:t>Uncertainty or red flags:
escalate with reasons.
Assigned team is retained.</a:t>
            </a:r>
            <a:endParaRPr lang="en-DE" sz="1700">
              <a:solidFill>
                <a:srgbClr val="203947"/>
              </a:solidFill>
              <a:latin typeface="Arial" panose="020B0604020202020204" pitchFamily="34" charset="0"/>
            </a:endParaRPr>
          </a:p>
        </p:txBody>
      </p:sp>
      <p:sp>
        <p:nvSpPr>
          <p:cNvPr id="129" name="footer-rule">
            <a:extLst>
              <a:ext uri="{FF2B5EF4-FFF2-40B4-BE49-F238E27FC236}">
                <a16:creationId xmlns:a16="http://schemas.microsoft.com/office/drawing/2014/main" id="{827C094C-25E3-CC76-253C-507BB8FE557C}"/>
              </a:ext>
            </a:extLst>
          </p:cNvPr>
          <p:cNvSpPr/>
          <p:nvPr/>
        </p:nvSpPr>
        <p:spPr>
          <a:xfrm>
            <a:off x="508000" y="8699500"/>
            <a:ext cx="15240000" cy="12700"/>
          </a:xfrm>
          <a:prstGeom prst="rect">
            <a:avLst/>
          </a:prstGeom>
          <a:solidFill>
            <a:srgbClr val="D9E3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30" name="footer">
            <a:extLst>
              <a:ext uri="{FF2B5EF4-FFF2-40B4-BE49-F238E27FC236}">
                <a16:creationId xmlns:a16="http://schemas.microsoft.com/office/drawing/2014/main" id="{4B74D06C-740C-4807-CC97-7F8ACC1CEF92}"/>
              </a:ext>
            </a:extLst>
          </p:cNvPr>
          <p:cNvSpPr txBox="1"/>
          <p:nvPr/>
        </p:nvSpPr>
        <p:spPr>
          <a:xfrm>
            <a:off x="508000" y="8826500"/>
            <a:ext cx="15240000" cy="215900"/>
          </a:xfrm>
          <a:prstGeom prst="rect">
            <a:avLst/>
          </a:prstGeom>
          <a:noFill/>
        </p:spPr>
        <p:txBody>
          <a:bodyPr vert="horz" wrap="square" lIns="0" tIns="0" rIns="0" bIns="0" rtlCol="0" anchor="t">
            <a:noAutofit/>
          </a:bodyPr>
          <a:lstStyle/>
          <a:p>
            <a:r>
              <a:rPr lang="en-US" sz="1150">
                <a:solidFill>
                  <a:srgbClr val="536873"/>
                </a:solidFill>
                <a:latin typeface="Arial" panose="020B0604020202020204" pitchFamily="34" charset="0"/>
              </a:rPr>
              <a:t>SOURCE OF TRUTH: data/taxonomy.yaml  |  Routing + priority overrides: stage5_decide/rules.py  |  Every outcome receives human review</a:t>
            </a:r>
            <a:endParaRPr lang="en-DE" sz="1150">
              <a:solidFill>
                <a:srgbClr val="536873"/>
              </a:solidFill>
              <a:latin typeface="Arial" panose="020B0604020202020204" pitchFamily="34" charset="0"/>
            </a:endParaRPr>
          </a:p>
        </p:txBody>
      </p:sp>
    </p:spTree>
    <p:extLst>
      <p:ext uri="{BB962C8B-B14F-4D97-AF65-F5344CB8AC3E}">
        <p14:creationId xmlns:p14="http://schemas.microsoft.com/office/powerpoint/2010/main" val="1932054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7"/>
        </a:solidFill>
        <a:effectLst/>
      </p:bgPr>
    </p:bg>
    <p:spTree>
      <p:nvGrpSpPr>
        <p:cNvPr id="1" name=""/>
        <p:cNvGrpSpPr/>
        <p:nvPr/>
      </p:nvGrpSpPr>
      <p:grpSpPr>
        <a:xfrm>
          <a:off x="0" y="0"/>
          <a:ext cx="0" cy="0"/>
          <a:chOff x="0" y="0"/>
          <a:chExt cx="0" cy="0"/>
        </a:xfrm>
      </p:grpSpPr>
      <p:sp>
        <p:nvSpPr>
          <p:cNvPr id="2" name="header">
            <a:extLst>
              <a:ext uri="{FF2B5EF4-FFF2-40B4-BE49-F238E27FC236}">
                <a16:creationId xmlns:a16="http://schemas.microsoft.com/office/drawing/2014/main" id="{C1085BF0-E3A7-78ED-3E46-22F44E9CFD67}"/>
              </a:ext>
            </a:extLst>
          </p:cNvPr>
          <p:cNvSpPr/>
          <p:nvPr/>
        </p:nvSpPr>
        <p:spPr>
          <a:xfrm>
            <a:off x="0" y="0"/>
            <a:ext cx="16256000" cy="14732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accent">
            <a:extLst>
              <a:ext uri="{FF2B5EF4-FFF2-40B4-BE49-F238E27FC236}">
                <a16:creationId xmlns:a16="http://schemas.microsoft.com/office/drawing/2014/main" id="{50B78416-EA22-7D79-0A3E-80943C1120D0}"/>
              </a:ext>
            </a:extLst>
          </p:cNvPr>
          <p:cNvSpPr/>
          <p:nvPr/>
        </p:nvSpPr>
        <p:spPr>
          <a:xfrm>
            <a:off x="0" y="1422400"/>
            <a:ext cx="16256000" cy="50800"/>
          </a:xfrm>
          <a:prstGeom prst="rect">
            <a:avLst/>
          </a:prstGeom>
          <a:solidFill>
            <a:srgbClr val="087E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eyebrow">
            <a:extLst>
              <a:ext uri="{FF2B5EF4-FFF2-40B4-BE49-F238E27FC236}">
                <a16:creationId xmlns:a16="http://schemas.microsoft.com/office/drawing/2014/main" id="{6918E95A-2B92-87E2-A8DB-1814EB1D71D8}"/>
              </a:ext>
            </a:extLst>
          </p:cNvPr>
          <p:cNvSpPr txBox="1"/>
          <p:nvPr/>
        </p:nvSpPr>
        <p:spPr>
          <a:xfrm>
            <a:off x="508000" y="203200"/>
            <a:ext cx="13970000" cy="241300"/>
          </a:xfrm>
          <a:prstGeom prst="rect">
            <a:avLst/>
          </a:prstGeom>
          <a:noFill/>
        </p:spPr>
        <p:txBody>
          <a:bodyPr vert="horz" wrap="square" lIns="0" tIns="0" rIns="0" bIns="0" rtlCol="0" anchor="t">
            <a:noAutofit/>
          </a:bodyPr>
          <a:lstStyle/>
          <a:p>
            <a:r>
              <a:rPr lang="en-US" sz="1200" b="1">
                <a:solidFill>
                  <a:srgbClr val="B5DCD9"/>
                </a:solidFill>
                <a:latin typeface="Arial" panose="020B0604020202020204" pitchFamily="34" charset="0"/>
              </a:rPr>
              <a:t>SAIF ALMALIKI  /  FAZAA  /  TOPIC 06: SUPPORT PIPELINE AUTOMATION</a:t>
            </a:r>
            <a:endParaRPr lang="en-DE" sz="1200" b="1">
              <a:solidFill>
                <a:srgbClr val="B5DCD9"/>
              </a:solidFill>
              <a:latin typeface="Arial" panose="020B0604020202020204" pitchFamily="34" charset="0"/>
            </a:endParaRPr>
          </a:p>
        </p:txBody>
      </p:sp>
      <p:sp>
        <p:nvSpPr>
          <p:cNvPr id="5" name="title">
            <a:extLst>
              <a:ext uri="{FF2B5EF4-FFF2-40B4-BE49-F238E27FC236}">
                <a16:creationId xmlns:a16="http://schemas.microsoft.com/office/drawing/2014/main" id="{6FD04BE4-91F9-B6CD-D06F-590C40E96FDE}"/>
              </a:ext>
            </a:extLst>
          </p:cNvPr>
          <p:cNvSpPr txBox="1"/>
          <p:nvPr/>
        </p:nvSpPr>
        <p:spPr>
          <a:xfrm>
            <a:off x="508000" y="520700"/>
            <a:ext cx="14859000" cy="546100"/>
          </a:xfrm>
          <a:prstGeom prst="rect">
            <a:avLst/>
          </a:prstGeom>
          <a:noFill/>
        </p:spPr>
        <p:txBody>
          <a:bodyPr vert="horz" wrap="square" lIns="0" tIns="0" rIns="0" bIns="0" rtlCol="0" anchor="t">
            <a:noAutofit/>
          </a:bodyPr>
          <a:lstStyle/>
          <a:p>
            <a:r>
              <a:rPr lang="en-US" sz="3200" b="1">
                <a:solidFill>
                  <a:srgbClr val="FFFFFF"/>
                </a:solidFill>
                <a:latin typeface="Arial" panose="020B0604020202020204" pitchFamily="34" charset="0"/>
              </a:rPr>
              <a:t>Risks and the road to the MVP</a:t>
            </a:r>
            <a:endParaRPr lang="en-DE" sz="3200" b="1">
              <a:solidFill>
                <a:srgbClr val="FFFFFF"/>
              </a:solidFill>
              <a:latin typeface="Arial" panose="020B0604020202020204" pitchFamily="34" charset="0"/>
            </a:endParaRPr>
          </a:p>
        </p:txBody>
      </p:sp>
      <p:sp>
        <p:nvSpPr>
          <p:cNvPr id="6" name="subtitle">
            <a:extLst>
              <a:ext uri="{FF2B5EF4-FFF2-40B4-BE49-F238E27FC236}">
                <a16:creationId xmlns:a16="http://schemas.microsoft.com/office/drawing/2014/main" id="{1F283037-B56F-DE0D-CBFA-208DA3605074}"/>
              </a:ext>
            </a:extLst>
          </p:cNvPr>
          <p:cNvSpPr txBox="1"/>
          <p:nvPr/>
        </p:nvSpPr>
        <p:spPr>
          <a:xfrm>
            <a:off x="508000" y="1104900"/>
            <a:ext cx="14859000" cy="279400"/>
          </a:xfrm>
          <a:prstGeom prst="rect">
            <a:avLst/>
          </a:prstGeom>
          <a:noFill/>
        </p:spPr>
        <p:txBody>
          <a:bodyPr vert="horz" wrap="square" lIns="0" tIns="0" rIns="0" bIns="0" rtlCol="0" anchor="t">
            <a:noAutofit/>
          </a:bodyPr>
          <a:lstStyle/>
          <a:p>
            <a:r>
              <a:rPr lang="en-US" sz="1600">
                <a:solidFill>
                  <a:srgbClr val="DDE8EB"/>
                </a:solidFill>
                <a:latin typeface="Arial" panose="020B0604020202020204" pitchFamily="34" charset="0"/>
              </a:rPr>
              <a:t>Design brief: 22 October  |  Working MVP: 8 November 2026</a:t>
            </a:r>
            <a:endParaRPr lang="en-DE" sz="1600">
              <a:solidFill>
                <a:srgbClr val="DDE8EB"/>
              </a:solidFill>
              <a:latin typeface="Arial" panose="020B0604020202020204" pitchFamily="34" charset="0"/>
            </a:endParaRPr>
          </a:p>
        </p:txBody>
      </p:sp>
      <p:sp>
        <p:nvSpPr>
          <p:cNvPr id="7" name="page">
            <a:extLst>
              <a:ext uri="{FF2B5EF4-FFF2-40B4-BE49-F238E27FC236}">
                <a16:creationId xmlns:a16="http://schemas.microsoft.com/office/drawing/2014/main" id="{59297DA3-CF5B-D8FF-E274-2C1D0BB9AF3B}"/>
              </a:ext>
            </a:extLst>
          </p:cNvPr>
          <p:cNvSpPr txBox="1"/>
          <p:nvPr/>
        </p:nvSpPr>
        <p:spPr>
          <a:xfrm>
            <a:off x="14986000" y="215900"/>
            <a:ext cx="762000" cy="241300"/>
          </a:xfrm>
          <a:prstGeom prst="rect">
            <a:avLst/>
          </a:prstGeom>
          <a:noFill/>
        </p:spPr>
        <p:txBody>
          <a:bodyPr vert="horz" wrap="square" lIns="0" tIns="0" rIns="0" bIns="0" rtlCol="0" anchor="t">
            <a:noAutofit/>
          </a:bodyPr>
          <a:lstStyle/>
          <a:p>
            <a:pPr algn="r"/>
            <a:r>
              <a:rPr lang="en-DE" sz="1200">
                <a:solidFill>
                  <a:srgbClr val="B5DCD9"/>
                </a:solidFill>
                <a:latin typeface="Arial" panose="020B0604020202020204" pitchFamily="34" charset="0"/>
              </a:rPr>
              <a:t>05 / 05</a:t>
            </a:r>
          </a:p>
        </p:txBody>
      </p:sp>
      <p:sp>
        <p:nvSpPr>
          <p:cNvPr id="8" name="risks">
            <a:extLst>
              <a:ext uri="{FF2B5EF4-FFF2-40B4-BE49-F238E27FC236}">
                <a16:creationId xmlns:a16="http://schemas.microsoft.com/office/drawing/2014/main" id="{542FF86F-B4F5-9FD6-1321-D6B5ACEDE1E7}"/>
              </a:ext>
            </a:extLst>
          </p:cNvPr>
          <p:cNvSpPr/>
          <p:nvPr/>
        </p:nvSpPr>
        <p:spPr>
          <a:xfrm>
            <a:off x="508000" y="1778000"/>
            <a:ext cx="7277100" cy="57658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risks-heading">
            <a:extLst>
              <a:ext uri="{FF2B5EF4-FFF2-40B4-BE49-F238E27FC236}">
                <a16:creationId xmlns:a16="http://schemas.microsoft.com/office/drawing/2014/main" id="{B1E78E68-0066-6D09-8A55-7C615231E33A}"/>
              </a:ext>
            </a:extLst>
          </p:cNvPr>
          <p:cNvSpPr txBox="1"/>
          <p:nvPr/>
        </p:nvSpPr>
        <p:spPr>
          <a:xfrm>
            <a:off x="736600" y="1968500"/>
            <a:ext cx="68199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WHAT COULD GO WRONG / OUR RESPONSE</a:t>
            </a:r>
            <a:endParaRPr lang="en-DE" sz="1400" b="1">
              <a:solidFill>
                <a:srgbClr val="087E83"/>
              </a:solidFill>
              <a:latin typeface="Arial" panose="020B0604020202020204" pitchFamily="34" charset="0"/>
            </a:endParaRPr>
          </a:p>
        </p:txBody>
      </p:sp>
      <p:sp>
        <p:nvSpPr>
          <p:cNvPr id="10" name="risk-title-0">
            <a:extLst>
              <a:ext uri="{FF2B5EF4-FFF2-40B4-BE49-F238E27FC236}">
                <a16:creationId xmlns:a16="http://schemas.microsoft.com/office/drawing/2014/main" id="{4DDE3647-04E7-A410-BE3F-550A7DFE12C9}"/>
              </a:ext>
            </a:extLst>
          </p:cNvPr>
          <p:cNvSpPr txBox="1"/>
          <p:nvPr/>
        </p:nvSpPr>
        <p:spPr>
          <a:xfrm>
            <a:off x="736600" y="2374900"/>
            <a:ext cx="6819900" cy="3175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Dialect / disagreement</a:t>
            </a:r>
            <a:endParaRPr lang="en-DE" b="1">
              <a:solidFill>
                <a:srgbClr val="203947"/>
              </a:solidFill>
              <a:latin typeface="Arial" panose="020B0604020202020204" pitchFamily="34" charset="0"/>
            </a:endParaRPr>
          </a:p>
        </p:txBody>
      </p:sp>
      <p:sp>
        <p:nvSpPr>
          <p:cNvPr id="11" name="risk-body-0">
            <a:extLst>
              <a:ext uri="{FF2B5EF4-FFF2-40B4-BE49-F238E27FC236}">
                <a16:creationId xmlns:a16="http://schemas.microsoft.com/office/drawing/2014/main" id="{12466F77-AEB2-97CB-52E7-6D8F0EE12F68}"/>
              </a:ext>
            </a:extLst>
          </p:cNvPr>
          <p:cNvSpPr txBox="1"/>
          <p:nvPr/>
        </p:nvSpPr>
        <p:spPr>
          <a:xfrm>
            <a:off x="736600" y="2755900"/>
            <a:ext cx="6819900" cy="5334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Validate mixed-language cases; escalate unresolved uncertainty.</a:t>
            </a:r>
            <a:endParaRPr lang="en-DE" sz="1700">
              <a:solidFill>
                <a:srgbClr val="536873"/>
              </a:solidFill>
              <a:latin typeface="Arial" panose="020B0604020202020204" pitchFamily="34" charset="0"/>
            </a:endParaRPr>
          </a:p>
        </p:txBody>
      </p:sp>
      <p:sp>
        <p:nvSpPr>
          <p:cNvPr id="12" name="risk-title-1">
            <a:extLst>
              <a:ext uri="{FF2B5EF4-FFF2-40B4-BE49-F238E27FC236}">
                <a16:creationId xmlns:a16="http://schemas.microsoft.com/office/drawing/2014/main" id="{16A620F8-6BC7-78B6-84CF-2093B5339A51}"/>
              </a:ext>
            </a:extLst>
          </p:cNvPr>
          <p:cNvSpPr txBox="1"/>
          <p:nvPr/>
        </p:nvSpPr>
        <p:spPr>
          <a:xfrm>
            <a:off x="736600" y="3378200"/>
            <a:ext cx="6819900" cy="3175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Wrong match / missing policy</a:t>
            </a:r>
            <a:endParaRPr lang="en-DE" b="1">
              <a:solidFill>
                <a:srgbClr val="203947"/>
              </a:solidFill>
              <a:latin typeface="Arial" panose="020B0604020202020204" pitchFamily="34" charset="0"/>
            </a:endParaRPr>
          </a:p>
        </p:txBody>
      </p:sp>
      <p:sp>
        <p:nvSpPr>
          <p:cNvPr id="13" name="risk-body-1">
            <a:extLst>
              <a:ext uri="{FF2B5EF4-FFF2-40B4-BE49-F238E27FC236}">
                <a16:creationId xmlns:a16="http://schemas.microsoft.com/office/drawing/2014/main" id="{94E52409-BA90-6EE9-0DE7-0F5562507116}"/>
              </a:ext>
            </a:extLst>
          </p:cNvPr>
          <p:cNvSpPr txBox="1"/>
          <p:nvPr/>
        </p:nvSpPr>
        <p:spPr>
          <a:xfrm>
            <a:off x="736600" y="3759200"/>
            <a:ext cx="6819900" cy="5334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Preserve ambiguity; show unavailable evidence; never invent facts.</a:t>
            </a:r>
            <a:endParaRPr lang="en-DE" sz="1700">
              <a:solidFill>
                <a:srgbClr val="536873"/>
              </a:solidFill>
              <a:latin typeface="Arial" panose="020B0604020202020204" pitchFamily="34" charset="0"/>
            </a:endParaRPr>
          </a:p>
        </p:txBody>
      </p:sp>
      <p:sp>
        <p:nvSpPr>
          <p:cNvPr id="14" name="risk-title-2">
            <a:extLst>
              <a:ext uri="{FF2B5EF4-FFF2-40B4-BE49-F238E27FC236}">
                <a16:creationId xmlns:a16="http://schemas.microsoft.com/office/drawing/2014/main" id="{9EF53DBA-3039-5FA8-DF2F-B14ECA5D61C3}"/>
              </a:ext>
            </a:extLst>
          </p:cNvPr>
          <p:cNvSpPr txBox="1"/>
          <p:nvPr/>
        </p:nvSpPr>
        <p:spPr>
          <a:xfrm>
            <a:off x="736600" y="4381500"/>
            <a:ext cx="6819900" cy="3175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Unsafe draft</a:t>
            </a:r>
            <a:endParaRPr lang="en-DE" b="1">
              <a:solidFill>
                <a:srgbClr val="203947"/>
              </a:solidFill>
              <a:latin typeface="Arial" panose="020B0604020202020204" pitchFamily="34" charset="0"/>
            </a:endParaRPr>
          </a:p>
        </p:txBody>
      </p:sp>
      <p:sp>
        <p:nvSpPr>
          <p:cNvPr id="15" name="risk-body-2">
            <a:extLst>
              <a:ext uri="{FF2B5EF4-FFF2-40B4-BE49-F238E27FC236}">
                <a16:creationId xmlns:a16="http://schemas.microsoft.com/office/drawing/2014/main" id="{DD0DBC42-5911-7376-B757-DF330B74D1ED}"/>
              </a:ext>
            </a:extLst>
          </p:cNvPr>
          <p:cNvSpPr txBox="1"/>
          <p:nvPr/>
        </p:nvSpPr>
        <p:spPr>
          <a:xfrm>
            <a:off x="736600" y="4762500"/>
            <a:ext cx="6819900" cy="5334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Citation / number / credential checks plus mandatory human review.</a:t>
            </a:r>
            <a:endParaRPr lang="en-DE" sz="1700">
              <a:solidFill>
                <a:srgbClr val="536873"/>
              </a:solidFill>
              <a:latin typeface="Arial" panose="020B0604020202020204" pitchFamily="34" charset="0"/>
            </a:endParaRPr>
          </a:p>
        </p:txBody>
      </p:sp>
      <p:sp>
        <p:nvSpPr>
          <p:cNvPr id="16" name="risk-title-3">
            <a:extLst>
              <a:ext uri="{FF2B5EF4-FFF2-40B4-BE49-F238E27FC236}">
                <a16:creationId xmlns:a16="http://schemas.microsoft.com/office/drawing/2014/main" id="{E0EFEF85-284A-C281-F6E9-EAA14241E005}"/>
              </a:ext>
            </a:extLst>
          </p:cNvPr>
          <p:cNvSpPr txBox="1"/>
          <p:nvPr/>
        </p:nvSpPr>
        <p:spPr>
          <a:xfrm>
            <a:off x="736600" y="5384800"/>
            <a:ext cx="6819900" cy="3175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Outage / cost / restart</a:t>
            </a:r>
            <a:endParaRPr lang="en-DE" b="1">
              <a:solidFill>
                <a:srgbClr val="203947"/>
              </a:solidFill>
              <a:latin typeface="Arial" panose="020B0604020202020204" pitchFamily="34" charset="0"/>
            </a:endParaRPr>
          </a:p>
        </p:txBody>
      </p:sp>
      <p:sp>
        <p:nvSpPr>
          <p:cNvPr id="17" name="risk-body-3">
            <a:extLst>
              <a:ext uri="{FF2B5EF4-FFF2-40B4-BE49-F238E27FC236}">
                <a16:creationId xmlns:a16="http://schemas.microsoft.com/office/drawing/2014/main" id="{B4188DA0-70F8-B15D-8858-91AC665B1D90}"/>
              </a:ext>
            </a:extLst>
          </p:cNvPr>
          <p:cNvSpPr txBox="1"/>
          <p:nvPr/>
        </p:nvSpPr>
        <p:spPr>
          <a:xfrm>
            <a:off x="736600" y="5765800"/>
            <a:ext cx="6819900" cy="5334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Bounded retries; budget reserve; visibly fail interrupted runs and rerun.</a:t>
            </a:r>
            <a:endParaRPr lang="en-DE" sz="1700">
              <a:solidFill>
                <a:srgbClr val="536873"/>
              </a:solidFill>
              <a:latin typeface="Arial" panose="020B0604020202020204" pitchFamily="34" charset="0"/>
            </a:endParaRPr>
          </a:p>
        </p:txBody>
      </p:sp>
      <p:sp>
        <p:nvSpPr>
          <p:cNvPr id="18" name="risk-title-4">
            <a:extLst>
              <a:ext uri="{FF2B5EF4-FFF2-40B4-BE49-F238E27FC236}">
                <a16:creationId xmlns:a16="http://schemas.microsoft.com/office/drawing/2014/main" id="{AA10D82E-B7FA-63A4-E6BC-39829FE4684F}"/>
              </a:ext>
            </a:extLst>
          </p:cNvPr>
          <p:cNvSpPr txBox="1"/>
          <p:nvPr/>
        </p:nvSpPr>
        <p:spPr>
          <a:xfrm>
            <a:off x="736600" y="6388100"/>
            <a:ext cx="6819900" cy="3175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Review conflict / scope</a:t>
            </a:r>
            <a:endParaRPr lang="en-DE" b="1">
              <a:solidFill>
                <a:srgbClr val="203947"/>
              </a:solidFill>
              <a:latin typeface="Arial" panose="020B0604020202020204" pitchFamily="34" charset="0"/>
            </a:endParaRPr>
          </a:p>
        </p:txBody>
      </p:sp>
      <p:sp>
        <p:nvSpPr>
          <p:cNvPr id="19" name="risk-body-4">
            <a:extLst>
              <a:ext uri="{FF2B5EF4-FFF2-40B4-BE49-F238E27FC236}">
                <a16:creationId xmlns:a16="http://schemas.microsoft.com/office/drawing/2014/main" id="{AAB8F390-96BB-348E-3153-D864CA7ED392}"/>
              </a:ext>
            </a:extLst>
          </p:cNvPr>
          <p:cNvSpPr txBox="1"/>
          <p:nvPr/>
        </p:nvSpPr>
        <p:spPr>
          <a:xfrm>
            <a:off x="736600" y="6769100"/>
            <a:ext cx="6819900" cy="5334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Reject stale updates; prioritize the core; defer advanced analytics.</a:t>
            </a:r>
            <a:endParaRPr lang="en-DE" sz="1700">
              <a:solidFill>
                <a:srgbClr val="536873"/>
              </a:solidFill>
              <a:latin typeface="Arial" panose="020B0604020202020204" pitchFamily="34" charset="0"/>
            </a:endParaRPr>
          </a:p>
        </p:txBody>
      </p:sp>
      <p:sp>
        <p:nvSpPr>
          <p:cNvPr id="20" name="schedule">
            <a:extLst>
              <a:ext uri="{FF2B5EF4-FFF2-40B4-BE49-F238E27FC236}">
                <a16:creationId xmlns:a16="http://schemas.microsoft.com/office/drawing/2014/main" id="{BC694E31-FC9D-C760-381A-93EAA5209327}"/>
              </a:ext>
            </a:extLst>
          </p:cNvPr>
          <p:cNvSpPr/>
          <p:nvPr/>
        </p:nvSpPr>
        <p:spPr>
          <a:xfrm>
            <a:off x="8102600" y="1778000"/>
            <a:ext cx="7645400" cy="5765800"/>
          </a:xfrm>
          <a:prstGeom prst="rect">
            <a:avLst/>
          </a:prstGeom>
          <a:solidFill>
            <a:srgbClr val="FFFFFF"/>
          </a:solidFill>
          <a:ln w="12700">
            <a:solidFill>
              <a:srgbClr val="D9E3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1" name="schedule-heading">
            <a:extLst>
              <a:ext uri="{FF2B5EF4-FFF2-40B4-BE49-F238E27FC236}">
                <a16:creationId xmlns:a16="http://schemas.microsoft.com/office/drawing/2014/main" id="{FB977E1D-8085-968E-5DC5-E133D88AC830}"/>
              </a:ext>
            </a:extLst>
          </p:cNvPr>
          <p:cNvSpPr txBox="1"/>
          <p:nvPr/>
        </p:nvSpPr>
        <p:spPr>
          <a:xfrm>
            <a:off x="8331200" y="1968500"/>
            <a:ext cx="7188200" cy="279400"/>
          </a:xfrm>
          <a:prstGeom prst="rect">
            <a:avLst/>
          </a:prstGeom>
          <a:noFill/>
        </p:spPr>
        <p:txBody>
          <a:bodyPr vert="horz" wrap="square" lIns="0" tIns="0" rIns="0" bIns="0" rtlCol="0" anchor="t">
            <a:noAutofit/>
          </a:bodyPr>
          <a:lstStyle/>
          <a:p>
            <a:r>
              <a:rPr lang="en-US" sz="1400" b="1">
                <a:solidFill>
                  <a:srgbClr val="087E83"/>
                </a:solidFill>
                <a:latin typeface="Arial" panose="020B0604020202020204" pitchFamily="34" charset="0"/>
              </a:rPr>
              <a:t>WEEK-BY-WEEK DELIVERY / EXIT MILESTONE</a:t>
            </a:r>
            <a:endParaRPr lang="en-DE" sz="1400" b="1">
              <a:solidFill>
                <a:srgbClr val="087E83"/>
              </a:solidFill>
              <a:latin typeface="Arial" panose="020B0604020202020204" pitchFamily="34" charset="0"/>
            </a:endParaRPr>
          </a:p>
        </p:txBody>
      </p:sp>
      <p:sp>
        <p:nvSpPr>
          <p:cNvPr id="22" name="week-badge-0">
            <a:extLst>
              <a:ext uri="{FF2B5EF4-FFF2-40B4-BE49-F238E27FC236}">
                <a16:creationId xmlns:a16="http://schemas.microsoft.com/office/drawing/2014/main" id="{F7144BB3-B72C-4333-4451-C50841DA6362}"/>
              </a:ext>
            </a:extLst>
          </p:cNvPr>
          <p:cNvSpPr/>
          <p:nvPr/>
        </p:nvSpPr>
        <p:spPr>
          <a:xfrm>
            <a:off x="8331200" y="2400300"/>
            <a:ext cx="1778000" cy="406400"/>
          </a:xfrm>
          <a:prstGeom prst="rect">
            <a:avLst/>
          </a:prstGeom>
          <a:solidFill>
            <a:srgbClr val="E7F3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week-date-0">
            <a:extLst>
              <a:ext uri="{FF2B5EF4-FFF2-40B4-BE49-F238E27FC236}">
                <a16:creationId xmlns:a16="http://schemas.microsoft.com/office/drawing/2014/main" id="{C1049E30-481F-ED8F-88A9-433B3C52605F}"/>
              </a:ext>
            </a:extLst>
          </p:cNvPr>
          <p:cNvSpPr txBox="1"/>
          <p:nvPr/>
        </p:nvSpPr>
        <p:spPr>
          <a:xfrm>
            <a:off x="8432800" y="2489200"/>
            <a:ext cx="1574800" cy="266700"/>
          </a:xfrm>
          <a:prstGeom prst="rect">
            <a:avLst/>
          </a:prstGeom>
          <a:noFill/>
        </p:spPr>
        <p:txBody>
          <a:bodyPr vert="horz" wrap="square" lIns="0" tIns="0" rIns="0" bIns="0" rtlCol="0" anchor="t">
            <a:noAutofit/>
          </a:bodyPr>
          <a:lstStyle/>
          <a:p>
            <a:pPr algn="ctr"/>
            <a:r>
              <a:rPr lang="en-US" sz="1400" b="1">
                <a:solidFill>
                  <a:srgbClr val="087E83"/>
                </a:solidFill>
                <a:latin typeface="Arial" panose="020B0604020202020204" pitchFamily="34" charset="0"/>
              </a:rPr>
              <a:t>17-22 OCT</a:t>
            </a:r>
            <a:endParaRPr lang="en-DE" sz="1400" b="1">
              <a:solidFill>
                <a:srgbClr val="087E83"/>
              </a:solidFill>
              <a:latin typeface="Arial" panose="020B0604020202020204" pitchFamily="34" charset="0"/>
            </a:endParaRPr>
          </a:p>
        </p:txBody>
      </p:sp>
      <p:sp>
        <p:nvSpPr>
          <p:cNvPr id="24" name="week-title-0">
            <a:extLst>
              <a:ext uri="{FF2B5EF4-FFF2-40B4-BE49-F238E27FC236}">
                <a16:creationId xmlns:a16="http://schemas.microsoft.com/office/drawing/2014/main" id="{E8A98BAB-3107-A91A-5D68-6395A03AAFAD}"/>
              </a:ext>
            </a:extLst>
          </p:cNvPr>
          <p:cNvSpPr txBox="1"/>
          <p:nvPr/>
        </p:nvSpPr>
        <p:spPr>
          <a:xfrm>
            <a:off x="10325100" y="2400300"/>
            <a:ext cx="5194300" cy="3429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Design + evaluation foundation</a:t>
            </a:r>
            <a:endParaRPr lang="en-DE" b="1">
              <a:solidFill>
                <a:srgbClr val="203947"/>
              </a:solidFill>
              <a:latin typeface="Arial" panose="020B0604020202020204" pitchFamily="34" charset="0"/>
            </a:endParaRPr>
          </a:p>
        </p:txBody>
      </p:sp>
      <p:sp>
        <p:nvSpPr>
          <p:cNvPr id="25" name="week-body-0">
            <a:extLst>
              <a:ext uri="{FF2B5EF4-FFF2-40B4-BE49-F238E27FC236}">
                <a16:creationId xmlns:a16="http://schemas.microsoft.com/office/drawing/2014/main" id="{34CC6B02-FF3D-9F1C-4A49-3E4894AA2B15}"/>
              </a:ext>
            </a:extLst>
          </p:cNvPr>
          <p:cNvSpPr txBox="1"/>
          <p:nvPr/>
        </p:nvSpPr>
        <p:spPr>
          <a:xfrm>
            <a:off x="10325100" y="2819400"/>
            <a:ext cx="5194300" cy="8001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Submit brief; check model access; define metrics and protected scenario split.</a:t>
            </a:r>
            <a:endParaRPr lang="en-DE" sz="1700">
              <a:solidFill>
                <a:srgbClr val="536873"/>
              </a:solidFill>
              <a:latin typeface="Arial" panose="020B0604020202020204" pitchFamily="34" charset="0"/>
            </a:endParaRPr>
          </a:p>
        </p:txBody>
      </p:sp>
      <p:sp>
        <p:nvSpPr>
          <p:cNvPr id="26" name="week-badge-1">
            <a:extLst>
              <a:ext uri="{FF2B5EF4-FFF2-40B4-BE49-F238E27FC236}">
                <a16:creationId xmlns:a16="http://schemas.microsoft.com/office/drawing/2014/main" id="{576E8B07-86E5-42AD-B41F-26A9B78CF3C6}"/>
              </a:ext>
            </a:extLst>
          </p:cNvPr>
          <p:cNvSpPr/>
          <p:nvPr/>
        </p:nvSpPr>
        <p:spPr>
          <a:xfrm>
            <a:off x="8331200" y="3644900"/>
            <a:ext cx="1778000" cy="406400"/>
          </a:xfrm>
          <a:prstGeom prst="rect">
            <a:avLst/>
          </a:prstGeom>
          <a:solidFill>
            <a:srgbClr val="E7F3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7" name="week-date-1">
            <a:extLst>
              <a:ext uri="{FF2B5EF4-FFF2-40B4-BE49-F238E27FC236}">
                <a16:creationId xmlns:a16="http://schemas.microsoft.com/office/drawing/2014/main" id="{3DDBEAC5-D635-6ADE-36AD-C6D07F2A525F}"/>
              </a:ext>
            </a:extLst>
          </p:cNvPr>
          <p:cNvSpPr txBox="1"/>
          <p:nvPr/>
        </p:nvSpPr>
        <p:spPr>
          <a:xfrm>
            <a:off x="8432800" y="3733800"/>
            <a:ext cx="1574800" cy="266700"/>
          </a:xfrm>
          <a:prstGeom prst="rect">
            <a:avLst/>
          </a:prstGeom>
          <a:noFill/>
        </p:spPr>
        <p:txBody>
          <a:bodyPr vert="horz" wrap="square" lIns="0" tIns="0" rIns="0" bIns="0" rtlCol="0" anchor="t">
            <a:noAutofit/>
          </a:bodyPr>
          <a:lstStyle/>
          <a:p>
            <a:pPr algn="ctr"/>
            <a:r>
              <a:rPr lang="en-US" sz="1400" b="1">
                <a:solidFill>
                  <a:srgbClr val="087E83"/>
                </a:solidFill>
                <a:latin typeface="Arial" panose="020B0604020202020204" pitchFamily="34" charset="0"/>
              </a:rPr>
              <a:t>23-29 OCT</a:t>
            </a:r>
            <a:endParaRPr lang="en-DE" sz="1400" b="1">
              <a:solidFill>
                <a:srgbClr val="087E83"/>
              </a:solidFill>
              <a:latin typeface="Arial" panose="020B0604020202020204" pitchFamily="34" charset="0"/>
            </a:endParaRPr>
          </a:p>
        </p:txBody>
      </p:sp>
      <p:sp>
        <p:nvSpPr>
          <p:cNvPr id="28" name="week-title-1">
            <a:extLst>
              <a:ext uri="{FF2B5EF4-FFF2-40B4-BE49-F238E27FC236}">
                <a16:creationId xmlns:a16="http://schemas.microsoft.com/office/drawing/2014/main" id="{81EDD663-647B-2123-079D-74E72D955750}"/>
              </a:ext>
            </a:extLst>
          </p:cNvPr>
          <p:cNvSpPr txBox="1"/>
          <p:nvPr/>
        </p:nvSpPr>
        <p:spPr>
          <a:xfrm>
            <a:off x="10325100" y="3644900"/>
            <a:ext cx="5194300" cy="3429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Evidence-backed vertical slice</a:t>
            </a:r>
            <a:endParaRPr lang="en-DE" b="1">
              <a:solidFill>
                <a:srgbClr val="203947"/>
              </a:solidFill>
              <a:latin typeface="Arial" panose="020B0604020202020204" pitchFamily="34" charset="0"/>
            </a:endParaRPr>
          </a:p>
        </p:txBody>
      </p:sp>
      <p:sp>
        <p:nvSpPr>
          <p:cNvPr id="29" name="week-body-1">
            <a:extLst>
              <a:ext uri="{FF2B5EF4-FFF2-40B4-BE49-F238E27FC236}">
                <a16:creationId xmlns:a16="http://schemas.microsoft.com/office/drawing/2014/main" id="{BCF955E0-9622-D3C1-BCC6-88C9A37F26B7}"/>
              </a:ext>
            </a:extLst>
          </p:cNvPr>
          <p:cNvSpPr txBox="1"/>
          <p:nvPr/>
        </p:nvSpPr>
        <p:spPr>
          <a:xfrm>
            <a:off x="10325100" y="4064000"/>
            <a:ext cx="5194300" cy="8001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Policy indexing + Iraqi Arabic drafting; 20 tickets complete the review flow.</a:t>
            </a:r>
            <a:endParaRPr lang="en-DE" sz="1700">
              <a:solidFill>
                <a:srgbClr val="536873"/>
              </a:solidFill>
              <a:latin typeface="Arial" panose="020B0604020202020204" pitchFamily="34" charset="0"/>
            </a:endParaRPr>
          </a:p>
        </p:txBody>
      </p:sp>
      <p:sp>
        <p:nvSpPr>
          <p:cNvPr id="30" name="week-badge-2">
            <a:extLst>
              <a:ext uri="{FF2B5EF4-FFF2-40B4-BE49-F238E27FC236}">
                <a16:creationId xmlns:a16="http://schemas.microsoft.com/office/drawing/2014/main" id="{32A4661B-35AE-33BE-A464-7DD5DDAF1975}"/>
              </a:ext>
            </a:extLst>
          </p:cNvPr>
          <p:cNvSpPr/>
          <p:nvPr/>
        </p:nvSpPr>
        <p:spPr>
          <a:xfrm>
            <a:off x="8331200" y="4889500"/>
            <a:ext cx="1778000" cy="406400"/>
          </a:xfrm>
          <a:prstGeom prst="rect">
            <a:avLst/>
          </a:prstGeom>
          <a:solidFill>
            <a:srgbClr val="E7F3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1" name="week-date-2">
            <a:extLst>
              <a:ext uri="{FF2B5EF4-FFF2-40B4-BE49-F238E27FC236}">
                <a16:creationId xmlns:a16="http://schemas.microsoft.com/office/drawing/2014/main" id="{3F2F21D0-3E5D-5633-ECBD-8B769715B5C3}"/>
              </a:ext>
            </a:extLst>
          </p:cNvPr>
          <p:cNvSpPr txBox="1"/>
          <p:nvPr/>
        </p:nvSpPr>
        <p:spPr>
          <a:xfrm>
            <a:off x="8432800" y="4978400"/>
            <a:ext cx="1574800" cy="266700"/>
          </a:xfrm>
          <a:prstGeom prst="rect">
            <a:avLst/>
          </a:prstGeom>
          <a:noFill/>
        </p:spPr>
        <p:txBody>
          <a:bodyPr vert="horz" wrap="square" lIns="0" tIns="0" rIns="0" bIns="0" rtlCol="0" anchor="t">
            <a:noAutofit/>
          </a:bodyPr>
          <a:lstStyle/>
          <a:p>
            <a:pPr algn="ctr"/>
            <a:r>
              <a:rPr lang="en-US" sz="1400" b="1">
                <a:solidFill>
                  <a:srgbClr val="087E83"/>
                </a:solidFill>
                <a:latin typeface="Arial" panose="020B0604020202020204" pitchFamily="34" charset="0"/>
              </a:rPr>
              <a:t>30 OCT-5 NOV</a:t>
            </a:r>
            <a:endParaRPr lang="en-DE" sz="1400" b="1">
              <a:solidFill>
                <a:srgbClr val="087E83"/>
              </a:solidFill>
              <a:latin typeface="Arial" panose="020B0604020202020204" pitchFamily="34" charset="0"/>
            </a:endParaRPr>
          </a:p>
        </p:txBody>
      </p:sp>
      <p:sp>
        <p:nvSpPr>
          <p:cNvPr id="32" name="week-title-2">
            <a:extLst>
              <a:ext uri="{FF2B5EF4-FFF2-40B4-BE49-F238E27FC236}">
                <a16:creationId xmlns:a16="http://schemas.microsoft.com/office/drawing/2014/main" id="{DB534167-061D-EB72-E9CC-5E74508A06C0}"/>
              </a:ext>
            </a:extLst>
          </p:cNvPr>
          <p:cNvSpPr txBox="1"/>
          <p:nvPr/>
        </p:nvSpPr>
        <p:spPr>
          <a:xfrm>
            <a:off x="10325100" y="4889500"/>
            <a:ext cx="5194300" cy="3429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Data + validation</a:t>
            </a:r>
            <a:endParaRPr lang="en-DE" b="1">
              <a:solidFill>
                <a:srgbClr val="203947"/>
              </a:solidFill>
              <a:latin typeface="Arial" panose="020B0604020202020204" pitchFamily="34" charset="0"/>
            </a:endParaRPr>
          </a:p>
        </p:txBody>
      </p:sp>
      <p:sp>
        <p:nvSpPr>
          <p:cNvPr id="33" name="week-body-2">
            <a:extLst>
              <a:ext uri="{FF2B5EF4-FFF2-40B4-BE49-F238E27FC236}">
                <a16:creationId xmlns:a16="http://schemas.microsoft.com/office/drawing/2014/main" id="{870066CD-831E-4CED-F96B-1E7CCF5A1068}"/>
              </a:ext>
            </a:extLst>
          </p:cNvPr>
          <p:cNvSpPr txBox="1"/>
          <p:nvPr/>
        </p:nvSpPr>
        <p:spPr>
          <a:xfrm>
            <a:off x="10325100" y="5308600"/>
            <a:ext cx="5194300" cy="8001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Complete 300 tickets; compare modes; Arabic default UI; fault tests; freeze configuration.</a:t>
            </a:r>
            <a:endParaRPr lang="en-DE" sz="1700">
              <a:solidFill>
                <a:srgbClr val="536873"/>
              </a:solidFill>
              <a:latin typeface="Arial" panose="020B0604020202020204" pitchFamily="34" charset="0"/>
            </a:endParaRPr>
          </a:p>
        </p:txBody>
      </p:sp>
      <p:sp>
        <p:nvSpPr>
          <p:cNvPr id="34" name="week-badge-3">
            <a:extLst>
              <a:ext uri="{FF2B5EF4-FFF2-40B4-BE49-F238E27FC236}">
                <a16:creationId xmlns:a16="http://schemas.microsoft.com/office/drawing/2014/main" id="{D0E3195C-F11D-271E-0112-2E4329A39E9A}"/>
              </a:ext>
            </a:extLst>
          </p:cNvPr>
          <p:cNvSpPr/>
          <p:nvPr/>
        </p:nvSpPr>
        <p:spPr>
          <a:xfrm>
            <a:off x="8331200" y="6134100"/>
            <a:ext cx="1778000" cy="406400"/>
          </a:xfrm>
          <a:prstGeom prst="rect">
            <a:avLst/>
          </a:prstGeom>
          <a:solidFill>
            <a:srgbClr val="E7F3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week-date-3">
            <a:extLst>
              <a:ext uri="{FF2B5EF4-FFF2-40B4-BE49-F238E27FC236}">
                <a16:creationId xmlns:a16="http://schemas.microsoft.com/office/drawing/2014/main" id="{D6248600-E79E-5E85-ADD5-63A408D2B7F2}"/>
              </a:ext>
            </a:extLst>
          </p:cNvPr>
          <p:cNvSpPr txBox="1"/>
          <p:nvPr/>
        </p:nvSpPr>
        <p:spPr>
          <a:xfrm>
            <a:off x="8432800" y="6223000"/>
            <a:ext cx="1574800" cy="266700"/>
          </a:xfrm>
          <a:prstGeom prst="rect">
            <a:avLst/>
          </a:prstGeom>
          <a:noFill/>
        </p:spPr>
        <p:txBody>
          <a:bodyPr vert="horz" wrap="square" lIns="0" tIns="0" rIns="0" bIns="0" rtlCol="0" anchor="t">
            <a:noAutofit/>
          </a:bodyPr>
          <a:lstStyle/>
          <a:p>
            <a:pPr algn="ctr"/>
            <a:r>
              <a:rPr lang="en-US" sz="1400" b="1">
                <a:solidFill>
                  <a:srgbClr val="087E83"/>
                </a:solidFill>
                <a:latin typeface="Arial" panose="020B0604020202020204" pitchFamily="34" charset="0"/>
              </a:rPr>
              <a:t>6-8 NOV</a:t>
            </a:r>
            <a:endParaRPr lang="en-DE" sz="1400" b="1">
              <a:solidFill>
                <a:srgbClr val="087E83"/>
              </a:solidFill>
              <a:latin typeface="Arial" panose="020B0604020202020204" pitchFamily="34" charset="0"/>
            </a:endParaRPr>
          </a:p>
        </p:txBody>
      </p:sp>
      <p:sp>
        <p:nvSpPr>
          <p:cNvPr id="36" name="week-title-3">
            <a:extLst>
              <a:ext uri="{FF2B5EF4-FFF2-40B4-BE49-F238E27FC236}">
                <a16:creationId xmlns:a16="http://schemas.microsoft.com/office/drawing/2014/main" id="{D1AE730E-7861-E7A1-331C-717532DF9227}"/>
              </a:ext>
            </a:extLst>
          </p:cNvPr>
          <p:cNvSpPr txBox="1"/>
          <p:nvPr/>
        </p:nvSpPr>
        <p:spPr>
          <a:xfrm>
            <a:off x="10325100" y="6134100"/>
            <a:ext cx="5194300" cy="342900"/>
          </a:xfrm>
          <a:prstGeom prst="rect">
            <a:avLst/>
          </a:prstGeom>
          <a:noFill/>
        </p:spPr>
        <p:txBody>
          <a:bodyPr vert="horz" wrap="square" lIns="0" tIns="0" rIns="0" bIns="0" rtlCol="0" anchor="t">
            <a:noAutofit/>
          </a:bodyPr>
          <a:lstStyle/>
          <a:p>
            <a:r>
              <a:rPr lang="en-US" b="1">
                <a:solidFill>
                  <a:srgbClr val="203947"/>
                </a:solidFill>
                <a:latin typeface="Arial" panose="020B0604020202020204" pitchFamily="34" charset="0"/>
              </a:rPr>
              <a:t>Evaluate + deliver MVP</a:t>
            </a:r>
            <a:endParaRPr lang="en-DE" b="1">
              <a:solidFill>
                <a:srgbClr val="203947"/>
              </a:solidFill>
              <a:latin typeface="Arial" panose="020B0604020202020204" pitchFamily="34" charset="0"/>
            </a:endParaRPr>
          </a:p>
        </p:txBody>
      </p:sp>
      <p:sp>
        <p:nvSpPr>
          <p:cNvPr id="37" name="week-body-3">
            <a:extLst>
              <a:ext uri="{FF2B5EF4-FFF2-40B4-BE49-F238E27FC236}">
                <a16:creationId xmlns:a16="http://schemas.microsoft.com/office/drawing/2014/main" id="{75663EC2-76E0-3640-6609-7698AE14AB67}"/>
              </a:ext>
            </a:extLst>
          </p:cNvPr>
          <p:cNvSpPr txBox="1"/>
          <p:nvPr/>
        </p:nvSpPr>
        <p:spPr>
          <a:xfrm>
            <a:off x="10325100" y="6553200"/>
            <a:ext cx="5194300" cy="800100"/>
          </a:xfrm>
          <a:prstGeom prst="rect">
            <a:avLst/>
          </a:prstGeom>
          <a:noFill/>
        </p:spPr>
        <p:txBody>
          <a:bodyPr vert="horz" wrap="square" lIns="0" tIns="0" rIns="0" bIns="0" rtlCol="0" anchor="t">
            <a:noAutofit/>
          </a:bodyPr>
          <a:lstStyle/>
          <a:p>
            <a:r>
              <a:rPr lang="en-US" sz="1700">
                <a:solidFill>
                  <a:srgbClr val="536873"/>
                </a:solidFill>
                <a:latin typeface="Arial" panose="020B0604020202020204" pitchFamily="34" charset="0"/>
              </a:rPr>
              <a:t>Held-out run, draft scoring, cost / throughput, live rehearsal and one-page update.</a:t>
            </a:r>
            <a:endParaRPr lang="en-DE" sz="1700">
              <a:solidFill>
                <a:srgbClr val="536873"/>
              </a:solidFill>
              <a:latin typeface="Arial" panose="020B0604020202020204" pitchFamily="34" charset="0"/>
            </a:endParaRPr>
          </a:p>
        </p:txBody>
      </p:sp>
      <p:sp>
        <p:nvSpPr>
          <p:cNvPr id="38" name="repo-band">
            <a:extLst>
              <a:ext uri="{FF2B5EF4-FFF2-40B4-BE49-F238E27FC236}">
                <a16:creationId xmlns:a16="http://schemas.microsoft.com/office/drawing/2014/main" id="{402EF05B-6D4D-3080-4F6D-8FD2E0D04B68}"/>
              </a:ext>
            </a:extLst>
          </p:cNvPr>
          <p:cNvSpPr/>
          <p:nvPr/>
        </p:nvSpPr>
        <p:spPr>
          <a:xfrm>
            <a:off x="508000" y="7772400"/>
            <a:ext cx="15240000" cy="736600"/>
          </a:xfrm>
          <a:prstGeom prst="rect">
            <a:avLst/>
          </a:prstGeom>
          <a:solidFill>
            <a:srgbClr val="142C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9" name="repo-label">
            <a:extLst>
              <a:ext uri="{FF2B5EF4-FFF2-40B4-BE49-F238E27FC236}">
                <a16:creationId xmlns:a16="http://schemas.microsoft.com/office/drawing/2014/main" id="{68044D8C-E4E3-7917-191D-ACBF1B2F0C94}"/>
              </a:ext>
            </a:extLst>
          </p:cNvPr>
          <p:cNvSpPr txBox="1"/>
          <p:nvPr/>
        </p:nvSpPr>
        <p:spPr>
          <a:xfrm>
            <a:off x="736600" y="7874000"/>
            <a:ext cx="1524000" cy="292100"/>
          </a:xfrm>
          <a:prstGeom prst="rect">
            <a:avLst/>
          </a:prstGeom>
          <a:noFill/>
        </p:spPr>
        <p:txBody>
          <a:bodyPr vert="horz" wrap="square" lIns="0" tIns="0" rIns="0" bIns="0" rtlCol="0" anchor="t">
            <a:noAutofit/>
          </a:bodyPr>
          <a:lstStyle/>
          <a:p>
            <a:r>
              <a:rPr lang="en-US" sz="1350" b="1">
                <a:solidFill>
                  <a:srgbClr val="B5DCD9"/>
                </a:solidFill>
                <a:latin typeface="Arial" panose="020B0604020202020204" pitchFamily="34" charset="0"/>
              </a:rPr>
              <a:t>GITHUB REPO</a:t>
            </a:r>
            <a:endParaRPr lang="en-DE" sz="1350" b="1">
              <a:solidFill>
                <a:srgbClr val="B5DCD9"/>
              </a:solidFill>
              <a:latin typeface="Arial" panose="020B0604020202020204" pitchFamily="34" charset="0"/>
            </a:endParaRPr>
          </a:p>
        </p:txBody>
      </p:sp>
      <p:sp>
        <p:nvSpPr>
          <p:cNvPr id="40" name="repo-url">
            <a:extLst>
              <a:ext uri="{FF2B5EF4-FFF2-40B4-BE49-F238E27FC236}">
                <a16:creationId xmlns:a16="http://schemas.microsoft.com/office/drawing/2014/main" id="{52E5F5E5-D6F7-AE5C-A661-B5DEDF17F4E8}"/>
              </a:ext>
            </a:extLst>
          </p:cNvPr>
          <p:cNvSpPr txBox="1"/>
          <p:nvPr/>
        </p:nvSpPr>
        <p:spPr>
          <a:xfrm>
            <a:off x="2489200" y="7874000"/>
            <a:ext cx="13030200" cy="304800"/>
          </a:xfrm>
          <a:prstGeom prst="rect">
            <a:avLst/>
          </a:prstGeom>
          <a:noFill/>
        </p:spPr>
        <p:txBody>
          <a:bodyPr vert="horz" wrap="square" lIns="0" tIns="0" rIns="0" bIns="0" rtlCol="0" anchor="t">
            <a:noAutofit/>
          </a:bodyPr>
          <a:lstStyle/>
          <a:p>
            <a:r>
              <a:rPr lang="en-US" b="1">
                <a:solidFill>
                  <a:srgbClr val="FFFFFF"/>
                </a:solidFill>
                <a:latin typeface="Arial" panose="020B0604020202020204" pitchFamily="34" charset="0"/>
                <a:hlinkClick r:id="rId3"/>
              </a:rPr>
              <a:t>https://github.com/SaifAlmaliki/zaincash-customer-support-agent</a:t>
            </a:r>
            <a:endParaRPr lang="en-DE" b="1">
              <a:solidFill>
                <a:srgbClr val="FFFFFF"/>
              </a:solidFill>
              <a:latin typeface="Arial" panose="020B0604020202020204" pitchFamily="34" charset="0"/>
            </a:endParaRPr>
          </a:p>
        </p:txBody>
      </p:sp>
      <p:sp>
        <p:nvSpPr>
          <p:cNvPr id="41" name="exit-summary">
            <a:extLst>
              <a:ext uri="{FF2B5EF4-FFF2-40B4-BE49-F238E27FC236}">
                <a16:creationId xmlns:a16="http://schemas.microsoft.com/office/drawing/2014/main" id="{C24A8EA2-5A09-7CE2-0045-A6B22D8DF6F0}"/>
              </a:ext>
            </a:extLst>
          </p:cNvPr>
          <p:cNvSpPr txBox="1"/>
          <p:nvPr/>
        </p:nvSpPr>
        <p:spPr>
          <a:xfrm>
            <a:off x="736600" y="8216900"/>
            <a:ext cx="14782800" cy="215900"/>
          </a:xfrm>
          <a:prstGeom prst="rect">
            <a:avLst/>
          </a:prstGeom>
          <a:noFill/>
        </p:spPr>
        <p:txBody>
          <a:bodyPr vert="horz" wrap="square" lIns="0" tIns="0" rIns="0" bIns="0" rtlCol="0" anchor="t">
            <a:noAutofit/>
          </a:bodyPr>
          <a:lstStyle/>
          <a:p>
            <a:r>
              <a:rPr lang="en-US" sz="1250">
                <a:solidFill>
                  <a:srgbClr val="FFFFFF"/>
                </a:solidFill>
                <a:latin typeface="Arial" panose="020B0604020202020204" pitchFamily="34" charset="0"/>
              </a:rPr>
              <a:t>MVP: sample input -&gt; saved route + grounded draft or escalation -&gt; human review, with first test results and genuine commit history.</a:t>
            </a:r>
            <a:endParaRPr lang="en-DE" sz="1250">
              <a:solidFill>
                <a:srgbClr val="FFFFFF"/>
              </a:solidFill>
              <a:latin typeface="Arial" panose="020B0604020202020204" pitchFamily="34" charset="0"/>
            </a:endParaRPr>
          </a:p>
        </p:txBody>
      </p:sp>
      <p:sp>
        <p:nvSpPr>
          <p:cNvPr id="42" name="footer-rule">
            <a:extLst>
              <a:ext uri="{FF2B5EF4-FFF2-40B4-BE49-F238E27FC236}">
                <a16:creationId xmlns:a16="http://schemas.microsoft.com/office/drawing/2014/main" id="{4F648074-6C49-804A-968C-3C568461D6B4}"/>
              </a:ext>
            </a:extLst>
          </p:cNvPr>
          <p:cNvSpPr/>
          <p:nvPr/>
        </p:nvSpPr>
        <p:spPr>
          <a:xfrm>
            <a:off x="508000" y="8699500"/>
            <a:ext cx="15240000" cy="12700"/>
          </a:xfrm>
          <a:prstGeom prst="rect">
            <a:avLst/>
          </a:prstGeom>
          <a:solidFill>
            <a:srgbClr val="D9E3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3" name="footer">
            <a:extLst>
              <a:ext uri="{FF2B5EF4-FFF2-40B4-BE49-F238E27FC236}">
                <a16:creationId xmlns:a16="http://schemas.microsoft.com/office/drawing/2014/main" id="{6A080777-8113-2ECF-B94D-DF02AC0039EE}"/>
              </a:ext>
            </a:extLst>
          </p:cNvPr>
          <p:cNvSpPr txBox="1"/>
          <p:nvPr/>
        </p:nvSpPr>
        <p:spPr>
          <a:xfrm>
            <a:off x="508000" y="8826500"/>
            <a:ext cx="15240000" cy="215900"/>
          </a:xfrm>
          <a:prstGeom prst="rect">
            <a:avLst/>
          </a:prstGeom>
          <a:noFill/>
        </p:spPr>
        <p:txBody>
          <a:bodyPr vert="horz" wrap="square" lIns="0" tIns="0" rIns="0" bIns="0" rtlCol="0" anchor="t">
            <a:noAutofit/>
          </a:bodyPr>
          <a:lstStyle/>
          <a:p>
            <a:r>
              <a:rPr lang="en-US" sz="1150">
                <a:solidFill>
                  <a:srgbClr val="536873"/>
                </a:solidFill>
                <a:latin typeface="Arial" panose="020B0604020202020204" pitchFamily="34" charset="0"/>
              </a:rPr>
              <a:t>DISCLOSURE: models, tools, synthetic sources and coding assistants  |  OpenCode / openrouter/openai/gpt-6.1-sol-pro (brief authoring)</a:t>
            </a:r>
            <a:endParaRPr lang="en-DE" sz="1150">
              <a:solidFill>
                <a:srgbClr val="536873"/>
              </a:solidFill>
              <a:latin typeface="Arial" panose="020B0604020202020204" pitchFamily="34" charset="0"/>
            </a:endParaRPr>
          </a:p>
        </p:txBody>
      </p:sp>
    </p:spTree>
    <p:extLst>
      <p:ext uri="{BB962C8B-B14F-4D97-AF65-F5344CB8AC3E}">
        <p14:creationId xmlns:p14="http://schemas.microsoft.com/office/powerpoint/2010/main" val="2628797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B5DCD9"/>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55eaa4a-084b-408b-a9ee-84ddf7738943}" enabled="1" method="Privileged" siteId="{0468bc4a-134c-4fb0-b843-a2a3d583e919}" contentBits="0" removed="0"/>
</clbl:labelList>
</file>

<file path=docProps/app.xml><?xml version="1.0" encoding="utf-8"?>
<Properties xmlns="http://schemas.openxmlformats.org/officeDocument/2006/extended-properties" xmlns:vt="http://schemas.openxmlformats.org/officeDocument/2006/docPropsVTypes">
  <TotalTime>26</TotalTime>
  <Words>4181</Words>
  <Application>Microsoft Office PowerPoint</Application>
  <PresentationFormat>Custom</PresentationFormat>
  <Paragraphs>203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FAZAA - Iraqi Arabic Support Copilot - Design Brief</dc:title>
  <dc:subject>Agentic AI Challenge Iraq - Topic 06 - Five-slide design brief</dc:subject>
  <dc:creator>Saif Almaliki</dc:creator>
  <dc:description>Editable slides and diagrams; support workflow, category-to-team routing, priorities, technical architecture and MVP roadmap.</dc:description>
  <cp:lastModifiedBy>Saif Almaliki</cp:lastModifiedBy>
  <cp:revision>1</cp:revision>
  <dcterms:modified xsi:type="dcterms:W3CDTF">2026-10-18T11:06:16Z</dcterms:modified>
</cp:coreProperties>
</file>